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95"/>
    <p:restoredTop sz="94717"/>
  </p:normalViewPr>
  <p:slideViewPr>
    <p:cSldViewPr snapToGrid="0">
      <p:cViewPr varScale="1">
        <p:scale>
          <a:sx n="97" d="100"/>
          <a:sy n="97" d="100"/>
        </p:scale>
        <p:origin x="100"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&amp;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864226"/>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Business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3922713"/>
            <a:ext cx="5969818" cy="2546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Financial &amp; Operational Scale</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Key Financial Metrics (FY24)</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3993099"/>
            <a:ext cx="5599112" cy="2283876"/>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Brand Overview and Market Presence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151189"/>
            <a:ext cx="8081253"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46059" y="1354422"/>
            <a:ext cx="8017579" cy="25138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188308" y="4693425"/>
            <a:ext cx="8081252" cy="18058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36262" y="1417132"/>
            <a:ext cx="8017580" cy="2388473"/>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79773" y="4865557"/>
            <a:ext cx="7550150" cy="1420812"/>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TextBox 1">
            <a:extLst>
              <a:ext uri="{FF2B5EF4-FFF2-40B4-BE49-F238E27FC236}">
                <a16:creationId xmlns:a16="http://schemas.microsoft.com/office/drawing/2014/main" id="{4956E25C-1867-5A97-A053-74EF89CF8053}"/>
              </a:ext>
            </a:extLst>
          </p:cNvPr>
          <p:cNvSpPr txBox="1"/>
          <p:nvPr userDrawn="1"/>
        </p:nvSpPr>
        <p:spPr>
          <a:xfrm>
            <a:off x="154288" y="814857"/>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Brand Overview</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066601"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t>
            </a:r>
          </a:p>
        </p:txBody>
      </p:sp>
      <p:sp>
        <p:nvSpPr>
          <p:cNvPr id="14" name="TextBox 13">
            <a:extLst>
              <a:ext uri="{FF2B5EF4-FFF2-40B4-BE49-F238E27FC236}">
                <a16:creationId xmlns:a16="http://schemas.microsoft.com/office/drawing/2014/main" id="{39F8FA0A-4415-E7B6-228E-46B151ECBCE6}"/>
              </a:ext>
            </a:extLst>
          </p:cNvPr>
          <p:cNvSpPr txBox="1"/>
          <p:nvPr userDrawn="1"/>
        </p:nvSpPr>
        <p:spPr>
          <a:xfrm>
            <a:off x="188308" y="4173708"/>
            <a:ext cx="512805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Portfolio and Products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3143250"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560074" y="1480079"/>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542089" y="5012164"/>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Tree>
    <p:extLst>
      <p:ext uri="{BB962C8B-B14F-4D97-AF65-F5344CB8AC3E}">
        <p14:creationId xmlns:p14="http://schemas.microsoft.com/office/powerpoint/2010/main" val="3058600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441912" y="1326032"/>
            <a:ext cx="5352369" cy="2170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126182" y="4211787"/>
            <a:ext cx="5969818" cy="22572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IN" sz="2000" b="1" kern="1200" dirty="0">
                <a:solidFill>
                  <a:schemeClr val="lt1"/>
                </a:solidFill>
                <a:effectLst/>
                <a:latin typeface="Arial" panose="020B0604020202020204" pitchFamily="34" charset="0"/>
                <a:ea typeface="+mn-ea"/>
                <a:cs typeface="Arial" panose="020B0604020202020204" pitchFamily="34" charset="0"/>
              </a:rPr>
              <a:t>Growth and Unit Economics</a:t>
            </a: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26182" y="762574"/>
            <a:ext cx="5616000"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Growth</a:t>
            </a: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566721" y="3750090"/>
            <a:ext cx="5352369"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Promoters v/s Non Promoters</a:t>
            </a:r>
          </a:p>
        </p:txBody>
      </p:sp>
      <p:sp>
        <p:nvSpPr>
          <p:cNvPr id="10" name="Chart Placeholder 9">
            <a:extLst>
              <a:ext uri="{FF2B5EF4-FFF2-40B4-BE49-F238E27FC236}">
                <a16:creationId xmlns:a16="http://schemas.microsoft.com/office/drawing/2014/main" id="{314BFA5B-DA44-35AB-4230-666E47503CBA}"/>
              </a:ext>
            </a:extLst>
          </p:cNvPr>
          <p:cNvSpPr>
            <a:spLocks noGrp="1"/>
          </p:cNvSpPr>
          <p:nvPr>
            <p:ph type="chart" sz="quarter" idx="10"/>
          </p:nvPr>
        </p:nvSpPr>
        <p:spPr>
          <a:xfrm>
            <a:off x="258763" y="1296988"/>
            <a:ext cx="5483225" cy="2625725"/>
          </a:xfrm>
        </p:spPr>
        <p:txBody>
          <a:bodyPr/>
          <a:lstStyle/>
          <a:p>
            <a:endParaRPr lang="en-GB"/>
          </a:p>
        </p:txBody>
      </p:sp>
      <p:sp>
        <p:nvSpPr>
          <p:cNvPr id="12" name="Chart Placeholder 11">
            <a:extLst>
              <a:ext uri="{FF2B5EF4-FFF2-40B4-BE49-F238E27FC236}">
                <a16:creationId xmlns:a16="http://schemas.microsoft.com/office/drawing/2014/main" id="{4F4B5099-C250-429F-B035-D8FD2B9191E4}"/>
              </a:ext>
            </a:extLst>
          </p:cNvPr>
          <p:cNvSpPr>
            <a:spLocks noGrp="1"/>
          </p:cNvSpPr>
          <p:nvPr>
            <p:ph type="chart" sz="quarter" idx="11"/>
          </p:nvPr>
        </p:nvSpPr>
        <p:spPr>
          <a:xfrm>
            <a:off x="6542996" y="4325144"/>
            <a:ext cx="5259387" cy="2012950"/>
          </a:xfrm>
        </p:spPr>
        <p:txBody>
          <a:bodyPr/>
          <a:lstStyle/>
          <a:p>
            <a:endParaRPr lang="en-GB"/>
          </a:p>
        </p:txBody>
      </p:sp>
      <p:sp>
        <p:nvSpPr>
          <p:cNvPr id="14" name="Text Placeholder 13">
            <a:extLst>
              <a:ext uri="{FF2B5EF4-FFF2-40B4-BE49-F238E27FC236}">
                <a16:creationId xmlns:a16="http://schemas.microsoft.com/office/drawing/2014/main" id="{2DFEA1BA-A093-DDF9-3DB8-B4A28E960CDA}"/>
              </a:ext>
            </a:extLst>
          </p:cNvPr>
          <p:cNvSpPr>
            <a:spLocks noGrp="1"/>
          </p:cNvSpPr>
          <p:nvPr>
            <p:ph type="body" sz="quarter" idx="12"/>
          </p:nvPr>
        </p:nvSpPr>
        <p:spPr>
          <a:xfrm>
            <a:off x="258763" y="4386263"/>
            <a:ext cx="5599112"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TextBox 153">
            <a:extLst>
              <a:ext uri="{FF2B5EF4-FFF2-40B4-BE49-F238E27FC236}">
                <a16:creationId xmlns:a16="http://schemas.microsoft.com/office/drawing/2014/main" id="{09F7A666-201F-9258-69E7-81D59D339426}"/>
              </a:ext>
            </a:extLst>
          </p:cNvPr>
          <p:cNvSpPr txBox="1"/>
          <p:nvPr userDrawn="1"/>
        </p:nvSpPr>
        <p:spPr>
          <a:xfrm>
            <a:off x="6449820" y="797725"/>
            <a:ext cx="5352369" cy="345556"/>
          </a:xfrm>
          <a:prstGeom prst="roundRect">
            <a:avLst/>
          </a:prstGeom>
          <a:solidFill>
            <a:srgbClr val="6FACFF">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Endeavours</a:t>
            </a:r>
          </a:p>
        </p:txBody>
      </p:sp>
      <p:sp>
        <p:nvSpPr>
          <p:cNvPr id="16" name="Text Placeholder 13">
            <a:extLst>
              <a:ext uri="{FF2B5EF4-FFF2-40B4-BE49-F238E27FC236}">
                <a16:creationId xmlns:a16="http://schemas.microsoft.com/office/drawing/2014/main" id="{A6C93ED4-1702-7B8D-5F36-E67260FB774A}"/>
              </a:ext>
            </a:extLst>
          </p:cNvPr>
          <p:cNvSpPr>
            <a:spLocks noGrp="1"/>
          </p:cNvSpPr>
          <p:nvPr>
            <p:ph type="body" sz="quarter" idx="13"/>
          </p:nvPr>
        </p:nvSpPr>
        <p:spPr>
          <a:xfrm>
            <a:off x="6450014" y="1488859"/>
            <a:ext cx="5352369" cy="189071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18">
            <a:extLst>
              <a:ext uri="{FF2B5EF4-FFF2-40B4-BE49-F238E27FC236}">
                <a16:creationId xmlns:a16="http://schemas.microsoft.com/office/drawing/2014/main" id="{50C145BC-849C-7BED-8D76-9D2CBB6027C8}"/>
              </a:ext>
            </a:extLst>
          </p:cNvPr>
          <p:cNvSpPr>
            <a:spLocks noGrp="1"/>
          </p:cNvSpPr>
          <p:nvPr>
            <p:ph type="pic" sz="quarter" idx="16"/>
          </p:nvPr>
        </p:nvSpPr>
        <p:spPr>
          <a:xfrm>
            <a:off x="11085405" y="1597483"/>
            <a:ext cx="560387" cy="584200"/>
          </a:xfrm>
        </p:spPr>
        <p:txBody>
          <a:bodyPr/>
          <a:lstStyle/>
          <a:p>
            <a:endParaRPr lang="en-GB"/>
          </a:p>
        </p:txBody>
      </p:sp>
      <p:sp>
        <p:nvSpPr>
          <p:cNvPr id="11" name="Picture Placeholder 18">
            <a:extLst>
              <a:ext uri="{FF2B5EF4-FFF2-40B4-BE49-F238E27FC236}">
                <a16:creationId xmlns:a16="http://schemas.microsoft.com/office/drawing/2014/main" id="{D8485975-C325-68AD-C16C-A6ED6801C253}"/>
              </a:ext>
            </a:extLst>
          </p:cNvPr>
          <p:cNvSpPr>
            <a:spLocks noGrp="1"/>
          </p:cNvSpPr>
          <p:nvPr>
            <p:ph type="pic" sz="quarter" idx="17"/>
          </p:nvPr>
        </p:nvSpPr>
        <p:spPr>
          <a:xfrm>
            <a:off x="5136357" y="4477512"/>
            <a:ext cx="560387" cy="584200"/>
          </a:xfrm>
        </p:spPr>
        <p:txBody>
          <a:bodyPr/>
          <a:lstStyle/>
          <a:p>
            <a:endParaRPr lang="en-GB"/>
          </a:p>
        </p:txBody>
      </p:sp>
    </p:spTree>
    <p:extLst>
      <p:ext uri="{BB962C8B-B14F-4D97-AF65-F5344CB8AC3E}">
        <p14:creationId xmlns:p14="http://schemas.microsoft.com/office/powerpoint/2010/main" val="495926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2/5/2026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 id="2147483666" r:id="rId6"/>
    <p:sldLayoutId id="2147483667" r:id="rId7"/>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89BEF-FD00-4ED5-03D1-085BDDB05F17}"/>
              </a:ext>
            </a:extLst>
          </p:cNvPr>
          <p:cNvSpPr>
            <a:spLocks noGrp="1"/>
          </p:cNvSpPr>
          <p:nvPr>
            <p:ph type="ctrTitle" idx="4294967295"/>
          </p:nvPr>
        </p:nvSpPr>
        <p:spPr>
          <a:xfrm>
            <a:off x="6267450" y="4325751"/>
            <a:ext cx="3028950" cy="700088"/>
          </a:xfrm>
        </p:spPr>
        <p:txBody>
          <a:bodyPr/>
          <a:lstStyle/>
          <a:p>
            <a:endParaRPr lang="en-GB"/>
          </a:p>
        </p:txBody>
      </p:sp>
      <p:sp>
        <p:nvSpPr>
          <p:cNvPr id="3" name="Subtitle 2">
            <a:extLst>
              <a:ext uri="{FF2B5EF4-FFF2-40B4-BE49-F238E27FC236}">
                <a16:creationId xmlns:a16="http://schemas.microsoft.com/office/drawing/2014/main" id="{A40A8A48-3DBB-7A3D-235C-2E16C912EA5B}"/>
              </a:ext>
            </a:extLst>
          </p:cNvPr>
          <p:cNvSpPr>
            <a:spLocks noGrp="1"/>
          </p:cNvSpPr>
          <p:nvPr>
            <p:ph type="subTitle" idx="4294967295"/>
          </p:nvPr>
        </p:nvSpPr>
        <p:spPr>
          <a:xfrm>
            <a:off x="6267450" y="5029201"/>
            <a:ext cx="3028950" cy="561415"/>
          </a:xfrm>
        </p:spPr>
        <p:txBody>
          <a:bodyPr/>
          <a:lstStyle/>
          <a:p>
            <a:endParaRPr lang="en-GB"/>
          </a:p>
        </p:txBody>
      </p:sp>
    </p:spTree>
    <p:extLst>
      <p:ext uri="{BB962C8B-B14F-4D97-AF65-F5344CB8AC3E}">
        <p14:creationId xmlns:p14="http://schemas.microsoft.com/office/powerpoint/2010/main" val="834490666"/>
      </p:ext>
    </p:extLst>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382</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Vedant Iyengar</cp:lastModifiedBy>
  <cp:revision>18</cp:revision>
  <dcterms:created xsi:type="dcterms:W3CDTF">2026-01-24T04:48:24Z</dcterms:created>
  <dcterms:modified xsi:type="dcterms:W3CDTF">2026-02-04T20:27:34Z</dcterms:modified>
</cp:coreProperties>
</file>