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dia/image3.svg" ContentType="image/svg+xml"/>
  <Override PartName="/ppt/media/image5.svg" ContentType="image/svg+xml"/>
  <Override PartName="/ppt/media/image7.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7" r:id="rId7"/>
    <p:sldId id="258" r:id="rId8"/>
    <p:sldId id="259" r:id="rId9"/>
    <p:sldId id="260" r:id="rId10"/>
    <p:sldId id="261"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7B6"/>
    <a:srgbClr val="6FACFF"/>
    <a:srgbClr val="90E0EF"/>
    <a:srgbClr val="FB712C"/>
    <a:srgbClr val="F04C7A"/>
    <a:srgbClr val="A31D63"/>
    <a:srgbClr val="2A06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495"/>
    <p:restoredTop sz="94717"/>
  </p:normalViewPr>
  <p:slideViewPr>
    <p:cSldViewPr snapToGrid="0">
      <p:cViewPr varScale="1">
        <p:scale>
          <a:sx n="106" d="100"/>
          <a:sy n="106" d="100"/>
        </p:scale>
        <p:origin x="192" y="2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Revenue Growth FY22-FY25</c:v>
                </c:pt>
              </c:strCache>
            </c:strRef>
          </c:tx>
          <c:cat>
            <c:strRef>
              <c:f>Sheet1!$A$2:$A$5</c:f>
              <c:strCache>
                <c:ptCount val="4"/>
                <c:pt idx="0">
                  <c:v>FY22</c:v>
                </c:pt>
                <c:pt idx="1">
                  <c:v>FY23</c:v>
                </c:pt>
                <c:pt idx="2">
                  <c:v>FY24</c:v>
                </c:pt>
                <c:pt idx="3">
                  <c:v>FY25</c:v>
                </c:pt>
              </c:strCache>
            </c:strRef>
          </c:cat>
          <c:val>
            <c:numRef>
              <c:f>Sheet1!$B$2:$B$5</c:f>
              <c:numCache>
                <c:formatCode>General</c:formatCode>
                <c:ptCount val="4"/>
                <c:pt idx="0">
                  <c:v>68.2</c:v>
                </c:pt>
                <c:pt idx="1">
                  <c:v>253</c:v>
                </c:pt>
                <c:pt idx="2">
                  <c:v>611</c:v>
                </c:pt>
                <c:pt idx="3">
                  <c:v>959</c:v>
                </c:pt>
              </c:numCache>
            </c:numRef>
          </c:val>
        </c:ser>
        <c:dLbls>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autoTitleDeleted val="0"/>
    <c:plotArea>
      <c:pieChart>
        <c:varyColors val="1"/>
        <c:ser>
          <c:idx val="0"/>
          <c:order val="0"/>
          <c:tx>
            <c:strRef>
              <c:f>Sheet1!$B$1</c:f>
              <c:strCache>
                <c:ptCount val="1"/>
                <c:pt idx="0">
                  <c:v>Shareholding Pattern</c:v>
                </c:pt>
              </c:strCache>
            </c:strRef>
          </c:tx>
          <c:cat>
            <c:strRef>
              <c:f>Sheet1!$A$2:$A$3</c:f>
              <c:strCache>
                <c:ptCount val="2"/>
                <c:pt idx="0">
                  <c:v>Promoters</c:v>
                </c:pt>
                <c:pt idx="1">
                  <c:v>Non Promoters</c:v>
                </c:pt>
              </c:strCache>
            </c:strRef>
          </c:cat>
          <c:val>
            <c:numRef>
              <c:f>Sheet1!$B$2:$B$3</c:f>
              <c:numCache>
                <c:formatCode>General</c:formatCode>
                <c:ptCount val="2"/>
                <c:pt idx="0">
                  <c:v>70.1</c:v>
                </c:pt>
                <c:pt idx="1">
                  <c:v>29.9</c:v>
                </c:pt>
              </c:numCache>
            </c:numRef>
          </c:val>
        </c:ser>
        <c:dLbls>
          <c:dLblPos val="bestFit"/>
          <c:showLegendKey val="0"/>
          <c:showVal val="1"/>
          <c:showCatName val="1"/>
          <c:showSerName val="0"/>
          <c:showPercent val="0"/>
          <c:showBubbleSize val="0"/>
          <c:showLeaderLines val="1"/>
        </c:dLbls>
      </c:pieChart>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png"/><Relationship Id="rId6" Type="http://schemas.openxmlformats.org/officeDocument/2006/relationships/image" Target="../media/image5.svg"/><Relationship Id="rId7" Type="http://schemas.openxmlformats.org/officeDocument/2006/relationships/image" Target="../media/image6.png"/><Relationship Id="rId8" Type="http://schemas.openxmlformats.org/officeDocument/2006/relationships/image" Target="../media/image7.sv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_Slide">
    <p:bg>
      <p:bgPr>
        <a:solidFill>
          <a:srgbClr val="2A063F"/>
        </a:solidFill>
        <a:effectLst/>
      </p:bgPr>
    </p:bg>
    <p:spTree>
      <p:nvGrpSpPr>
        <p:cNvPr id="1" name=""/>
        <p:cNvGrpSpPr/>
        <p:nvPr/>
      </p:nvGrpSpPr>
      <p:grpSpPr>
        <a:xfrm>
          <a:off x="0" y="0"/>
          <a:ext cx="0" cy="0"/>
          <a:chOff x="0" y="0"/>
          <a:chExt cx="0" cy="0"/>
        </a:xfrm>
      </p:grpSpPr>
      <p:pic>
        <p:nvPicPr>
          <p:cNvPr id="1028" name="Picture 4" descr="Geometric pattern Images - Free ...">
            <a:extLst>
              <a:ext uri="{FF2B5EF4-FFF2-40B4-BE49-F238E27FC236}">
                <a16:creationId xmlns:a16="http://schemas.microsoft.com/office/drawing/2014/main" id="{E6657D50-4ACA-29E0-6C6A-CCAD9432118A}"/>
              </a:ext>
            </a:extLst>
          </p:cNvPr>
          <p:cNvPicPr>
            <a:picLocks noChangeAspect="1" noChangeArrowheads="1"/>
          </p:cNvPicPr>
          <p:nvPr userDrawn="1"/>
        </p:nvPicPr>
        <p:blipFill>
          <a:blip r:embed="rId2">
            <a:alphaModFix amt="3000"/>
            <a:extLst>
              <a:ext uri="{28A0092B-C50C-407E-A947-70E740481C1C}">
                <a14:useLocalDpi xmlns:a14="http://schemas.microsoft.com/office/drawing/2010/main" val="0"/>
              </a:ext>
            </a:extLst>
          </a:blip>
          <a:srcRect/>
          <a:stretch>
            <a:fillRect/>
          </a:stretch>
        </p:blipFill>
        <p:spPr bwMode="auto">
          <a:xfrm>
            <a:off x="-376660" y="-185963"/>
            <a:ext cx="13091817" cy="6726099"/>
          </a:xfrm>
          <a:prstGeom prst="rect">
            <a:avLst/>
          </a:prstGeom>
          <a:noFill/>
          <a:extLst>
            <a:ext uri="{909E8E84-426E-40DD-AFC4-6F175D3DCCD1}">
              <a14:hiddenFill xmlns:a14="http://schemas.microsoft.com/office/drawing/2010/main">
                <a:solidFill>
                  <a:srgbClr val="FFFFFF"/>
                </a:solidFill>
              </a14:hiddenFill>
            </a:ext>
          </a:extLst>
        </p:spPr>
      </p:pic>
      <p:sp>
        <p:nvSpPr>
          <p:cNvPr id="41" name="Freeform 4">
            <a:extLst>
              <a:ext uri="{FF2B5EF4-FFF2-40B4-BE49-F238E27FC236}">
                <a16:creationId xmlns:a16="http://schemas.microsoft.com/office/drawing/2014/main" id="{1B9AF06B-B946-100D-8E6B-B35C454030EE}"/>
              </a:ext>
              <a:ext uri="{C183D7F6-B498-43B3-948B-1728B52AA6E4}">
                <adec:decorative xmlns:adec="http://schemas.microsoft.com/office/drawing/2017/decorative" val="1"/>
              </a:ext>
            </a:extLst>
          </p:cNvPr>
          <p:cNvSpPr/>
          <p:nvPr userDrawn="1"/>
        </p:nvSpPr>
        <p:spPr>
          <a:xfrm>
            <a:off x="2221680" y="5033953"/>
            <a:ext cx="4458815"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sz="1350"/>
          </a:p>
        </p:txBody>
      </p:sp>
      <p:sp>
        <p:nvSpPr>
          <p:cNvPr id="32" name="Freeform 2">
            <a:extLst>
              <a:ext uri="{FF2B5EF4-FFF2-40B4-BE49-F238E27FC236}">
                <a16:creationId xmlns:a16="http://schemas.microsoft.com/office/drawing/2014/main" id="{A712A287-3087-1DF3-F43D-A56A53B980B4}"/>
              </a:ext>
              <a:ext uri="{C183D7F6-B498-43B3-948B-1728B52AA6E4}">
                <adec:decorative xmlns:adec="http://schemas.microsoft.com/office/drawing/2017/decorative" val="1"/>
              </a:ext>
            </a:extLst>
          </p:cNvPr>
          <p:cNvSpPr/>
          <p:nvPr userDrawn="1"/>
        </p:nvSpPr>
        <p:spPr>
          <a:xfrm>
            <a:off x="-863173" y="-153887"/>
            <a:ext cx="2466586" cy="3540610"/>
          </a:xfrm>
          <a:custGeom>
            <a:avLst/>
            <a:gdLst/>
            <a:ahLst/>
            <a:cxnLst/>
            <a:rect l="l" t="t" r="r" b="b"/>
            <a:pathLst>
              <a:path w="4549062" h="6780444">
                <a:moveTo>
                  <a:pt x="0" y="0"/>
                </a:moveTo>
                <a:lnTo>
                  <a:pt x="4549062" y="0"/>
                </a:lnTo>
                <a:lnTo>
                  <a:pt x="4549062" y="6780444"/>
                </a:lnTo>
                <a:lnTo>
                  <a:pt x="0" y="678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sz="1350" dirty="0"/>
          </a:p>
        </p:txBody>
      </p:sp>
      <p:sp>
        <p:nvSpPr>
          <p:cNvPr id="33" name="Freeform 5">
            <a:extLst>
              <a:ext uri="{FF2B5EF4-FFF2-40B4-BE49-F238E27FC236}">
                <a16:creationId xmlns:a16="http://schemas.microsoft.com/office/drawing/2014/main" id="{2A160F13-8764-D059-9923-6D95B47B175D}"/>
              </a:ext>
              <a:ext uri="{C183D7F6-B498-43B3-948B-1728B52AA6E4}">
                <adec:decorative xmlns:adec="http://schemas.microsoft.com/office/drawing/2017/decorative" val="1"/>
              </a:ext>
            </a:extLst>
          </p:cNvPr>
          <p:cNvSpPr/>
          <p:nvPr userDrawn="1"/>
        </p:nvSpPr>
        <p:spPr>
          <a:xfrm rot="21445884">
            <a:off x="4804637" y="-750786"/>
            <a:ext cx="2729224" cy="2735166"/>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sz="1350" dirty="0"/>
          </a:p>
        </p:txBody>
      </p:sp>
      <p:sp>
        <p:nvSpPr>
          <p:cNvPr id="34" name="Freeform 4">
            <a:extLst>
              <a:ext uri="{FF2B5EF4-FFF2-40B4-BE49-F238E27FC236}">
                <a16:creationId xmlns:a16="http://schemas.microsoft.com/office/drawing/2014/main" id="{50B8F49F-8D86-DC2D-37F0-946BC7888B85}"/>
              </a:ext>
              <a:ext uri="{C183D7F6-B498-43B3-948B-1728B52AA6E4}">
                <adec:decorative xmlns:adec="http://schemas.microsoft.com/office/drawing/2017/decorative" val="1"/>
              </a:ext>
            </a:extLst>
          </p:cNvPr>
          <p:cNvSpPr/>
          <p:nvPr userDrawn="1"/>
        </p:nvSpPr>
        <p:spPr>
          <a:xfrm>
            <a:off x="2207259" y="670876"/>
            <a:ext cx="4170792"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sz="1350"/>
          </a:p>
        </p:txBody>
      </p:sp>
      <p:sp>
        <p:nvSpPr>
          <p:cNvPr id="35" name="Freeform 5">
            <a:extLst>
              <a:ext uri="{FF2B5EF4-FFF2-40B4-BE49-F238E27FC236}">
                <a16:creationId xmlns:a16="http://schemas.microsoft.com/office/drawing/2014/main" id="{0E270C24-0873-5229-B9F8-0748D3B0295E}"/>
              </a:ext>
              <a:ext uri="{C183D7F6-B498-43B3-948B-1728B52AA6E4}">
                <adec:decorative xmlns:adec="http://schemas.microsoft.com/office/drawing/2017/decorative" val="1"/>
              </a:ext>
            </a:extLst>
          </p:cNvPr>
          <p:cNvSpPr/>
          <p:nvPr userDrawn="1"/>
        </p:nvSpPr>
        <p:spPr>
          <a:xfrm>
            <a:off x="4698766" y="3400034"/>
            <a:ext cx="3019835" cy="2848398"/>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sz="1350" dirty="0"/>
          </a:p>
        </p:txBody>
      </p:sp>
      <p:sp>
        <p:nvSpPr>
          <p:cNvPr id="36" name="Freeform 2">
            <a:extLst>
              <a:ext uri="{FF2B5EF4-FFF2-40B4-BE49-F238E27FC236}">
                <a16:creationId xmlns:a16="http://schemas.microsoft.com/office/drawing/2014/main" id="{F08BCC40-8EF1-E663-8913-1862FCE00F6E}"/>
              </a:ext>
              <a:ext uri="{C183D7F6-B498-43B3-948B-1728B52AA6E4}">
                <adec:decorative xmlns:adec="http://schemas.microsoft.com/office/drawing/2017/decorative" val="1"/>
              </a:ext>
            </a:extLst>
          </p:cNvPr>
          <p:cNvSpPr/>
          <p:nvPr userDrawn="1"/>
        </p:nvSpPr>
        <p:spPr>
          <a:xfrm>
            <a:off x="10009050" y="3550743"/>
            <a:ext cx="2616847" cy="3540610"/>
          </a:xfrm>
          <a:custGeom>
            <a:avLst/>
            <a:gdLst/>
            <a:ahLst/>
            <a:cxnLst/>
            <a:rect l="l" t="t" r="r" b="b"/>
            <a:pathLst>
              <a:path w="4549062" h="6780444">
                <a:moveTo>
                  <a:pt x="0" y="0"/>
                </a:moveTo>
                <a:lnTo>
                  <a:pt x="4549062" y="0"/>
                </a:lnTo>
                <a:lnTo>
                  <a:pt x="4549062" y="6780444"/>
                </a:lnTo>
                <a:lnTo>
                  <a:pt x="0" y="678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sz="1350" dirty="0"/>
          </a:p>
        </p:txBody>
      </p:sp>
      <p:sp>
        <p:nvSpPr>
          <p:cNvPr id="37" name="Rectangle 36">
            <a:extLst>
              <a:ext uri="{FF2B5EF4-FFF2-40B4-BE49-F238E27FC236}">
                <a16:creationId xmlns:a16="http://schemas.microsoft.com/office/drawing/2014/main" id="{15DD37F5-790C-EFF8-893A-97E9CC3AC34C}"/>
              </a:ext>
            </a:extLst>
          </p:cNvPr>
          <p:cNvSpPr/>
          <p:nvPr userDrawn="1"/>
        </p:nvSpPr>
        <p:spPr>
          <a:xfrm rot="16200000">
            <a:off x="5644041" y="334942"/>
            <a:ext cx="903921" cy="12192003"/>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a:p>
        </p:txBody>
      </p:sp>
      <p:sp>
        <p:nvSpPr>
          <p:cNvPr id="42" name="TextBox 41">
            <a:extLst>
              <a:ext uri="{FF2B5EF4-FFF2-40B4-BE49-F238E27FC236}">
                <a16:creationId xmlns:a16="http://schemas.microsoft.com/office/drawing/2014/main" id="{BD71EE71-6D3D-DE57-F03B-FAAAB2CDE9D3}"/>
              </a:ext>
            </a:extLst>
          </p:cNvPr>
          <p:cNvSpPr txBox="1"/>
          <p:nvPr userDrawn="1"/>
        </p:nvSpPr>
        <p:spPr>
          <a:xfrm>
            <a:off x="64072" y="6077001"/>
            <a:ext cx="5464885" cy="553998"/>
          </a:xfrm>
          <a:prstGeom prst="rect">
            <a:avLst/>
          </a:prstGeom>
          <a:noFill/>
        </p:spPr>
        <p:txBody>
          <a:bodyPr wrap="square" rtlCol="0">
            <a:spAutoFit/>
          </a:bodyPr>
          <a:lstStyle/>
          <a:p>
            <a:r>
              <a:rPr lang="en-US" sz="1500" b="1" dirty="0">
                <a:solidFill>
                  <a:schemeClr val="tx1"/>
                </a:solidFill>
                <a:latin typeface="Arial" panose="020B0604020202020204" pitchFamily="34" charset="0"/>
                <a:cs typeface="Arial" panose="020B0604020202020204" pitchFamily="34" charset="0"/>
              </a:rPr>
              <a:t>Investment Brief</a:t>
            </a:r>
          </a:p>
          <a:p>
            <a:r>
              <a:rPr lang="en-US" sz="1500" i="1" dirty="0" err="1">
                <a:solidFill>
                  <a:schemeClr val="tx1"/>
                </a:solidFill>
                <a:latin typeface="Arial" panose="020B0604020202020204" pitchFamily="34" charset="0"/>
                <a:cs typeface="Arial" panose="020B0604020202020204" pitchFamily="34" charset="0"/>
              </a:rPr>
              <a:t>kelpglobal.com</a:t>
            </a:r>
            <a:endParaRPr lang="en-US" sz="1500" i="1" dirty="0">
              <a:solidFill>
                <a:schemeClr val="tx1"/>
              </a:solidFill>
              <a:latin typeface="Arial" panose="020B0604020202020204" pitchFamily="34" charset="0"/>
              <a:cs typeface="Arial" panose="020B0604020202020204" pitchFamily="34" charset="0"/>
            </a:endParaRPr>
          </a:p>
        </p:txBody>
      </p:sp>
      <p:pic>
        <p:nvPicPr>
          <p:cNvPr id="43" name="Picture 42" descr="A white letter on a black background&#10;&#10;AI-generated content may be incorrect.">
            <a:extLst>
              <a:ext uri="{FF2B5EF4-FFF2-40B4-BE49-F238E27FC236}">
                <a16:creationId xmlns:a16="http://schemas.microsoft.com/office/drawing/2014/main" id="{D49EF3F4-51EF-4606-B7A3-3504870972F4}"/>
              </a:ext>
            </a:extLst>
          </p:cNvPr>
          <p:cNvPicPr>
            <a:picLocks noChangeAspect="1"/>
          </p:cNvPicPr>
          <p:nvPr userDrawn="1"/>
        </p:nvPicPr>
        <p:blipFill>
          <a:blip r:embed="rId9"/>
          <a:stretch>
            <a:fillRect/>
          </a:stretch>
        </p:blipFill>
        <p:spPr>
          <a:xfrm>
            <a:off x="9910007" y="246908"/>
            <a:ext cx="1911873" cy="72670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lide_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C7C7B3B-35A8-CB14-7DE6-7597AE5727BB}"/>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panose="020B0604020202020204" pitchFamily="34" charset="0"/>
                <a:cs typeface="Arial" panose="020B0604020202020204" pitchFamily="34" charset="0"/>
              </a:rPr>
              <a:t>Business Profile &amp; Infrastructure</a:t>
            </a:r>
            <a:endParaRPr sz="2000" b="1" dirty="0">
              <a:solidFill>
                <a:srgbClr val="FFFFFF"/>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1E57ECB-C669-1AC2-3C5E-2B9B86C530B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8" name="Picture 7" descr="A white letter on a black background&#10;&#10;AI-generated content may be incorrect.">
            <a:extLst>
              <a:ext uri="{FF2B5EF4-FFF2-40B4-BE49-F238E27FC236}">
                <a16:creationId xmlns:a16="http://schemas.microsoft.com/office/drawing/2014/main" id="{40F6C2CA-BED1-72A7-775A-CD3062FAC359}"/>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4" name="TextBox 3">
            <a:extLst>
              <a:ext uri="{FF2B5EF4-FFF2-40B4-BE49-F238E27FC236}">
                <a16:creationId xmlns:a16="http://schemas.microsoft.com/office/drawing/2014/main" id="{2B57153E-0761-147E-9F8E-CD5A48F6BBA5}"/>
              </a:ext>
            </a:extLst>
          </p:cNvPr>
          <p:cNvSpPr txBox="1"/>
          <p:nvPr userDrawn="1"/>
        </p:nvSpPr>
        <p:spPr>
          <a:xfrm>
            <a:off x="146060" y="4151189"/>
            <a:ext cx="8081253" cy="414371"/>
          </a:xfrm>
          <a:prstGeom prst="rect">
            <a:avLst/>
          </a:prstGeom>
          <a:solidFill>
            <a:srgbClr val="0077B6">
              <a:alpha val="41961"/>
            </a:srgbClr>
          </a:solidFill>
        </p:spPr>
        <p:txBody>
          <a:bodyPr wrap="square" rtlCol="0">
            <a:spAutoFit/>
          </a:bodyPr>
          <a:lstStyle/>
          <a:p>
            <a:endParaRPr lang="en-GB" dirty="0"/>
          </a:p>
        </p:txBody>
      </p:sp>
      <p:sp>
        <p:nvSpPr>
          <p:cNvPr id="10" name="Rectangle 9">
            <a:extLst>
              <a:ext uri="{FF2B5EF4-FFF2-40B4-BE49-F238E27FC236}">
                <a16:creationId xmlns:a16="http://schemas.microsoft.com/office/drawing/2014/main" id="{FD12A1B1-2F44-EBD9-7484-072B4B7A20C0}"/>
              </a:ext>
            </a:extLst>
          </p:cNvPr>
          <p:cNvSpPr/>
          <p:nvPr userDrawn="1"/>
        </p:nvSpPr>
        <p:spPr>
          <a:xfrm>
            <a:off x="146059" y="1354422"/>
            <a:ext cx="8017579" cy="25138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1" name="TextBox 10">
            <a:extLst>
              <a:ext uri="{FF2B5EF4-FFF2-40B4-BE49-F238E27FC236}">
                <a16:creationId xmlns:a16="http://schemas.microsoft.com/office/drawing/2014/main" id="{67E60B4F-D735-2076-55BD-B7B41AD03D44}"/>
              </a:ext>
            </a:extLst>
          </p:cNvPr>
          <p:cNvSpPr txBox="1"/>
          <p:nvPr userDrawn="1"/>
        </p:nvSpPr>
        <p:spPr>
          <a:xfrm>
            <a:off x="154287" y="798749"/>
            <a:ext cx="8115271" cy="414372"/>
          </a:xfrm>
          <a:prstGeom prst="rect">
            <a:avLst/>
          </a:prstGeom>
          <a:solidFill>
            <a:srgbClr val="6FACFF">
              <a:alpha val="41961"/>
            </a:srgbClr>
          </a:solidFill>
        </p:spPr>
        <p:txBody>
          <a:bodyPr wrap="square" rtlCol="0">
            <a:spAutoFit/>
          </a:bodyPr>
          <a:lstStyle/>
          <a:p>
            <a:endParaRPr lang="en-GB" dirty="0"/>
          </a:p>
        </p:txBody>
      </p:sp>
      <p:sp>
        <p:nvSpPr>
          <p:cNvPr id="12" name="TextBox 11">
            <a:extLst>
              <a:ext uri="{FF2B5EF4-FFF2-40B4-BE49-F238E27FC236}">
                <a16:creationId xmlns:a16="http://schemas.microsoft.com/office/drawing/2014/main" id="{DEA8438F-5D82-EB08-3BF9-9C884B9375DA}"/>
              </a:ext>
            </a:extLst>
          </p:cNvPr>
          <p:cNvSpPr txBox="1"/>
          <p:nvPr userDrawn="1"/>
        </p:nvSpPr>
        <p:spPr>
          <a:xfrm>
            <a:off x="8571893" y="3845798"/>
            <a:ext cx="3474046" cy="414371"/>
          </a:xfrm>
          <a:prstGeom prst="rect">
            <a:avLst/>
          </a:prstGeom>
          <a:solidFill>
            <a:srgbClr val="0077B6">
              <a:alpha val="42745"/>
            </a:srgbClr>
          </a:solidFill>
        </p:spPr>
        <p:txBody>
          <a:bodyPr wrap="square" rtlCol="0">
            <a:spAutoFit/>
          </a:bodyPr>
          <a:lstStyle/>
          <a:p>
            <a:endParaRPr lang="en-GB" dirty="0"/>
          </a:p>
        </p:txBody>
      </p:sp>
      <p:cxnSp>
        <p:nvCxnSpPr>
          <p:cNvPr id="13" name="Straight Connector 12">
            <a:extLst>
              <a:ext uri="{FF2B5EF4-FFF2-40B4-BE49-F238E27FC236}">
                <a16:creationId xmlns:a16="http://schemas.microsoft.com/office/drawing/2014/main" id="{02AF2439-D35F-B769-B7D1-D7E48C243F13}"/>
              </a:ext>
            </a:extLst>
          </p:cNvPr>
          <p:cNvCxnSpPr>
            <a:cxnSpLocks/>
          </p:cNvCxnSpPr>
          <p:nvPr userDrawn="1"/>
        </p:nvCxnSpPr>
        <p:spPr>
          <a:xfrm>
            <a:off x="8389194" y="631993"/>
            <a:ext cx="0" cy="6226007"/>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62F7883-A476-5852-F143-B3DFA7053835}"/>
              </a:ext>
            </a:extLst>
          </p:cNvPr>
          <p:cNvSpPr/>
          <p:nvPr userDrawn="1"/>
        </p:nvSpPr>
        <p:spPr>
          <a:xfrm>
            <a:off x="8571893" y="1395641"/>
            <a:ext cx="3431797" cy="22810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7" name="TextBox 16">
            <a:extLst>
              <a:ext uri="{FF2B5EF4-FFF2-40B4-BE49-F238E27FC236}">
                <a16:creationId xmlns:a16="http://schemas.microsoft.com/office/drawing/2014/main" id="{9B693A0E-7104-1EF4-C199-ABE4EA9337B0}"/>
              </a:ext>
            </a:extLst>
          </p:cNvPr>
          <p:cNvSpPr txBox="1"/>
          <p:nvPr userDrawn="1"/>
        </p:nvSpPr>
        <p:spPr>
          <a:xfrm>
            <a:off x="8508829" y="828876"/>
            <a:ext cx="3474046" cy="414371"/>
          </a:xfrm>
          <a:prstGeom prst="rect">
            <a:avLst/>
          </a:prstGeom>
          <a:solidFill>
            <a:srgbClr val="6FACFF">
              <a:alpha val="42745"/>
            </a:srgbClr>
          </a:solidFill>
        </p:spPr>
        <p:txBody>
          <a:bodyPr wrap="square" rtlCol="0">
            <a:spAutoFit/>
          </a:bodyPr>
          <a:lstStyle/>
          <a:p>
            <a:endParaRPr lang="en-GB" dirty="0"/>
          </a:p>
        </p:txBody>
      </p:sp>
      <p:sp>
        <p:nvSpPr>
          <p:cNvPr id="18" name="Rectangle 17">
            <a:extLst>
              <a:ext uri="{FF2B5EF4-FFF2-40B4-BE49-F238E27FC236}">
                <a16:creationId xmlns:a16="http://schemas.microsoft.com/office/drawing/2014/main" id="{0CD2EF22-2305-CBCF-7392-90504AAC5F5D}"/>
              </a:ext>
            </a:extLst>
          </p:cNvPr>
          <p:cNvSpPr/>
          <p:nvPr userDrawn="1"/>
        </p:nvSpPr>
        <p:spPr>
          <a:xfrm>
            <a:off x="188308" y="4693425"/>
            <a:ext cx="8081252" cy="18058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 name="Text Placeholder 2">
            <a:extLst>
              <a:ext uri="{FF2B5EF4-FFF2-40B4-BE49-F238E27FC236}">
                <a16:creationId xmlns:a16="http://schemas.microsoft.com/office/drawing/2014/main" id="{13C21514-8574-AB3F-FED4-0D5790A63814}"/>
              </a:ext>
            </a:extLst>
          </p:cNvPr>
          <p:cNvSpPr>
            <a:spLocks noGrp="1"/>
          </p:cNvSpPr>
          <p:nvPr>
            <p:ph type="body" sz="quarter" idx="10"/>
          </p:nvPr>
        </p:nvSpPr>
        <p:spPr>
          <a:xfrm>
            <a:off x="236262" y="1417132"/>
            <a:ext cx="8017580" cy="2388473"/>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Text Placeholder 8">
            <a:extLst>
              <a:ext uri="{FF2B5EF4-FFF2-40B4-BE49-F238E27FC236}">
                <a16:creationId xmlns:a16="http://schemas.microsoft.com/office/drawing/2014/main" id="{48EB1D40-3674-BBC3-BA3D-593FBC536801}"/>
              </a:ext>
            </a:extLst>
          </p:cNvPr>
          <p:cNvSpPr>
            <a:spLocks noGrp="1"/>
          </p:cNvSpPr>
          <p:nvPr>
            <p:ph type="body" sz="quarter" idx="11"/>
          </p:nvPr>
        </p:nvSpPr>
        <p:spPr>
          <a:xfrm>
            <a:off x="301578" y="4864226"/>
            <a:ext cx="7550150" cy="1420812"/>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 name="TextBox 1">
            <a:extLst>
              <a:ext uri="{FF2B5EF4-FFF2-40B4-BE49-F238E27FC236}">
                <a16:creationId xmlns:a16="http://schemas.microsoft.com/office/drawing/2014/main" id="{4956E25C-1867-5A97-A053-74EF89CF8053}"/>
              </a:ext>
            </a:extLst>
          </p:cNvPr>
          <p:cNvSpPr txBox="1"/>
          <p:nvPr userDrawn="1"/>
        </p:nvSpPr>
        <p:spPr>
          <a:xfrm>
            <a:off x="154288" y="814857"/>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Business Overview</a:t>
            </a:r>
          </a:p>
        </p:txBody>
      </p:sp>
      <p:sp>
        <p:nvSpPr>
          <p:cNvPr id="5" name="TextBox 4">
            <a:extLst>
              <a:ext uri="{FF2B5EF4-FFF2-40B4-BE49-F238E27FC236}">
                <a16:creationId xmlns:a16="http://schemas.microsoft.com/office/drawing/2014/main" id="{A954834B-3DF1-23D9-5C4D-4A6C8E23F765}"/>
              </a:ext>
            </a:extLst>
          </p:cNvPr>
          <p:cNvSpPr txBox="1"/>
          <p:nvPr userDrawn="1"/>
        </p:nvSpPr>
        <p:spPr>
          <a:xfrm>
            <a:off x="8571893" y="3868317"/>
            <a:ext cx="3066601"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Certifications</a:t>
            </a:r>
          </a:p>
        </p:txBody>
      </p:sp>
      <p:sp>
        <p:nvSpPr>
          <p:cNvPr id="14" name="TextBox 13">
            <a:extLst>
              <a:ext uri="{FF2B5EF4-FFF2-40B4-BE49-F238E27FC236}">
                <a16:creationId xmlns:a16="http://schemas.microsoft.com/office/drawing/2014/main" id="{39F8FA0A-4415-E7B6-228E-46B151ECBCE6}"/>
              </a:ext>
            </a:extLst>
          </p:cNvPr>
          <p:cNvSpPr txBox="1"/>
          <p:nvPr userDrawn="1"/>
        </p:nvSpPr>
        <p:spPr>
          <a:xfrm>
            <a:off x="188308" y="4173708"/>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Portfolio and Products</a:t>
            </a:r>
          </a:p>
        </p:txBody>
      </p:sp>
      <p:sp>
        <p:nvSpPr>
          <p:cNvPr id="20" name="Picture Placeholder 19">
            <a:extLst>
              <a:ext uri="{FF2B5EF4-FFF2-40B4-BE49-F238E27FC236}">
                <a16:creationId xmlns:a16="http://schemas.microsoft.com/office/drawing/2014/main" id="{F701B351-9295-2343-7729-22B37578850C}"/>
              </a:ext>
            </a:extLst>
          </p:cNvPr>
          <p:cNvSpPr>
            <a:spLocks noGrp="1"/>
          </p:cNvSpPr>
          <p:nvPr>
            <p:ph type="pic" sz="quarter" idx="12"/>
          </p:nvPr>
        </p:nvSpPr>
        <p:spPr>
          <a:xfrm>
            <a:off x="9701086" y="4479735"/>
            <a:ext cx="1089531" cy="991109"/>
          </a:xfrm>
        </p:spPr>
        <p:txBody>
          <a:bodyPr/>
          <a:lstStyle/>
          <a:p>
            <a:endParaRPr lang="en-GB"/>
          </a:p>
        </p:txBody>
      </p:sp>
      <p:sp>
        <p:nvSpPr>
          <p:cNvPr id="21" name="Picture Placeholder 19">
            <a:extLst>
              <a:ext uri="{FF2B5EF4-FFF2-40B4-BE49-F238E27FC236}">
                <a16:creationId xmlns:a16="http://schemas.microsoft.com/office/drawing/2014/main" id="{E5F74BA3-8C7A-8938-B580-623C8CA528D7}"/>
              </a:ext>
            </a:extLst>
          </p:cNvPr>
          <p:cNvSpPr>
            <a:spLocks noGrp="1"/>
          </p:cNvSpPr>
          <p:nvPr>
            <p:ph type="pic" sz="quarter" idx="13"/>
          </p:nvPr>
        </p:nvSpPr>
        <p:spPr>
          <a:xfrm>
            <a:off x="8826504" y="5574632"/>
            <a:ext cx="1089535" cy="908983"/>
          </a:xfrm>
        </p:spPr>
        <p:txBody>
          <a:bodyPr/>
          <a:lstStyle/>
          <a:p>
            <a:endParaRPr lang="en-GB"/>
          </a:p>
        </p:txBody>
      </p:sp>
      <p:sp>
        <p:nvSpPr>
          <p:cNvPr id="22" name="Picture Placeholder 19">
            <a:extLst>
              <a:ext uri="{FF2B5EF4-FFF2-40B4-BE49-F238E27FC236}">
                <a16:creationId xmlns:a16="http://schemas.microsoft.com/office/drawing/2014/main" id="{EFC57E91-D73D-F1D4-2CD5-581EA200A756}"/>
              </a:ext>
            </a:extLst>
          </p:cNvPr>
          <p:cNvSpPr>
            <a:spLocks noGrp="1"/>
          </p:cNvSpPr>
          <p:nvPr>
            <p:ph type="pic" sz="quarter" idx="14"/>
          </p:nvPr>
        </p:nvSpPr>
        <p:spPr>
          <a:xfrm>
            <a:off x="10548962" y="5596364"/>
            <a:ext cx="1089532" cy="887251"/>
          </a:xfrm>
        </p:spPr>
        <p:txBody>
          <a:bodyPr/>
          <a:lstStyle/>
          <a:p>
            <a:endParaRPr lang="en-GB"/>
          </a:p>
        </p:txBody>
      </p:sp>
      <p:sp>
        <p:nvSpPr>
          <p:cNvPr id="23" name="TextBox 22">
            <a:extLst>
              <a:ext uri="{FF2B5EF4-FFF2-40B4-BE49-F238E27FC236}">
                <a16:creationId xmlns:a16="http://schemas.microsoft.com/office/drawing/2014/main" id="{D0F51ADC-19AC-CC4C-101E-F9EA157D172C}"/>
              </a:ext>
            </a:extLst>
          </p:cNvPr>
          <p:cNvSpPr txBox="1"/>
          <p:nvPr userDrawn="1"/>
        </p:nvSpPr>
        <p:spPr>
          <a:xfrm>
            <a:off x="8541487" y="850054"/>
            <a:ext cx="309701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At a Glance</a:t>
            </a:r>
          </a:p>
        </p:txBody>
      </p:sp>
      <p:sp>
        <p:nvSpPr>
          <p:cNvPr id="25" name="Text Placeholder 24">
            <a:extLst>
              <a:ext uri="{FF2B5EF4-FFF2-40B4-BE49-F238E27FC236}">
                <a16:creationId xmlns:a16="http://schemas.microsoft.com/office/drawing/2014/main" id="{79C7AF37-8E24-7EC6-C84D-1E144C153BAA}"/>
              </a:ext>
            </a:extLst>
          </p:cNvPr>
          <p:cNvSpPr>
            <a:spLocks noGrp="1"/>
          </p:cNvSpPr>
          <p:nvPr>
            <p:ph type="body" sz="quarter" idx="15"/>
          </p:nvPr>
        </p:nvSpPr>
        <p:spPr>
          <a:xfrm>
            <a:off x="8674226" y="1479907"/>
            <a:ext cx="3143250" cy="2219325"/>
          </a:xfrm>
        </p:spPr>
        <p:txBody>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9" name="Picture Placeholder 18">
            <a:extLst>
              <a:ext uri="{FF2B5EF4-FFF2-40B4-BE49-F238E27FC236}">
                <a16:creationId xmlns:a16="http://schemas.microsoft.com/office/drawing/2014/main" id="{FAD83EC9-39E7-8960-FB4A-66247F4FE61D}"/>
              </a:ext>
            </a:extLst>
          </p:cNvPr>
          <p:cNvSpPr>
            <a:spLocks noGrp="1"/>
          </p:cNvSpPr>
          <p:nvPr>
            <p:ph type="pic" sz="quarter" idx="16"/>
          </p:nvPr>
        </p:nvSpPr>
        <p:spPr>
          <a:xfrm>
            <a:off x="7560074" y="1480079"/>
            <a:ext cx="560387" cy="584200"/>
          </a:xfrm>
        </p:spPr>
        <p:txBody>
          <a:bodyPr/>
          <a:lstStyle/>
          <a:p>
            <a:endParaRPr lang="en-GB"/>
          </a:p>
        </p:txBody>
      </p:sp>
      <p:sp>
        <p:nvSpPr>
          <p:cNvPr id="24" name="Picture Placeholder 18">
            <a:extLst>
              <a:ext uri="{FF2B5EF4-FFF2-40B4-BE49-F238E27FC236}">
                <a16:creationId xmlns:a16="http://schemas.microsoft.com/office/drawing/2014/main" id="{79B0485E-332F-E3ED-5180-4C38D7877684}"/>
              </a:ext>
            </a:extLst>
          </p:cNvPr>
          <p:cNvSpPr>
            <a:spLocks noGrp="1"/>
          </p:cNvSpPr>
          <p:nvPr>
            <p:ph type="pic" sz="quarter" idx="17"/>
          </p:nvPr>
        </p:nvSpPr>
        <p:spPr>
          <a:xfrm>
            <a:off x="7542089" y="5012164"/>
            <a:ext cx="560387" cy="584200"/>
          </a:xfrm>
        </p:spPr>
        <p:txBody>
          <a:bodyPr/>
          <a:lstStyle/>
          <a:p>
            <a:endParaRPr lang="en-GB"/>
          </a:p>
        </p:txBody>
      </p:sp>
      <p:sp>
        <p:nvSpPr>
          <p:cNvPr id="26" name="Picture Placeholder 18">
            <a:extLst>
              <a:ext uri="{FF2B5EF4-FFF2-40B4-BE49-F238E27FC236}">
                <a16:creationId xmlns:a16="http://schemas.microsoft.com/office/drawing/2014/main" id="{17DCE210-3387-3CE1-1570-6E59B39B6E98}"/>
              </a:ext>
            </a:extLst>
          </p:cNvPr>
          <p:cNvSpPr>
            <a:spLocks noGrp="1"/>
          </p:cNvSpPr>
          <p:nvPr>
            <p:ph type="pic" sz="quarter" idx="18"/>
          </p:nvPr>
        </p:nvSpPr>
        <p:spPr>
          <a:xfrm>
            <a:off x="11362809" y="1522913"/>
            <a:ext cx="560387" cy="584200"/>
          </a:xfrm>
        </p:spPr>
        <p:txBody>
          <a:bodyPr/>
          <a:lstStyle/>
          <a:p>
            <a:endParaRPr lang="en-GB"/>
          </a:p>
        </p:txBody>
      </p:sp>
    </p:spTree>
    <p:extLst>
      <p:ext uri="{BB962C8B-B14F-4D97-AF65-F5344CB8AC3E}">
        <p14:creationId xmlns:p14="http://schemas.microsoft.com/office/powerpoint/2010/main" val="2687324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_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2318C7D-B421-4556-7BFD-CC04951D942A}"/>
              </a:ext>
            </a:extLst>
          </p:cNvPr>
          <p:cNvSpPr/>
          <p:nvPr userDrawn="1"/>
        </p:nvSpPr>
        <p:spPr>
          <a:xfrm>
            <a:off x="6441912" y="1326032"/>
            <a:ext cx="5352369" cy="217022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 name="Rectangle 6">
            <a:extLst>
              <a:ext uri="{FF2B5EF4-FFF2-40B4-BE49-F238E27FC236}">
                <a16:creationId xmlns:a16="http://schemas.microsoft.com/office/drawing/2014/main" id="{0517C9D5-49AC-9CA1-E5F3-5A1A806A33F8}"/>
              </a:ext>
            </a:extLst>
          </p:cNvPr>
          <p:cNvSpPr/>
          <p:nvPr userDrawn="1"/>
        </p:nvSpPr>
        <p:spPr>
          <a:xfrm>
            <a:off x="126182" y="4211787"/>
            <a:ext cx="5969818" cy="225725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 name="Rectangle 4">
            <a:extLst>
              <a:ext uri="{FF2B5EF4-FFF2-40B4-BE49-F238E27FC236}">
                <a16:creationId xmlns:a16="http://schemas.microsoft.com/office/drawing/2014/main" id="{842A2C26-E205-E6B7-3924-B3F00935BC4F}"/>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IN" sz="2000" b="1" kern="1200" dirty="0">
                <a:solidFill>
                  <a:schemeClr val="lt1"/>
                </a:solidFill>
                <a:effectLst/>
                <a:latin typeface="Arial" panose="020B0604020202020204" pitchFamily="34" charset="0"/>
                <a:ea typeface="+mn-ea"/>
                <a:cs typeface="Arial" panose="020B0604020202020204" pitchFamily="34" charset="0"/>
              </a:rPr>
              <a:t>Financial &amp; Operational Scale</a:t>
            </a:r>
          </a:p>
        </p:txBody>
      </p:sp>
      <p:sp>
        <p:nvSpPr>
          <p:cNvPr id="3" name="TextBox 2">
            <a:extLst>
              <a:ext uri="{FF2B5EF4-FFF2-40B4-BE49-F238E27FC236}">
                <a16:creationId xmlns:a16="http://schemas.microsoft.com/office/drawing/2014/main" id="{EF2B70FC-EA3A-9BC1-136F-70C24143B8A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4" name="Picture 3" descr="A white letter on a black background&#10;&#10;AI-generated content may be incorrect.">
            <a:extLst>
              <a:ext uri="{FF2B5EF4-FFF2-40B4-BE49-F238E27FC236}">
                <a16:creationId xmlns:a16="http://schemas.microsoft.com/office/drawing/2014/main" id="{8405219B-631A-B6C2-078E-01EE365BF882}"/>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2" name="TextBox 153">
            <a:extLst>
              <a:ext uri="{FF2B5EF4-FFF2-40B4-BE49-F238E27FC236}">
                <a16:creationId xmlns:a16="http://schemas.microsoft.com/office/drawing/2014/main" id="{A7B5FD41-65CC-DCFC-EEA0-2E9BD7A03752}"/>
              </a:ext>
            </a:extLst>
          </p:cNvPr>
          <p:cNvSpPr txBox="1"/>
          <p:nvPr userDrawn="1"/>
        </p:nvSpPr>
        <p:spPr>
          <a:xfrm>
            <a:off x="126182" y="762574"/>
            <a:ext cx="5616000"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Key Financial Metrics (FY24)</a:t>
            </a:r>
          </a:p>
        </p:txBody>
      </p:sp>
      <p:sp>
        <p:nvSpPr>
          <p:cNvPr id="6" name="TextBox 153">
            <a:extLst>
              <a:ext uri="{FF2B5EF4-FFF2-40B4-BE49-F238E27FC236}">
                <a16:creationId xmlns:a16="http://schemas.microsoft.com/office/drawing/2014/main" id="{C757E7BD-409D-85E9-63ED-AF7F5EEECDC8}"/>
              </a:ext>
            </a:extLst>
          </p:cNvPr>
          <p:cNvSpPr txBox="1"/>
          <p:nvPr userDrawn="1"/>
        </p:nvSpPr>
        <p:spPr>
          <a:xfrm>
            <a:off x="6566721" y="3750090"/>
            <a:ext cx="5352369"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Promoters v/s Non Promoters</a:t>
            </a:r>
          </a:p>
        </p:txBody>
      </p:sp>
      <p:sp>
        <p:nvSpPr>
          <p:cNvPr id="10" name="Chart Placeholder 9">
            <a:extLst>
              <a:ext uri="{FF2B5EF4-FFF2-40B4-BE49-F238E27FC236}">
                <a16:creationId xmlns:a16="http://schemas.microsoft.com/office/drawing/2014/main" id="{314BFA5B-DA44-35AB-4230-666E47503CBA}"/>
              </a:ext>
            </a:extLst>
          </p:cNvPr>
          <p:cNvSpPr>
            <a:spLocks noGrp="1"/>
          </p:cNvSpPr>
          <p:nvPr>
            <p:ph type="chart" sz="quarter" idx="10"/>
          </p:nvPr>
        </p:nvSpPr>
        <p:spPr>
          <a:xfrm>
            <a:off x="258763" y="1296988"/>
            <a:ext cx="5483225" cy="2625725"/>
          </a:xfrm>
        </p:spPr>
        <p:txBody>
          <a:bodyPr/>
          <a:lstStyle/>
          <a:p>
            <a:endParaRPr lang="en-GB"/>
          </a:p>
        </p:txBody>
      </p:sp>
      <p:sp>
        <p:nvSpPr>
          <p:cNvPr id="12" name="Chart Placeholder 11">
            <a:extLst>
              <a:ext uri="{FF2B5EF4-FFF2-40B4-BE49-F238E27FC236}">
                <a16:creationId xmlns:a16="http://schemas.microsoft.com/office/drawing/2014/main" id="{4F4B5099-C250-429F-B035-D8FD2B9191E4}"/>
              </a:ext>
            </a:extLst>
          </p:cNvPr>
          <p:cNvSpPr>
            <a:spLocks noGrp="1"/>
          </p:cNvSpPr>
          <p:nvPr>
            <p:ph type="chart" sz="quarter" idx="11"/>
          </p:nvPr>
        </p:nvSpPr>
        <p:spPr>
          <a:xfrm>
            <a:off x="6542996" y="4325144"/>
            <a:ext cx="5259387" cy="2012950"/>
          </a:xfrm>
        </p:spPr>
        <p:txBody>
          <a:bodyPr/>
          <a:lstStyle/>
          <a:p>
            <a:endParaRPr lang="en-GB"/>
          </a:p>
        </p:txBody>
      </p:sp>
      <p:sp>
        <p:nvSpPr>
          <p:cNvPr id="14" name="Text Placeholder 13">
            <a:extLst>
              <a:ext uri="{FF2B5EF4-FFF2-40B4-BE49-F238E27FC236}">
                <a16:creationId xmlns:a16="http://schemas.microsoft.com/office/drawing/2014/main" id="{2DFEA1BA-A093-DDF9-3DB8-B4A28E960CDA}"/>
              </a:ext>
            </a:extLst>
          </p:cNvPr>
          <p:cNvSpPr>
            <a:spLocks noGrp="1"/>
          </p:cNvSpPr>
          <p:nvPr>
            <p:ph type="body" sz="quarter" idx="12"/>
          </p:nvPr>
        </p:nvSpPr>
        <p:spPr>
          <a:xfrm>
            <a:off x="258763" y="4386263"/>
            <a:ext cx="5599112" cy="189071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TextBox 153">
            <a:extLst>
              <a:ext uri="{FF2B5EF4-FFF2-40B4-BE49-F238E27FC236}">
                <a16:creationId xmlns:a16="http://schemas.microsoft.com/office/drawing/2014/main" id="{09F7A666-201F-9258-69E7-81D59D339426}"/>
              </a:ext>
            </a:extLst>
          </p:cNvPr>
          <p:cNvSpPr txBox="1"/>
          <p:nvPr userDrawn="1"/>
        </p:nvSpPr>
        <p:spPr>
          <a:xfrm>
            <a:off x="6449820" y="797725"/>
            <a:ext cx="5352369" cy="345556"/>
          </a:xfrm>
          <a:prstGeom prst="roundRect">
            <a:avLst/>
          </a:prstGeom>
          <a:solidFill>
            <a:srgbClr val="6FACFF">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Current Endeavours</a:t>
            </a:r>
          </a:p>
        </p:txBody>
      </p:sp>
      <p:sp>
        <p:nvSpPr>
          <p:cNvPr id="16" name="Text Placeholder 13">
            <a:extLst>
              <a:ext uri="{FF2B5EF4-FFF2-40B4-BE49-F238E27FC236}">
                <a16:creationId xmlns:a16="http://schemas.microsoft.com/office/drawing/2014/main" id="{A6C93ED4-1702-7B8D-5F36-E67260FB774A}"/>
              </a:ext>
            </a:extLst>
          </p:cNvPr>
          <p:cNvSpPr>
            <a:spLocks noGrp="1"/>
          </p:cNvSpPr>
          <p:nvPr>
            <p:ph type="body" sz="quarter" idx="13"/>
          </p:nvPr>
        </p:nvSpPr>
        <p:spPr>
          <a:xfrm>
            <a:off x="6450014" y="1488859"/>
            <a:ext cx="5352369" cy="189071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Picture Placeholder 18">
            <a:extLst>
              <a:ext uri="{FF2B5EF4-FFF2-40B4-BE49-F238E27FC236}">
                <a16:creationId xmlns:a16="http://schemas.microsoft.com/office/drawing/2014/main" id="{50C145BC-849C-7BED-8D76-9D2CBB6027C8}"/>
              </a:ext>
            </a:extLst>
          </p:cNvPr>
          <p:cNvSpPr>
            <a:spLocks noGrp="1"/>
          </p:cNvSpPr>
          <p:nvPr>
            <p:ph type="pic" sz="quarter" idx="16"/>
          </p:nvPr>
        </p:nvSpPr>
        <p:spPr>
          <a:xfrm>
            <a:off x="11085405" y="1597483"/>
            <a:ext cx="560387" cy="584200"/>
          </a:xfrm>
        </p:spPr>
        <p:txBody>
          <a:bodyPr/>
          <a:lstStyle/>
          <a:p>
            <a:endParaRPr lang="en-GB"/>
          </a:p>
        </p:txBody>
      </p:sp>
      <p:sp>
        <p:nvSpPr>
          <p:cNvPr id="11" name="Picture Placeholder 18">
            <a:extLst>
              <a:ext uri="{FF2B5EF4-FFF2-40B4-BE49-F238E27FC236}">
                <a16:creationId xmlns:a16="http://schemas.microsoft.com/office/drawing/2014/main" id="{D8485975-C325-68AD-C16C-A6ED6801C253}"/>
              </a:ext>
            </a:extLst>
          </p:cNvPr>
          <p:cNvSpPr>
            <a:spLocks noGrp="1"/>
          </p:cNvSpPr>
          <p:nvPr>
            <p:ph type="pic" sz="quarter" idx="17"/>
          </p:nvPr>
        </p:nvSpPr>
        <p:spPr>
          <a:xfrm>
            <a:off x="5136357" y="4477512"/>
            <a:ext cx="560387" cy="584200"/>
          </a:xfrm>
        </p:spPr>
        <p:txBody>
          <a:bodyPr/>
          <a:lstStyle/>
          <a:p>
            <a:endParaRPr lang="en-GB"/>
          </a:p>
        </p:txBody>
      </p:sp>
    </p:spTree>
    <p:extLst>
      <p:ext uri="{BB962C8B-B14F-4D97-AF65-F5344CB8AC3E}">
        <p14:creationId xmlns:p14="http://schemas.microsoft.com/office/powerpoint/2010/main" val="1840751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_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DE9D625-B252-EFFB-3A00-7B566DC08A6F}"/>
              </a:ext>
            </a:extLst>
          </p:cNvPr>
          <p:cNvSpPr/>
          <p:nvPr userDrawn="1"/>
        </p:nvSpPr>
        <p:spPr>
          <a:xfrm>
            <a:off x="4395498" y="2088107"/>
            <a:ext cx="3519725" cy="2839548"/>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6" name="Rectangle 5">
            <a:extLst>
              <a:ext uri="{FF2B5EF4-FFF2-40B4-BE49-F238E27FC236}">
                <a16:creationId xmlns:a16="http://schemas.microsoft.com/office/drawing/2014/main" id="{1BC3EBF0-E13C-252F-470B-3F9796752F0C}"/>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a:rPr>
              <a:t>Investment Highlights</a:t>
            </a:r>
            <a:endParaRPr sz="2000" b="1" dirty="0">
              <a:solidFill>
                <a:srgbClr val="FFFFFF"/>
              </a:solidFill>
              <a:latin typeface="Arial"/>
            </a:endParaRPr>
          </a:p>
        </p:txBody>
      </p:sp>
      <p:sp>
        <p:nvSpPr>
          <p:cNvPr id="4" name="TextBox 3">
            <a:extLst>
              <a:ext uri="{FF2B5EF4-FFF2-40B4-BE49-F238E27FC236}">
                <a16:creationId xmlns:a16="http://schemas.microsoft.com/office/drawing/2014/main" id="{079099D8-B111-64B9-AED3-0B81F8134912}"/>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5" name="Picture 4" descr="A white letter on a black background&#10;&#10;AI-generated content may be incorrect.">
            <a:extLst>
              <a:ext uri="{FF2B5EF4-FFF2-40B4-BE49-F238E27FC236}">
                <a16:creationId xmlns:a16="http://schemas.microsoft.com/office/drawing/2014/main" id="{20DAE98F-4E14-A8A3-15C2-ED6852567ACC}"/>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8" name="TextBox 7">
            <a:extLst>
              <a:ext uri="{FF2B5EF4-FFF2-40B4-BE49-F238E27FC236}">
                <a16:creationId xmlns:a16="http://schemas.microsoft.com/office/drawing/2014/main" id="{9C614A9E-8F95-982B-8753-47EDDA1EBD51}"/>
              </a:ext>
            </a:extLst>
          </p:cNvPr>
          <p:cNvSpPr txBox="1"/>
          <p:nvPr userDrawn="1"/>
        </p:nvSpPr>
        <p:spPr>
          <a:xfrm>
            <a:off x="445822" y="1128668"/>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5" name="TextBox 34">
            <a:extLst>
              <a:ext uri="{FF2B5EF4-FFF2-40B4-BE49-F238E27FC236}">
                <a16:creationId xmlns:a16="http://schemas.microsoft.com/office/drawing/2014/main" id="{FF534886-F3B6-8ECD-72C7-0AF52C54FDBE}"/>
              </a:ext>
            </a:extLst>
          </p:cNvPr>
          <p:cNvSpPr txBox="1"/>
          <p:nvPr userDrawn="1"/>
        </p:nvSpPr>
        <p:spPr>
          <a:xfrm>
            <a:off x="445822" y="3090275"/>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6" name="TextBox 35">
            <a:extLst>
              <a:ext uri="{FF2B5EF4-FFF2-40B4-BE49-F238E27FC236}">
                <a16:creationId xmlns:a16="http://schemas.microsoft.com/office/drawing/2014/main" id="{FC6F682F-2F9F-0CE1-8721-13E3F577FC72}"/>
              </a:ext>
            </a:extLst>
          </p:cNvPr>
          <p:cNvSpPr txBox="1"/>
          <p:nvPr userDrawn="1"/>
        </p:nvSpPr>
        <p:spPr>
          <a:xfrm>
            <a:off x="8229266" y="1128668"/>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7" name="TextBox 36">
            <a:extLst>
              <a:ext uri="{FF2B5EF4-FFF2-40B4-BE49-F238E27FC236}">
                <a16:creationId xmlns:a16="http://schemas.microsoft.com/office/drawing/2014/main" id="{AAF64F0F-101E-61D2-B3AC-357F5CB3FA39}"/>
              </a:ext>
            </a:extLst>
          </p:cNvPr>
          <p:cNvSpPr txBox="1"/>
          <p:nvPr userDrawn="1"/>
        </p:nvSpPr>
        <p:spPr>
          <a:xfrm>
            <a:off x="8229265" y="4982247"/>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2" name="TextBox 1">
            <a:extLst>
              <a:ext uri="{FF2B5EF4-FFF2-40B4-BE49-F238E27FC236}">
                <a16:creationId xmlns:a16="http://schemas.microsoft.com/office/drawing/2014/main" id="{492E92FF-7727-F376-371F-DF4984617C32}"/>
              </a:ext>
            </a:extLst>
          </p:cNvPr>
          <p:cNvSpPr txBox="1"/>
          <p:nvPr userDrawn="1"/>
        </p:nvSpPr>
        <p:spPr>
          <a:xfrm>
            <a:off x="445821" y="4960264"/>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 name="TextBox 2">
            <a:extLst>
              <a:ext uri="{FF2B5EF4-FFF2-40B4-BE49-F238E27FC236}">
                <a16:creationId xmlns:a16="http://schemas.microsoft.com/office/drawing/2014/main" id="{F8A9165A-549C-5FC1-E3B8-CC0D1FCCCBF8}"/>
              </a:ext>
            </a:extLst>
          </p:cNvPr>
          <p:cNvSpPr txBox="1"/>
          <p:nvPr userDrawn="1"/>
        </p:nvSpPr>
        <p:spPr>
          <a:xfrm>
            <a:off x="8229264" y="2982402"/>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9" name="Text Placeholder 8">
            <a:extLst>
              <a:ext uri="{FF2B5EF4-FFF2-40B4-BE49-F238E27FC236}">
                <a16:creationId xmlns:a16="http://schemas.microsoft.com/office/drawing/2014/main" id="{173ACBEE-F2CF-9F04-221F-55220E28F08D}"/>
              </a:ext>
            </a:extLst>
          </p:cNvPr>
          <p:cNvSpPr>
            <a:spLocks noGrp="1"/>
          </p:cNvSpPr>
          <p:nvPr>
            <p:ph type="body" sz="quarter" idx="10"/>
          </p:nvPr>
        </p:nvSpPr>
        <p:spPr>
          <a:xfrm>
            <a:off x="576842" y="1247000"/>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0" name="Text Placeholder 8">
            <a:extLst>
              <a:ext uri="{FF2B5EF4-FFF2-40B4-BE49-F238E27FC236}">
                <a16:creationId xmlns:a16="http://schemas.microsoft.com/office/drawing/2014/main" id="{C16A02EF-3A0A-9F69-ED41-5964EB2FB726}"/>
              </a:ext>
            </a:extLst>
          </p:cNvPr>
          <p:cNvSpPr>
            <a:spLocks noGrp="1"/>
          </p:cNvSpPr>
          <p:nvPr>
            <p:ph type="body" sz="quarter" idx="11"/>
          </p:nvPr>
        </p:nvSpPr>
        <p:spPr>
          <a:xfrm>
            <a:off x="576842" y="3208607"/>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1" name="Text Placeholder 8">
            <a:extLst>
              <a:ext uri="{FF2B5EF4-FFF2-40B4-BE49-F238E27FC236}">
                <a16:creationId xmlns:a16="http://schemas.microsoft.com/office/drawing/2014/main" id="{3279AE7B-09C6-FA87-CD67-8A56043506EF}"/>
              </a:ext>
            </a:extLst>
          </p:cNvPr>
          <p:cNvSpPr>
            <a:spLocks noGrp="1"/>
          </p:cNvSpPr>
          <p:nvPr>
            <p:ph type="body" sz="quarter" idx="12"/>
          </p:nvPr>
        </p:nvSpPr>
        <p:spPr>
          <a:xfrm>
            <a:off x="576842" y="5100579"/>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2" name="Text Placeholder 8">
            <a:extLst>
              <a:ext uri="{FF2B5EF4-FFF2-40B4-BE49-F238E27FC236}">
                <a16:creationId xmlns:a16="http://schemas.microsoft.com/office/drawing/2014/main" id="{91EFA2E5-2EED-FC30-19ED-119A4FA44F35}"/>
              </a:ext>
            </a:extLst>
          </p:cNvPr>
          <p:cNvSpPr>
            <a:spLocks noGrp="1"/>
          </p:cNvSpPr>
          <p:nvPr>
            <p:ph type="body" sz="quarter" idx="13"/>
          </p:nvPr>
        </p:nvSpPr>
        <p:spPr>
          <a:xfrm>
            <a:off x="8358148" y="5100579"/>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3" name="Text Placeholder 8">
            <a:extLst>
              <a:ext uri="{FF2B5EF4-FFF2-40B4-BE49-F238E27FC236}">
                <a16:creationId xmlns:a16="http://schemas.microsoft.com/office/drawing/2014/main" id="{9B35D539-7AB8-8443-6FCD-CB867FE8F6D5}"/>
              </a:ext>
            </a:extLst>
          </p:cNvPr>
          <p:cNvSpPr>
            <a:spLocks noGrp="1"/>
          </p:cNvSpPr>
          <p:nvPr>
            <p:ph type="body" sz="quarter" idx="14"/>
          </p:nvPr>
        </p:nvSpPr>
        <p:spPr>
          <a:xfrm>
            <a:off x="8358148" y="3090275"/>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4" name="Text Placeholder 8">
            <a:extLst>
              <a:ext uri="{FF2B5EF4-FFF2-40B4-BE49-F238E27FC236}">
                <a16:creationId xmlns:a16="http://schemas.microsoft.com/office/drawing/2014/main" id="{BE808182-B9EA-8FEC-B991-239B2BC4B72F}"/>
              </a:ext>
            </a:extLst>
          </p:cNvPr>
          <p:cNvSpPr>
            <a:spLocks noGrp="1"/>
          </p:cNvSpPr>
          <p:nvPr>
            <p:ph type="body" sz="quarter" idx="15"/>
          </p:nvPr>
        </p:nvSpPr>
        <p:spPr>
          <a:xfrm>
            <a:off x="8358148" y="1247000"/>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Picture Placeholder 14">
            <a:extLst>
              <a:ext uri="{FF2B5EF4-FFF2-40B4-BE49-F238E27FC236}">
                <a16:creationId xmlns:a16="http://schemas.microsoft.com/office/drawing/2014/main" id="{1151F41C-DF8D-8A26-5C35-EDCAA413E2E3}"/>
              </a:ext>
            </a:extLst>
          </p:cNvPr>
          <p:cNvSpPr>
            <a:spLocks noGrp="1"/>
          </p:cNvSpPr>
          <p:nvPr>
            <p:ph type="pic" sz="quarter" idx="16"/>
          </p:nvPr>
        </p:nvSpPr>
        <p:spPr>
          <a:xfrm>
            <a:off x="4586288" y="2252663"/>
            <a:ext cx="3138487" cy="2470150"/>
          </a:xfrm>
        </p:spPr>
        <p:txBody>
          <a:bodyPr/>
          <a:lstStyle/>
          <a:p>
            <a:endParaRPr lang="en-GB"/>
          </a:p>
        </p:txBody>
      </p:sp>
    </p:spTree>
    <p:extLst>
      <p:ext uri="{BB962C8B-B14F-4D97-AF65-F5344CB8AC3E}">
        <p14:creationId xmlns:p14="http://schemas.microsoft.com/office/powerpoint/2010/main" val="1010910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nding_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27CB1D8-835C-AF66-B603-006B6ECA9B61}"/>
              </a:ext>
            </a:extLst>
          </p:cNvPr>
          <p:cNvSpPr/>
          <p:nvPr userDrawn="1"/>
        </p:nvSpPr>
        <p:spPr>
          <a:xfrm>
            <a:off x="-359763" y="-191125"/>
            <a:ext cx="13211331" cy="7240249"/>
          </a:xfrm>
          <a:prstGeom prst="rect">
            <a:avLst/>
          </a:prstGeom>
          <a:solidFill>
            <a:srgbClr val="0033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8" name="TextBox 7">
            <a:extLst>
              <a:ext uri="{FF2B5EF4-FFF2-40B4-BE49-F238E27FC236}">
                <a16:creationId xmlns:a16="http://schemas.microsoft.com/office/drawing/2014/main" id="{6CA54CD8-076B-81E2-4178-71ACCDFD8043}"/>
              </a:ext>
            </a:extLst>
          </p:cNvPr>
          <p:cNvSpPr txBox="1"/>
          <p:nvPr userDrawn="1"/>
        </p:nvSpPr>
        <p:spPr>
          <a:xfrm>
            <a:off x="1" y="2540294"/>
            <a:ext cx="12192000" cy="1346522"/>
          </a:xfrm>
          <a:prstGeom prst="rect">
            <a:avLst/>
          </a:prstGeom>
          <a:noFill/>
        </p:spPr>
        <p:txBody>
          <a:bodyPr wrap="square">
            <a:spAutoFit/>
          </a:bodyPr>
          <a:lstStyle/>
          <a:p>
            <a:pPr algn="just"/>
            <a:r>
              <a:rPr lang="en-IN" sz="2000" dirty="0">
                <a:solidFill>
                  <a:schemeClr val="bg1"/>
                </a:solidFill>
                <a:latin typeface="Arial" panose="020B0604020202020204" pitchFamily="34" charset="0"/>
                <a:cs typeface="Arial" panose="020B0604020202020204" pitchFamily="34" charset="0"/>
              </a:rPr>
              <a:t>Important Notice &amp; </a:t>
            </a:r>
            <a:r>
              <a:rPr lang="en-US" sz="2000" dirty="0">
                <a:solidFill>
                  <a:schemeClr val="bg1"/>
                </a:solidFill>
                <a:latin typeface="Arial" panose="020B0604020202020204" pitchFamily="34" charset="0"/>
                <a:cs typeface="Arial" panose="020B0604020202020204" pitchFamily="34" charset="0"/>
              </a:rPr>
              <a:t>Disclaimer</a:t>
            </a:r>
          </a:p>
          <a:p>
            <a:pPr algn="just"/>
            <a:endParaRPr lang="en-US" sz="1350" b="0" dirty="0">
              <a:solidFill>
                <a:schemeClr val="bg1"/>
              </a:solidFill>
              <a:latin typeface="Arial" panose="020B0604020202020204" pitchFamily="34" charset="0"/>
              <a:cs typeface="Arial" panose="020B0604020202020204" pitchFamily="34" charset="0"/>
            </a:endParaRPr>
          </a:p>
          <a:p>
            <a:pPr algn="just"/>
            <a:r>
              <a:rPr lang="en-IN" sz="1200" b="1" dirty="0">
                <a:solidFill>
                  <a:schemeClr val="bg1"/>
                </a:solidFill>
                <a:latin typeface="Arial" panose="020B0604020202020204" pitchFamily="34" charset="0"/>
                <a:cs typeface="Arial" panose="020B0604020202020204" pitchFamily="34" charset="0"/>
              </a:rPr>
              <a:t>Strictly Private &amp; Confidential.</a:t>
            </a:r>
            <a:r>
              <a:rPr lang="en-IN" sz="1200" dirty="0">
                <a:solidFill>
                  <a:schemeClr val="bg1"/>
                </a:solidFill>
                <a:latin typeface="Arial" panose="020B0604020202020204" pitchFamily="34" charset="0"/>
                <a:cs typeface="Arial" panose="020B0604020202020204" pitchFamily="34" charset="0"/>
              </a:rPr>
              <a:t> This presentation is prepared by </a:t>
            </a:r>
            <a:r>
              <a:rPr lang="en-IN" sz="1200" b="1" dirty="0">
                <a:solidFill>
                  <a:schemeClr val="bg1"/>
                </a:solidFill>
                <a:latin typeface="Arial" panose="020B0604020202020204" pitchFamily="34" charset="0"/>
                <a:cs typeface="Arial" panose="020B0604020202020204" pitchFamily="34" charset="0"/>
              </a:rPr>
              <a:t>Kelp Global</a:t>
            </a:r>
            <a:r>
              <a:rPr lang="en-IN" sz="1200" dirty="0">
                <a:solidFill>
                  <a:schemeClr val="bg1"/>
                </a:solidFill>
                <a:latin typeface="Arial" panose="020B0604020202020204" pitchFamily="34" charset="0"/>
                <a:cs typeface="Arial" panose="020B0604020202020204" pitchFamily="34" charset="0"/>
              </a:rPr>
              <a:t> exclusively for the intended recipient and may not be reproduced or distributed without prior written consent. This document is for informational purposes only and does not constitute an offer to sell or a solicitation of an offer to buy any securities. While all information is obtained from sources believed to be reliable, Kelp Global makes no representation or warranty regarding its accuracy or completeness and accepts no liability for any loss arising from its use. This presentation contains forward-looking statements and financial projections (e.g., FY26–FY28E) based on current assumptions; actual results may vary materially.</a:t>
            </a:r>
            <a:endParaRPr lang="en-US" sz="1200" b="0" dirty="0">
              <a:solidFill>
                <a:schemeClr val="bg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528C02C-2DF5-5316-A9C5-9681A979014E}"/>
              </a:ext>
            </a:extLst>
          </p:cNvPr>
          <p:cNvSpPr txBox="1"/>
          <p:nvPr userDrawn="1"/>
        </p:nvSpPr>
        <p:spPr>
          <a:xfrm>
            <a:off x="4459726" y="6762462"/>
            <a:ext cx="3511457" cy="230832"/>
          </a:xfrm>
          <a:prstGeom prst="rect">
            <a:avLst/>
          </a:prstGeom>
          <a:noFill/>
        </p:spPr>
        <p:txBody>
          <a:bodyPr wrap="square">
            <a:spAutoFit/>
          </a:bodyPr>
          <a:lstStyle/>
          <a:p>
            <a:r>
              <a:rPr lang="en-IN" sz="900" b="0" dirty="0">
                <a:solidFill>
                  <a:schemeClr val="bg1"/>
                </a:solidFill>
                <a:latin typeface="Arial"/>
              </a:rPr>
              <a:t>Strictly Private &amp; Confidential – Prepared by Kelp M&amp;A Team</a:t>
            </a:r>
            <a:endParaRPr lang="en-US" sz="900" dirty="0">
              <a:solidFill>
                <a:schemeClr val="bg1"/>
              </a:solidFill>
            </a:endParaRPr>
          </a:p>
        </p:txBody>
      </p:sp>
      <p:pic>
        <p:nvPicPr>
          <p:cNvPr id="10" name="Picture 9" descr="A white letter on a black background&#10;&#10;AI-generated content may be incorrect.">
            <a:extLst>
              <a:ext uri="{FF2B5EF4-FFF2-40B4-BE49-F238E27FC236}">
                <a16:creationId xmlns:a16="http://schemas.microsoft.com/office/drawing/2014/main" id="{90BC9A44-27D7-8D38-8B51-54EB762103C4}"/>
              </a:ext>
            </a:extLst>
          </p:cNvPr>
          <p:cNvPicPr>
            <a:picLocks noChangeAspect="1"/>
          </p:cNvPicPr>
          <p:nvPr userDrawn="1"/>
        </p:nvPicPr>
        <p:blipFill>
          <a:blip r:embed="rId2"/>
          <a:stretch>
            <a:fillRect/>
          </a:stretch>
        </p:blipFill>
        <p:spPr>
          <a:xfrm>
            <a:off x="196057" y="811231"/>
            <a:ext cx="1911873" cy="726707"/>
          </a:xfrm>
          <a:prstGeom prst="rect">
            <a:avLst/>
          </a:prstGeom>
        </p:spPr>
      </p:pic>
    </p:spTree>
    <p:extLst>
      <p:ext uri="{BB962C8B-B14F-4D97-AF65-F5344CB8AC3E}">
        <p14:creationId xmlns:p14="http://schemas.microsoft.com/office/powerpoint/2010/main" val="18438076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lide_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C7C7B3B-35A8-CB14-7DE6-7597AE5727BB}"/>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panose="020B0604020202020204" pitchFamily="34" charset="0"/>
                <a:cs typeface="Arial" panose="020B0604020202020204" pitchFamily="34" charset="0"/>
              </a:rPr>
              <a:t>Brand Overview and Market Presence</a:t>
            </a:r>
            <a:endParaRPr sz="2000" b="1" dirty="0">
              <a:solidFill>
                <a:srgbClr val="FFFFFF"/>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1E57ECB-C669-1AC2-3C5E-2B9B86C530B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8" name="Picture 7" descr="A white letter on a black background&#10;&#10;AI-generated content may be incorrect.">
            <a:extLst>
              <a:ext uri="{FF2B5EF4-FFF2-40B4-BE49-F238E27FC236}">
                <a16:creationId xmlns:a16="http://schemas.microsoft.com/office/drawing/2014/main" id="{40F6C2CA-BED1-72A7-775A-CD3062FAC359}"/>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4" name="TextBox 3">
            <a:extLst>
              <a:ext uri="{FF2B5EF4-FFF2-40B4-BE49-F238E27FC236}">
                <a16:creationId xmlns:a16="http://schemas.microsoft.com/office/drawing/2014/main" id="{2B57153E-0761-147E-9F8E-CD5A48F6BBA5}"/>
              </a:ext>
            </a:extLst>
          </p:cNvPr>
          <p:cNvSpPr txBox="1"/>
          <p:nvPr userDrawn="1"/>
        </p:nvSpPr>
        <p:spPr>
          <a:xfrm>
            <a:off x="146060" y="4151189"/>
            <a:ext cx="8081253" cy="414371"/>
          </a:xfrm>
          <a:prstGeom prst="rect">
            <a:avLst/>
          </a:prstGeom>
          <a:solidFill>
            <a:srgbClr val="0077B6">
              <a:alpha val="41961"/>
            </a:srgbClr>
          </a:solidFill>
        </p:spPr>
        <p:txBody>
          <a:bodyPr wrap="square" rtlCol="0">
            <a:spAutoFit/>
          </a:bodyPr>
          <a:lstStyle/>
          <a:p>
            <a:endParaRPr lang="en-GB" dirty="0"/>
          </a:p>
        </p:txBody>
      </p:sp>
      <p:sp>
        <p:nvSpPr>
          <p:cNvPr id="10" name="Rectangle 9">
            <a:extLst>
              <a:ext uri="{FF2B5EF4-FFF2-40B4-BE49-F238E27FC236}">
                <a16:creationId xmlns:a16="http://schemas.microsoft.com/office/drawing/2014/main" id="{FD12A1B1-2F44-EBD9-7484-072B4B7A20C0}"/>
              </a:ext>
            </a:extLst>
          </p:cNvPr>
          <p:cNvSpPr/>
          <p:nvPr userDrawn="1"/>
        </p:nvSpPr>
        <p:spPr>
          <a:xfrm>
            <a:off x="146059" y="1354422"/>
            <a:ext cx="8017579" cy="25138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1" name="TextBox 10">
            <a:extLst>
              <a:ext uri="{FF2B5EF4-FFF2-40B4-BE49-F238E27FC236}">
                <a16:creationId xmlns:a16="http://schemas.microsoft.com/office/drawing/2014/main" id="{67E60B4F-D735-2076-55BD-B7B41AD03D44}"/>
              </a:ext>
            </a:extLst>
          </p:cNvPr>
          <p:cNvSpPr txBox="1"/>
          <p:nvPr userDrawn="1"/>
        </p:nvSpPr>
        <p:spPr>
          <a:xfrm>
            <a:off x="154287" y="798749"/>
            <a:ext cx="8115271" cy="414372"/>
          </a:xfrm>
          <a:prstGeom prst="rect">
            <a:avLst/>
          </a:prstGeom>
          <a:solidFill>
            <a:srgbClr val="6FACFF">
              <a:alpha val="41961"/>
            </a:srgbClr>
          </a:solidFill>
        </p:spPr>
        <p:txBody>
          <a:bodyPr wrap="square" rtlCol="0">
            <a:spAutoFit/>
          </a:bodyPr>
          <a:lstStyle/>
          <a:p>
            <a:endParaRPr lang="en-GB" dirty="0"/>
          </a:p>
        </p:txBody>
      </p:sp>
      <p:sp>
        <p:nvSpPr>
          <p:cNvPr id="12" name="TextBox 11">
            <a:extLst>
              <a:ext uri="{FF2B5EF4-FFF2-40B4-BE49-F238E27FC236}">
                <a16:creationId xmlns:a16="http://schemas.microsoft.com/office/drawing/2014/main" id="{DEA8438F-5D82-EB08-3BF9-9C884B9375DA}"/>
              </a:ext>
            </a:extLst>
          </p:cNvPr>
          <p:cNvSpPr txBox="1"/>
          <p:nvPr userDrawn="1"/>
        </p:nvSpPr>
        <p:spPr>
          <a:xfrm>
            <a:off x="8571893" y="3845798"/>
            <a:ext cx="3474046" cy="414371"/>
          </a:xfrm>
          <a:prstGeom prst="rect">
            <a:avLst/>
          </a:prstGeom>
          <a:solidFill>
            <a:srgbClr val="0077B6">
              <a:alpha val="42745"/>
            </a:srgbClr>
          </a:solidFill>
        </p:spPr>
        <p:txBody>
          <a:bodyPr wrap="square" rtlCol="0">
            <a:spAutoFit/>
          </a:bodyPr>
          <a:lstStyle/>
          <a:p>
            <a:endParaRPr lang="en-GB" dirty="0"/>
          </a:p>
        </p:txBody>
      </p:sp>
      <p:cxnSp>
        <p:nvCxnSpPr>
          <p:cNvPr id="13" name="Straight Connector 12">
            <a:extLst>
              <a:ext uri="{FF2B5EF4-FFF2-40B4-BE49-F238E27FC236}">
                <a16:creationId xmlns:a16="http://schemas.microsoft.com/office/drawing/2014/main" id="{02AF2439-D35F-B769-B7D1-D7E48C243F13}"/>
              </a:ext>
            </a:extLst>
          </p:cNvPr>
          <p:cNvCxnSpPr>
            <a:cxnSpLocks/>
          </p:cNvCxnSpPr>
          <p:nvPr userDrawn="1"/>
        </p:nvCxnSpPr>
        <p:spPr>
          <a:xfrm>
            <a:off x="8389194" y="631993"/>
            <a:ext cx="0" cy="6226007"/>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62F7883-A476-5852-F143-B3DFA7053835}"/>
              </a:ext>
            </a:extLst>
          </p:cNvPr>
          <p:cNvSpPr/>
          <p:nvPr userDrawn="1"/>
        </p:nvSpPr>
        <p:spPr>
          <a:xfrm>
            <a:off x="8571893" y="1395641"/>
            <a:ext cx="3431797" cy="22810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7" name="TextBox 16">
            <a:extLst>
              <a:ext uri="{FF2B5EF4-FFF2-40B4-BE49-F238E27FC236}">
                <a16:creationId xmlns:a16="http://schemas.microsoft.com/office/drawing/2014/main" id="{9B693A0E-7104-1EF4-C199-ABE4EA9337B0}"/>
              </a:ext>
            </a:extLst>
          </p:cNvPr>
          <p:cNvSpPr txBox="1"/>
          <p:nvPr userDrawn="1"/>
        </p:nvSpPr>
        <p:spPr>
          <a:xfrm>
            <a:off x="8508829" y="828876"/>
            <a:ext cx="3474046" cy="414371"/>
          </a:xfrm>
          <a:prstGeom prst="rect">
            <a:avLst/>
          </a:prstGeom>
          <a:solidFill>
            <a:srgbClr val="6FACFF">
              <a:alpha val="42745"/>
            </a:srgbClr>
          </a:solidFill>
        </p:spPr>
        <p:txBody>
          <a:bodyPr wrap="square" rtlCol="0">
            <a:spAutoFit/>
          </a:bodyPr>
          <a:lstStyle/>
          <a:p>
            <a:endParaRPr lang="en-GB" dirty="0"/>
          </a:p>
        </p:txBody>
      </p:sp>
      <p:sp>
        <p:nvSpPr>
          <p:cNvPr id="18" name="Rectangle 17">
            <a:extLst>
              <a:ext uri="{FF2B5EF4-FFF2-40B4-BE49-F238E27FC236}">
                <a16:creationId xmlns:a16="http://schemas.microsoft.com/office/drawing/2014/main" id="{0CD2EF22-2305-CBCF-7392-90504AAC5F5D}"/>
              </a:ext>
            </a:extLst>
          </p:cNvPr>
          <p:cNvSpPr/>
          <p:nvPr userDrawn="1"/>
        </p:nvSpPr>
        <p:spPr>
          <a:xfrm>
            <a:off x="188308" y="4693425"/>
            <a:ext cx="8081252" cy="18058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 name="Text Placeholder 2">
            <a:extLst>
              <a:ext uri="{FF2B5EF4-FFF2-40B4-BE49-F238E27FC236}">
                <a16:creationId xmlns:a16="http://schemas.microsoft.com/office/drawing/2014/main" id="{13C21514-8574-AB3F-FED4-0D5790A63814}"/>
              </a:ext>
            </a:extLst>
          </p:cNvPr>
          <p:cNvSpPr>
            <a:spLocks noGrp="1"/>
          </p:cNvSpPr>
          <p:nvPr>
            <p:ph type="body" sz="quarter" idx="10"/>
          </p:nvPr>
        </p:nvSpPr>
        <p:spPr>
          <a:xfrm>
            <a:off x="236262" y="1417132"/>
            <a:ext cx="8017580" cy="2388473"/>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Text Placeholder 8">
            <a:extLst>
              <a:ext uri="{FF2B5EF4-FFF2-40B4-BE49-F238E27FC236}">
                <a16:creationId xmlns:a16="http://schemas.microsoft.com/office/drawing/2014/main" id="{48EB1D40-3674-BBC3-BA3D-593FBC536801}"/>
              </a:ext>
            </a:extLst>
          </p:cNvPr>
          <p:cNvSpPr>
            <a:spLocks noGrp="1"/>
          </p:cNvSpPr>
          <p:nvPr>
            <p:ph type="body" sz="quarter" idx="11"/>
          </p:nvPr>
        </p:nvSpPr>
        <p:spPr>
          <a:xfrm>
            <a:off x="379773" y="4865557"/>
            <a:ext cx="7550150" cy="1420812"/>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 name="TextBox 1">
            <a:extLst>
              <a:ext uri="{FF2B5EF4-FFF2-40B4-BE49-F238E27FC236}">
                <a16:creationId xmlns:a16="http://schemas.microsoft.com/office/drawing/2014/main" id="{4956E25C-1867-5A97-A053-74EF89CF8053}"/>
              </a:ext>
            </a:extLst>
          </p:cNvPr>
          <p:cNvSpPr txBox="1"/>
          <p:nvPr userDrawn="1"/>
        </p:nvSpPr>
        <p:spPr>
          <a:xfrm>
            <a:off x="154288" y="814857"/>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Brand Overview</a:t>
            </a:r>
          </a:p>
        </p:txBody>
      </p:sp>
      <p:sp>
        <p:nvSpPr>
          <p:cNvPr id="5" name="TextBox 4">
            <a:extLst>
              <a:ext uri="{FF2B5EF4-FFF2-40B4-BE49-F238E27FC236}">
                <a16:creationId xmlns:a16="http://schemas.microsoft.com/office/drawing/2014/main" id="{A954834B-3DF1-23D9-5C4D-4A6C8E23F765}"/>
              </a:ext>
            </a:extLst>
          </p:cNvPr>
          <p:cNvSpPr txBox="1"/>
          <p:nvPr userDrawn="1"/>
        </p:nvSpPr>
        <p:spPr>
          <a:xfrm>
            <a:off x="8571893" y="3868317"/>
            <a:ext cx="3066601"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Certifications</a:t>
            </a:r>
          </a:p>
        </p:txBody>
      </p:sp>
      <p:sp>
        <p:nvSpPr>
          <p:cNvPr id="14" name="TextBox 13">
            <a:extLst>
              <a:ext uri="{FF2B5EF4-FFF2-40B4-BE49-F238E27FC236}">
                <a16:creationId xmlns:a16="http://schemas.microsoft.com/office/drawing/2014/main" id="{39F8FA0A-4415-E7B6-228E-46B151ECBCE6}"/>
              </a:ext>
            </a:extLst>
          </p:cNvPr>
          <p:cNvSpPr txBox="1"/>
          <p:nvPr userDrawn="1"/>
        </p:nvSpPr>
        <p:spPr>
          <a:xfrm>
            <a:off x="188308" y="4173708"/>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Portfolio and Products</a:t>
            </a:r>
          </a:p>
        </p:txBody>
      </p:sp>
      <p:sp>
        <p:nvSpPr>
          <p:cNvPr id="20" name="Picture Placeholder 19">
            <a:extLst>
              <a:ext uri="{FF2B5EF4-FFF2-40B4-BE49-F238E27FC236}">
                <a16:creationId xmlns:a16="http://schemas.microsoft.com/office/drawing/2014/main" id="{F701B351-9295-2343-7729-22B37578850C}"/>
              </a:ext>
            </a:extLst>
          </p:cNvPr>
          <p:cNvSpPr>
            <a:spLocks noGrp="1"/>
          </p:cNvSpPr>
          <p:nvPr>
            <p:ph type="pic" sz="quarter" idx="12"/>
          </p:nvPr>
        </p:nvSpPr>
        <p:spPr>
          <a:xfrm>
            <a:off x="9701086" y="4479735"/>
            <a:ext cx="1089531" cy="991109"/>
          </a:xfrm>
        </p:spPr>
        <p:txBody>
          <a:bodyPr/>
          <a:lstStyle/>
          <a:p>
            <a:endParaRPr lang="en-GB"/>
          </a:p>
        </p:txBody>
      </p:sp>
      <p:sp>
        <p:nvSpPr>
          <p:cNvPr id="21" name="Picture Placeholder 19">
            <a:extLst>
              <a:ext uri="{FF2B5EF4-FFF2-40B4-BE49-F238E27FC236}">
                <a16:creationId xmlns:a16="http://schemas.microsoft.com/office/drawing/2014/main" id="{E5F74BA3-8C7A-8938-B580-623C8CA528D7}"/>
              </a:ext>
            </a:extLst>
          </p:cNvPr>
          <p:cNvSpPr>
            <a:spLocks noGrp="1"/>
          </p:cNvSpPr>
          <p:nvPr>
            <p:ph type="pic" sz="quarter" idx="13"/>
          </p:nvPr>
        </p:nvSpPr>
        <p:spPr>
          <a:xfrm>
            <a:off x="8826504" y="5574632"/>
            <a:ext cx="1089535" cy="908983"/>
          </a:xfrm>
        </p:spPr>
        <p:txBody>
          <a:bodyPr/>
          <a:lstStyle/>
          <a:p>
            <a:endParaRPr lang="en-GB"/>
          </a:p>
        </p:txBody>
      </p:sp>
      <p:sp>
        <p:nvSpPr>
          <p:cNvPr id="22" name="Picture Placeholder 19">
            <a:extLst>
              <a:ext uri="{FF2B5EF4-FFF2-40B4-BE49-F238E27FC236}">
                <a16:creationId xmlns:a16="http://schemas.microsoft.com/office/drawing/2014/main" id="{EFC57E91-D73D-F1D4-2CD5-581EA200A756}"/>
              </a:ext>
            </a:extLst>
          </p:cNvPr>
          <p:cNvSpPr>
            <a:spLocks noGrp="1"/>
          </p:cNvSpPr>
          <p:nvPr>
            <p:ph type="pic" sz="quarter" idx="14"/>
          </p:nvPr>
        </p:nvSpPr>
        <p:spPr>
          <a:xfrm>
            <a:off x="10548962" y="5596364"/>
            <a:ext cx="1089532" cy="887251"/>
          </a:xfrm>
        </p:spPr>
        <p:txBody>
          <a:bodyPr/>
          <a:lstStyle/>
          <a:p>
            <a:endParaRPr lang="en-GB"/>
          </a:p>
        </p:txBody>
      </p:sp>
      <p:sp>
        <p:nvSpPr>
          <p:cNvPr id="23" name="TextBox 22">
            <a:extLst>
              <a:ext uri="{FF2B5EF4-FFF2-40B4-BE49-F238E27FC236}">
                <a16:creationId xmlns:a16="http://schemas.microsoft.com/office/drawing/2014/main" id="{D0F51ADC-19AC-CC4C-101E-F9EA157D172C}"/>
              </a:ext>
            </a:extLst>
          </p:cNvPr>
          <p:cNvSpPr txBox="1"/>
          <p:nvPr userDrawn="1"/>
        </p:nvSpPr>
        <p:spPr>
          <a:xfrm>
            <a:off x="8541487" y="850054"/>
            <a:ext cx="309701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At a Glance</a:t>
            </a:r>
          </a:p>
        </p:txBody>
      </p:sp>
      <p:sp>
        <p:nvSpPr>
          <p:cNvPr id="25" name="Text Placeholder 24">
            <a:extLst>
              <a:ext uri="{FF2B5EF4-FFF2-40B4-BE49-F238E27FC236}">
                <a16:creationId xmlns:a16="http://schemas.microsoft.com/office/drawing/2014/main" id="{79C7AF37-8E24-7EC6-C84D-1E144C153BAA}"/>
              </a:ext>
            </a:extLst>
          </p:cNvPr>
          <p:cNvSpPr>
            <a:spLocks noGrp="1"/>
          </p:cNvSpPr>
          <p:nvPr>
            <p:ph type="body" sz="quarter" idx="15"/>
          </p:nvPr>
        </p:nvSpPr>
        <p:spPr>
          <a:xfrm>
            <a:off x="8674226" y="1479907"/>
            <a:ext cx="3143250" cy="2219325"/>
          </a:xfrm>
        </p:spPr>
        <p:txBody>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9" name="Picture Placeholder 18">
            <a:extLst>
              <a:ext uri="{FF2B5EF4-FFF2-40B4-BE49-F238E27FC236}">
                <a16:creationId xmlns:a16="http://schemas.microsoft.com/office/drawing/2014/main" id="{FAD83EC9-39E7-8960-FB4A-66247F4FE61D}"/>
              </a:ext>
            </a:extLst>
          </p:cNvPr>
          <p:cNvSpPr>
            <a:spLocks noGrp="1"/>
          </p:cNvSpPr>
          <p:nvPr>
            <p:ph type="pic" sz="quarter" idx="16"/>
          </p:nvPr>
        </p:nvSpPr>
        <p:spPr>
          <a:xfrm>
            <a:off x="7560074" y="1480079"/>
            <a:ext cx="560387" cy="584200"/>
          </a:xfrm>
        </p:spPr>
        <p:txBody>
          <a:bodyPr/>
          <a:lstStyle/>
          <a:p>
            <a:endParaRPr lang="en-GB"/>
          </a:p>
        </p:txBody>
      </p:sp>
      <p:sp>
        <p:nvSpPr>
          <p:cNvPr id="24" name="Picture Placeholder 18">
            <a:extLst>
              <a:ext uri="{FF2B5EF4-FFF2-40B4-BE49-F238E27FC236}">
                <a16:creationId xmlns:a16="http://schemas.microsoft.com/office/drawing/2014/main" id="{79B0485E-332F-E3ED-5180-4C38D7877684}"/>
              </a:ext>
            </a:extLst>
          </p:cNvPr>
          <p:cNvSpPr>
            <a:spLocks noGrp="1"/>
          </p:cNvSpPr>
          <p:nvPr>
            <p:ph type="pic" sz="quarter" idx="17"/>
          </p:nvPr>
        </p:nvSpPr>
        <p:spPr>
          <a:xfrm>
            <a:off x="7542089" y="5012164"/>
            <a:ext cx="560387" cy="584200"/>
          </a:xfrm>
        </p:spPr>
        <p:txBody>
          <a:bodyPr/>
          <a:lstStyle/>
          <a:p>
            <a:endParaRPr lang="en-GB"/>
          </a:p>
        </p:txBody>
      </p:sp>
      <p:sp>
        <p:nvSpPr>
          <p:cNvPr id="26" name="Picture Placeholder 18">
            <a:extLst>
              <a:ext uri="{FF2B5EF4-FFF2-40B4-BE49-F238E27FC236}">
                <a16:creationId xmlns:a16="http://schemas.microsoft.com/office/drawing/2014/main" id="{17DCE210-3387-3CE1-1570-6E59B39B6E98}"/>
              </a:ext>
            </a:extLst>
          </p:cNvPr>
          <p:cNvSpPr>
            <a:spLocks noGrp="1"/>
          </p:cNvSpPr>
          <p:nvPr>
            <p:ph type="pic" sz="quarter" idx="18"/>
          </p:nvPr>
        </p:nvSpPr>
        <p:spPr>
          <a:xfrm>
            <a:off x="11362809" y="1522913"/>
            <a:ext cx="560387" cy="584200"/>
          </a:xfrm>
        </p:spPr>
        <p:txBody>
          <a:bodyPr/>
          <a:lstStyle/>
          <a:p>
            <a:endParaRPr lang="en-GB"/>
          </a:p>
        </p:txBody>
      </p:sp>
    </p:spTree>
    <p:extLst>
      <p:ext uri="{BB962C8B-B14F-4D97-AF65-F5344CB8AC3E}">
        <p14:creationId xmlns:p14="http://schemas.microsoft.com/office/powerpoint/2010/main" val="3058600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lide_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2318C7D-B421-4556-7BFD-CC04951D942A}"/>
              </a:ext>
            </a:extLst>
          </p:cNvPr>
          <p:cNvSpPr/>
          <p:nvPr userDrawn="1"/>
        </p:nvSpPr>
        <p:spPr>
          <a:xfrm>
            <a:off x="6441912" y="1326032"/>
            <a:ext cx="5352369" cy="217022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 name="Rectangle 6">
            <a:extLst>
              <a:ext uri="{FF2B5EF4-FFF2-40B4-BE49-F238E27FC236}">
                <a16:creationId xmlns:a16="http://schemas.microsoft.com/office/drawing/2014/main" id="{0517C9D5-49AC-9CA1-E5F3-5A1A806A33F8}"/>
              </a:ext>
            </a:extLst>
          </p:cNvPr>
          <p:cNvSpPr/>
          <p:nvPr userDrawn="1"/>
        </p:nvSpPr>
        <p:spPr>
          <a:xfrm>
            <a:off x="126182" y="4211787"/>
            <a:ext cx="5969818" cy="225725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 name="Rectangle 4">
            <a:extLst>
              <a:ext uri="{FF2B5EF4-FFF2-40B4-BE49-F238E27FC236}">
                <a16:creationId xmlns:a16="http://schemas.microsoft.com/office/drawing/2014/main" id="{842A2C26-E205-E6B7-3924-B3F00935BC4F}"/>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IN" sz="2000" b="1" kern="1200" dirty="0">
                <a:solidFill>
                  <a:schemeClr val="lt1"/>
                </a:solidFill>
                <a:effectLst/>
                <a:latin typeface="Arial" panose="020B0604020202020204" pitchFamily="34" charset="0"/>
                <a:ea typeface="+mn-ea"/>
                <a:cs typeface="Arial" panose="020B0604020202020204" pitchFamily="34" charset="0"/>
              </a:rPr>
              <a:t>Growth and Unit Economics</a:t>
            </a:r>
          </a:p>
        </p:txBody>
      </p:sp>
      <p:sp>
        <p:nvSpPr>
          <p:cNvPr id="3" name="TextBox 2">
            <a:extLst>
              <a:ext uri="{FF2B5EF4-FFF2-40B4-BE49-F238E27FC236}">
                <a16:creationId xmlns:a16="http://schemas.microsoft.com/office/drawing/2014/main" id="{EF2B70FC-EA3A-9BC1-136F-70C24143B8A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4" name="Picture 3" descr="A white letter on a black background&#10;&#10;AI-generated content may be incorrect.">
            <a:extLst>
              <a:ext uri="{FF2B5EF4-FFF2-40B4-BE49-F238E27FC236}">
                <a16:creationId xmlns:a16="http://schemas.microsoft.com/office/drawing/2014/main" id="{8405219B-631A-B6C2-078E-01EE365BF882}"/>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2" name="TextBox 153">
            <a:extLst>
              <a:ext uri="{FF2B5EF4-FFF2-40B4-BE49-F238E27FC236}">
                <a16:creationId xmlns:a16="http://schemas.microsoft.com/office/drawing/2014/main" id="{A7B5FD41-65CC-DCFC-EEA0-2E9BD7A03752}"/>
              </a:ext>
            </a:extLst>
          </p:cNvPr>
          <p:cNvSpPr txBox="1"/>
          <p:nvPr userDrawn="1"/>
        </p:nvSpPr>
        <p:spPr>
          <a:xfrm>
            <a:off x="126182" y="762574"/>
            <a:ext cx="5616000"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Growth</a:t>
            </a:r>
          </a:p>
        </p:txBody>
      </p:sp>
      <p:sp>
        <p:nvSpPr>
          <p:cNvPr id="6" name="TextBox 153">
            <a:extLst>
              <a:ext uri="{FF2B5EF4-FFF2-40B4-BE49-F238E27FC236}">
                <a16:creationId xmlns:a16="http://schemas.microsoft.com/office/drawing/2014/main" id="{C757E7BD-409D-85E9-63ED-AF7F5EEECDC8}"/>
              </a:ext>
            </a:extLst>
          </p:cNvPr>
          <p:cNvSpPr txBox="1"/>
          <p:nvPr userDrawn="1"/>
        </p:nvSpPr>
        <p:spPr>
          <a:xfrm>
            <a:off x="6566721" y="3750090"/>
            <a:ext cx="5352369"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Promoters v/s Non Promoters</a:t>
            </a:r>
          </a:p>
        </p:txBody>
      </p:sp>
      <p:sp>
        <p:nvSpPr>
          <p:cNvPr id="10" name="Chart Placeholder 9">
            <a:extLst>
              <a:ext uri="{FF2B5EF4-FFF2-40B4-BE49-F238E27FC236}">
                <a16:creationId xmlns:a16="http://schemas.microsoft.com/office/drawing/2014/main" id="{314BFA5B-DA44-35AB-4230-666E47503CBA}"/>
              </a:ext>
            </a:extLst>
          </p:cNvPr>
          <p:cNvSpPr>
            <a:spLocks noGrp="1"/>
          </p:cNvSpPr>
          <p:nvPr>
            <p:ph type="chart" sz="quarter" idx="10"/>
          </p:nvPr>
        </p:nvSpPr>
        <p:spPr>
          <a:xfrm>
            <a:off x="258763" y="1296988"/>
            <a:ext cx="5483225" cy="2625725"/>
          </a:xfrm>
        </p:spPr>
        <p:txBody>
          <a:bodyPr/>
          <a:lstStyle/>
          <a:p>
            <a:endParaRPr lang="en-GB"/>
          </a:p>
        </p:txBody>
      </p:sp>
      <p:sp>
        <p:nvSpPr>
          <p:cNvPr id="12" name="Chart Placeholder 11">
            <a:extLst>
              <a:ext uri="{FF2B5EF4-FFF2-40B4-BE49-F238E27FC236}">
                <a16:creationId xmlns:a16="http://schemas.microsoft.com/office/drawing/2014/main" id="{4F4B5099-C250-429F-B035-D8FD2B9191E4}"/>
              </a:ext>
            </a:extLst>
          </p:cNvPr>
          <p:cNvSpPr>
            <a:spLocks noGrp="1"/>
          </p:cNvSpPr>
          <p:nvPr>
            <p:ph type="chart" sz="quarter" idx="11"/>
          </p:nvPr>
        </p:nvSpPr>
        <p:spPr>
          <a:xfrm>
            <a:off x="6542996" y="4325144"/>
            <a:ext cx="5259387" cy="2012950"/>
          </a:xfrm>
        </p:spPr>
        <p:txBody>
          <a:bodyPr/>
          <a:lstStyle/>
          <a:p>
            <a:endParaRPr lang="en-GB"/>
          </a:p>
        </p:txBody>
      </p:sp>
      <p:sp>
        <p:nvSpPr>
          <p:cNvPr id="14" name="Text Placeholder 13">
            <a:extLst>
              <a:ext uri="{FF2B5EF4-FFF2-40B4-BE49-F238E27FC236}">
                <a16:creationId xmlns:a16="http://schemas.microsoft.com/office/drawing/2014/main" id="{2DFEA1BA-A093-DDF9-3DB8-B4A28E960CDA}"/>
              </a:ext>
            </a:extLst>
          </p:cNvPr>
          <p:cNvSpPr>
            <a:spLocks noGrp="1"/>
          </p:cNvSpPr>
          <p:nvPr>
            <p:ph type="body" sz="quarter" idx="12"/>
          </p:nvPr>
        </p:nvSpPr>
        <p:spPr>
          <a:xfrm>
            <a:off x="258763" y="4386263"/>
            <a:ext cx="5599112" cy="189071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TextBox 153">
            <a:extLst>
              <a:ext uri="{FF2B5EF4-FFF2-40B4-BE49-F238E27FC236}">
                <a16:creationId xmlns:a16="http://schemas.microsoft.com/office/drawing/2014/main" id="{09F7A666-201F-9258-69E7-81D59D339426}"/>
              </a:ext>
            </a:extLst>
          </p:cNvPr>
          <p:cNvSpPr txBox="1"/>
          <p:nvPr userDrawn="1"/>
        </p:nvSpPr>
        <p:spPr>
          <a:xfrm>
            <a:off x="6449820" y="797725"/>
            <a:ext cx="5352369" cy="345556"/>
          </a:xfrm>
          <a:prstGeom prst="roundRect">
            <a:avLst/>
          </a:prstGeom>
          <a:solidFill>
            <a:srgbClr val="6FACFF">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Current Endeavours</a:t>
            </a:r>
          </a:p>
        </p:txBody>
      </p:sp>
      <p:sp>
        <p:nvSpPr>
          <p:cNvPr id="16" name="Text Placeholder 13">
            <a:extLst>
              <a:ext uri="{FF2B5EF4-FFF2-40B4-BE49-F238E27FC236}">
                <a16:creationId xmlns:a16="http://schemas.microsoft.com/office/drawing/2014/main" id="{A6C93ED4-1702-7B8D-5F36-E67260FB774A}"/>
              </a:ext>
            </a:extLst>
          </p:cNvPr>
          <p:cNvSpPr>
            <a:spLocks noGrp="1"/>
          </p:cNvSpPr>
          <p:nvPr>
            <p:ph type="body" sz="quarter" idx="13"/>
          </p:nvPr>
        </p:nvSpPr>
        <p:spPr>
          <a:xfrm>
            <a:off x="6450014" y="1488859"/>
            <a:ext cx="5352369" cy="189071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Picture Placeholder 18">
            <a:extLst>
              <a:ext uri="{FF2B5EF4-FFF2-40B4-BE49-F238E27FC236}">
                <a16:creationId xmlns:a16="http://schemas.microsoft.com/office/drawing/2014/main" id="{50C145BC-849C-7BED-8D76-9D2CBB6027C8}"/>
              </a:ext>
            </a:extLst>
          </p:cNvPr>
          <p:cNvSpPr>
            <a:spLocks noGrp="1"/>
          </p:cNvSpPr>
          <p:nvPr>
            <p:ph type="pic" sz="quarter" idx="16"/>
          </p:nvPr>
        </p:nvSpPr>
        <p:spPr>
          <a:xfrm>
            <a:off x="11085405" y="1597483"/>
            <a:ext cx="560387" cy="584200"/>
          </a:xfrm>
        </p:spPr>
        <p:txBody>
          <a:bodyPr/>
          <a:lstStyle/>
          <a:p>
            <a:endParaRPr lang="en-GB"/>
          </a:p>
        </p:txBody>
      </p:sp>
      <p:sp>
        <p:nvSpPr>
          <p:cNvPr id="11" name="Picture Placeholder 18">
            <a:extLst>
              <a:ext uri="{FF2B5EF4-FFF2-40B4-BE49-F238E27FC236}">
                <a16:creationId xmlns:a16="http://schemas.microsoft.com/office/drawing/2014/main" id="{D8485975-C325-68AD-C16C-A6ED6801C253}"/>
              </a:ext>
            </a:extLst>
          </p:cNvPr>
          <p:cNvSpPr>
            <a:spLocks noGrp="1"/>
          </p:cNvSpPr>
          <p:nvPr>
            <p:ph type="pic" sz="quarter" idx="17"/>
          </p:nvPr>
        </p:nvSpPr>
        <p:spPr>
          <a:xfrm>
            <a:off x="5136357" y="4477512"/>
            <a:ext cx="560387" cy="584200"/>
          </a:xfrm>
        </p:spPr>
        <p:txBody>
          <a:bodyPr/>
          <a:lstStyle/>
          <a:p>
            <a:endParaRPr lang="en-GB"/>
          </a:p>
        </p:txBody>
      </p:sp>
    </p:spTree>
    <p:extLst>
      <p:ext uri="{BB962C8B-B14F-4D97-AF65-F5344CB8AC3E}">
        <p14:creationId xmlns:p14="http://schemas.microsoft.com/office/powerpoint/2010/main" val="49592600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4634" y="484094"/>
            <a:ext cx="10075084" cy="1116106"/>
          </a:xfrm>
          <a:prstGeom prst="rect">
            <a:avLst/>
          </a:prstGeom>
        </p:spPr>
        <p:txBody>
          <a:bodyPr vert="horz" lIns="91440" tIns="45720" rIns="91440" bIns="45720" rtlCol="0" anchor="t" anchorCtr="0">
            <a:noAutofit/>
          </a:bodyPr>
          <a:lstStyle/>
          <a:p>
            <a:r>
              <a:rPr lang="en-GB"/>
              <a:t>Click to edit Master title style</a:t>
            </a:r>
            <a:endParaRPr/>
          </a:p>
        </p:txBody>
      </p:sp>
      <p:sp>
        <p:nvSpPr>
          <p:cNvPr id="3" name="Text Placeholder 2"/>
          <p:cNvSpPr>
            <a:spLocks noGrp="1"/>
          </p:cNvSpPr>
          <p:nvPr>
            <p:ph type="body" idx="1"/>
          </p:nvPr>
        </p:nvSpPr>
        <p:spPr>
          <a:xfrm>
            <a:off x="664634" y="1981203"/>
            <a:ext cx="10075084" cy="4144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2"/>
          </p:nvPr>
        </p:nvSpPr>
        <p:spPr>
          <a:xfrm>
            <a:off x="9060329" y="6423588"/>
            <a:ext cx="2844800" cy="365125"/>
          </a:xfrm>
          <a:prstGeom prst="rect">
            <a:avLst/>
          </a:prstGeom>
        </p:spPr>
        <p:txBody>
          <a:bodyPr vert="horz" lIns="91440" tIns="45720" rIns="91440" bIns="45720" rtlCol="0" anchor="ctr"/>
          <a:lstStyle>
            <a:lvl1pPr algn="r">
              <a:defRPr sz="825">
                <a:solidFill>
                  <a:schemeClr val="tx1">
                    <a:lumMod val="65000"/>
                    <a:lumOff val="35000"/>
                  </a:schemeClr>
                </a:solidFill>
              </a:defRPr>
            </a:lvl1pPr>
          </a:lstStyle>
          <a:p>
            <a:fld id="{E3AE72C7-7358-2242-B91F-8F564DC30B2C}" type="datetimeFigureOut">
              <a:rPr lang="en-US" smtClean="0"/>
              <a:t>2/4/26</a:t>
            </a:fld>
            <a:endParaRPr lang="en-US"/>
          </a:p>
        </p:txBody>
      </p:sp>
      <p:sp>
        <p:nvSpPr>
          <p:cNvPr id="5" name="Footer Placeholder 4"/>
          <p:cNvSpPr>
            <a:spLocks noGrp="1"/>
          </p:cNvSpPr>
          <p:nvPr>
            <p:ph type="ftr" sz="quarter" idx="3"/>
          </p:nvPr>
        </p:nvSpPr>
        <p:spPr>
          <a:xfrm>
            <a:off x="268941" y="6423588"/>
            <a:ext cx="8163859"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11074400" y="242236"/>
            <a:ext cx="738717" cy="365125"/>
          </a:xfrm>
          <a:prstGeom prst="rect">
            <a:avLst/>
          </a:prstGeom>
        </p:spPr>
        <p:txBody>
          <a:bodyPr vert="horz" lIns="91440" tIns="45720" rIns="91440" bIns="45720" rtlCol="0" anchor="ctr"/>
          <a:lstStyle>
            <a:lvl1pPr algn="r">
              <a:defRPr sz="1050">
                <a:solidFill>
                  <a:schemeClr val="bg1"/>
                </a:solidFill>
              </a:defRPr>
            </a:lvl1pPr>
          </a:lstStyle>
          <a:p>
            <a:fld id="{98DF15E9-887E-AA4B-A287-7DA0FC14E13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3" r:id="rId2"/>
    <p:sldLayoutId id="2147483664" r:id="rId3"/>
    <p:sldLayoutId id="2147483665" r:id="rId4"/>
    <p:sldLayoutId id="2147483662" r:id="rId5"/>
    <p:sldLayoutId id="2147483666" r:id="rId6"/>
    <p:sldLayoutId id="2147483667" r:id="rId7"/>
  </p:sldLayoutIdLst>
  <p:txStyles>
    <p:titleStyle>
      <a:lvl1pPr algn="l" defTabSz="685800" rtl="0" eaLnBrk="1" latinLnBrk="0" hangingPunct="1">
        <a:spcBef>
          <a:spcPct val="0"/>
        </a:spcBef>
        <a:buNone/>
        <a:defRPr sz="2700" b="0" kern="1200">
          <a:solidFill>
            <a:schemeClr val="accent1"/>
          </a:solidFill>
          <a:latin typeface="+mj-lt"/>
          <a:ea typeface="+mj-ea"/>
          <a:cs typeface="+mj-cs"/>
        </a:defRPr>
      </a:lvl1pPr>
    </p:titleStyle>
    <p:bodyStyle>
      <a:lvl1pPr marL="171450" indent="-171450" algn="l" defTabSz="685800" rtl="0" eaLnBrk="1" latinLnBrk="0" hangingPunct="1">
        <a:spcBef>
          <a:spcPts val="1500"/>
        </a:spcBef>
        <a:buClr>
          <a:schemeClr val="accent1"/>
        </a:buClr>
        <a:buSzPct val="75000"/>
        <a:buFont typeface="Wingdings" pitchFamily="2" charset="2"/>
        <a:buChar char="n"/>
        <a:defRPr sz="1500" kern="1200">
          <a:solidFill>
            <a:schemeClr val="tx1">
              <a:lumMod val="65000"/>
              <a:lumOff val="35000"/>
            </a:schemeClr>
          </a:solidFill>
          <a:latin typeface="+mn-lt"/>
          <a:ea typeface="+mn-ea"/>
          <a:cs typeface="+mn-cs"/>
        </a:defRPr>
      </a:lvl1pPr>
      <a:lvl2pPr marL="342900" indent="-171450" algn="l" defTabSz="685800" rtl="0" eaLnBrk="1" latinLnBrk="0" hangingPunct="1">
        <a:spcBef>
          <a:spcPts val="450"/>
        </a:spcBef>
        <a:buClr>
          <a:schemeClr val="accent1">
            <a:lumMod val="60000"/>
            <a:lumOff val="40000"/>
          </a:schemeClr>
        </a:buClr>
        <a:buSzPct val="75000"/>
        <a:buFont typeface="Wingdings" pitchFamily="2" charset="2"/>
        <a:buChar char="n"/>
        <a:defRPr sz="1350" kern="1200">
          <a:solidFill>
            <a:schemeClr val="tx1">
              <a:lumMod val="65000"/>
              <a:lumOff val="35000"/>
            </a:schemeClr>
          </a:solidFill>
          <a:latin typeface="+mn-lt"/>
          <a:ea typeface="+mn-ea"/>
          <a:cs typeface="+mn-cs"/>
        </a:defRPr>
      </a:lvl2pPr>
      <a:lvl3pPr marL="514350" indent="-171450" algn="l" defTabSz="685800" rtl="0" eaLnBrk="1" latinLnBrk="0" hangingPunct="1">
        <a:spcBef>
          <a:spcPts val="450"/>
        </a:spcBef>
        <a:buClr>
          <a:schemeClr val="accent1"/>
        </a:buClr>
        <a:buSzPct val="75000"/>
        <a:buFont typeface="Wingdings" pitchFamily="2" charset="2"/>
        <a:buChar char="n"/>
        <a:defRPr sz="1350" kern="1200">
          <a:solidFill>
            <a:schemeClr val="tx1">
              <a:lumMod val="65000"/>
              <a:lumOff val="35000"/>
            </a:schemeClr>
          </a:solidFill>
          <a:latin typeface="+mn-lt"/>
          <a:ea typeface="+mn-ea"/>
          <a:cs typeface="+mn-cs"/>
        </a:defRPr>
      </a:lvl3pPr>
      <a:lvl4pPr marL="685800" indent="-171450" algn="l" defTabSz="685800" rtl="0" eaLnBrk="1" latinLnBrk="0" hangingPunct="1">
        <a:spcBef>
          <a:spcPts val="450"/>
        </a:spcBef>
        <a:buClr>
          <a:schemeClr val="accent1">
            <a:lumMod val="60000"/>
            <a:lumOff val="40000"/>
          </a:schemeClr>
        </a:buClr>
        <a:buSzPct val="75000"/>
        <a:buFont typeface="Wingdings" pitchFamily="2" charset="2"/>
        <a:buChar char="n"/>
        <a:defRPr sz="1350" kern="1200">
          <a:solidFill>
            <a:schemeClr val="tx1">
              <a:lumMod val="65000"/>
              <a:lumOff val="35000"/>
            </a:schemeClr>
          </a:solidFill>
          <a:latin typeface="+mn-lt"/>
          <a:ea typeface="+mn-ea"/>
          <a:cs typeface="+mn-cs"/>
        </a:defRPr>
      </a:lvl4pPr>
      <a:lvl5pPr marL="857250" indent="-171450" algn="l" defTabSz="685800" rtl="0" eaLnBrk="1" latinLnBrk="0" hangingPunct="1">
        <a:spcBef>
          <a:spcPts val="450"/>
        </a:spcBef>
        <a:buClr>
          <a:schemeClr val="accent1"/>
        </a:buClr>
        <a:buSzPct val="75000"/>
        <a:buFont typeface="Wingdings" pitchFamily="2" charset="2"/>
        <a:buChar char="n"/>
        <a:defRPr sz="1350" kern="1200">
          <a:solidFill>
            <a:schemeClr val="tx1">
              <a:lumMod val="65000"/>
              <a:lumOff val="35000"/>
            </a:schemeClr>
          </a:solidFill>
          <a:latin typeface="+mn-lt"/>
          <a:ea typeface="+mn-ea"/>
          <a:cs typeface="+mn-cs"/>
        </a:defRPr>
      </a:lvl5pPr>
      <a:lvl6pPr marL="1033463" indent="-171450" algn="l" defTabSz="685800" rtl="0" eaLnBrk="1" latinLnBrk="0" hangingPunct="1">
        <a:spcBef>
          <a:spcPct val="20000"/>
        </a:spcBef>
        <a:buClr>
          <a:schemeClr val="accent1">
            <a:lumMod val="60000"/>
            <a:lumOff val="40000"/>
          </a:schemeClr>
        </a:buClr>
        <a:buSzPct val="75000"/>
        <a:buFont typeface="Wingdings" pitchFamily="2" charset="2"/>
        <a:buChar char=""/>
        <a:defRPr lang="en-US" sz="1350" kern="1200" dirty="0" smtClean="0">
          <a:solidFill>
            <a:schemeClr val="tx1">
              <a:lumMod val="65000"/>
              <a:lumOff val="35000"/>
            </a:schemeClr>
          </a:solidFill>
          <a:latin typeface="+mn-lt"/>
          <a:ea typeface="+mn-ea"/>
          <a:cs typeface="+mn-cs"/>
        </a:defRPr>
      </a:lvl6pPr>
      <a:lvl7pPr marL="1202531" indent="-171450" algn="l" defTabSz="685800" rtl="0" eaLnBrk="1" latinLnBrk="0" hangingPunct="1">
        <a:spcBef>
          <a:spcPct val="20000"/>
        </a:spcBef>
        <a:buClr>
          <a:schemeClr val="accent1"/>
        </a:buClr>
        <a:buSzPct val="75000"/>
        <a:buFont typeface="Wingdings" pitchFamily="2" charset="2"/>
        <a:buChar char=""/>
        <a:defRPr lang="en-US" sz="1350" kern="1200" baseline="0" dirty="0" smtClean="0">
          <a:solidFill>
            <a:schemeClr val="tx1">
              <a:lumMod val="65000"/>
              <a:lumOff val="35000"/>
            </a:schemeClr>
          </a:solidFill>
          <a:latin typeface="+mn-lt"/>
          <a:ea typeface="+mn-ea"/>
          <a:cs typeface="+mn-cs"/>
        </a:defRPr>
      </a:lvl7pPr>
      <a:lvl8pPr marL="1372791" indent="-171450" algn="l" defTabSz="685800" rtl="0" eaLnBrk="1" latinLnBrk="0" hangingPunct="1">
        <a:spcBef>
          <a:spcPct val="20000"/>
        </a:spcBef>
        <a:buClr>
          <a:schemeClr val="accent1">
            <a:lumMod val="60000"/>
            <a:lumOff val="40000"/>
          </a:schemeClr>
        </a:buClr>
        <a:buSzPct val="75000"/>
        <a:buFont typeface="Wingdings" pitchFamily="2" charset="2"/>
        <a:buChar char=""/>
        <a:defRPr lang="en-US" sz="1350" kern="1200" baseline="0" dirty="0" smtClean="0">
          <a:solidFill>
            <a:schemeClr val="tx1">
              <a:lumMod val="65000"/>
              <a:lumOff val="35000"/>
            </a:schemeClr>
          </a:solidFill>
          <a:latin typeface="+mn-lt"/>
          <a:ea typeface="+mn-ea"/>
          <a:cs typeface="+mn-cs"/>
        </a:defRPr>
      </a:lvl8pPr>
      <a:lvl9pPr marL="1543050" indent="-171450" algn="l" defTabSz="685800" rtl="0" eaLnBrk="1" latinLnBrk="0" hangingPunct="1">
        <a:spcBef>
          <a:spcPct val="20000"/>
        </a:spcBef>
        <a:buClr>
          <a:schemeClr val="accent1"/>
        </a:buClr>
        <a:buSzPct val="75000"/>
        <a:buFont typeface="Wingdings" pitchFamily="2" charset="2"/>
        <a:buChar char=""/>
        <a:defRPr lang="en-US" sz="1350" kern="1200" baseline="0" dirty="0">
          <a:solidFill>
            <a:schemeClr val="tx1">
              <a:lumMod val="65000"/>
              <a:lumOff val="35000"/>
            </a:schemeClr>
          </a:solidFill>
          <a:latin typeface="+mn-lt"/>
          <a:ea typeface="+mn-ea"/>
          <a:cs typeface="+mn-cs"/>
        </a:defRPr>
      </a:lvl9pPr>
    </p:bodyStyle>
    <p:otherStyle>
      <a:defPPr>
        <a:defRP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0"/>
              <a:t>Positioned as a modern, technology-forward cinematic brand focusing on the intersection of premium comfort and mass affordability.
Strong portfolio mix of multiplex properties across 20 states, catering to diverse demographic segments with a focus on tier-2 growth.
Omni-channel presence with a growing footprint of 150 locations and integrated digital systems to drive consistent customer engagement.</a:t>
            </a:r>
          </a:p>
        </p:txBody>
      </p:sp>
      <p:sp>
        <p:nvSpPr>
          <p:cNvPr id="3" name="Text Placeholder 2"/>
          <p:cNvSpPr>
            <a:spLocks noGrp="1"/>
          </p:cNvSpPr>
          <p:nvPr>
            <p:ph type="body" idx="11" sz="quarter"/>
          </p:nvPr>
        </p:nvSpPr>
        <p:spPr/>
        <p:txBody>
          <a:bodyPr/>
          <a:lstStyle/>
          <a:p>
            <a:r>
              <a:rPr b="0"/>
              <a:t>Premium Multiplex Cinema Chains (ConnPlex brand) featuring ultra-comfort seating and advanced cinema technology.
Integrated Management Services including ticketing, food and beverage, marketing, and advertising solutions for high efficiency.
Global Smart Cinema Platform designed for minimal operational costs and maximum returns through outsourced service delivery.</a:t>
            </a:r>
          </a:p>
        </p:txBody>
      </p:sp>
      <p:sp>
        <p:nvSpPr>
          <p:cNvPr id="4" name="Picture Placeholder 3"/>
          <p:cNvSpPr>
            <a:spLocks noGrp="1"/>
          </p:cNvSpPr>
          <p:nvPr>
            <p:ph type="pic" idx="12" sz="quarter"/>
          </p:nvPr>
        </p:nvSpPr>
        <p:spPr/>
      </p:sp>
      <p:sp>
        <p:nvSpPr>
          <p:cNvPr id="5" name="Picture Placeholder 4"/>
          <p:cNvSpPr>
            <a:spLocks noGrp="1"/>
          </p:cNvSpPr>
          <p:nvPr>
            <p:ph type="pic" idx="13" sz="quarter"/>
          </p:nvPr>
        </p:nvSpPr>
        <p:spPr/>
      </p:sp>
      <p:sp>
        <p:nvSpPr>
          <p:cNvPr id="6" name="Picture Placeholder 5"/>
          <p:cNvSpPr>
            <a:spLocks noGrp="1"/>
          </p:cNvSpPr>
          <p:nvPr>
            <p:ph type="pic" idx="14" sz="quarter"/>
          </p:nvPr>
        </p:nvSpPr>
        <p:spPr/>
      </p:sp>
      <p:sp>
        <p:nvSpPr>
          <p:cNvPr id="7" name="Text Placeholder 6"/>
          <p:cNvSpPr>
            <a:spLocks noGrp="1"/>
          </p:cNvSpPr>
          <p:nvPr>
            <p:ph type="body" idx="15" sz="quarter"/>
          </p:nvPr>
        </p:nvSpPr>
        <p:spPr/>
        <p:txBody>
          <a:bodyPr/>
          <a:lstStyle/>
          <a:p>
            <a:r>
              <a:rPr b="0"/>
              <a:t>A premier 'smart cinema' chain operator specializing in high-comfort, affordable cinematic experiences with a significant footprint in urban and tier-2 markets.
Rapidly scaling organization with 88 screens across 33 properties in 25 cities, serving over 1.2 million viewers in H1 FY26 with a 69% YoY growth rate.
Demonstrated financial excellence with total income surging 59% in FY25 and a high return on equity (ROE) of 77% as of March 2025.</a:t>
            </a:r>
          </a:p>
        </p:txBody>
      </p:sp>
      <p:sp>
        <p:nvSpPr>
          <p:cNvPr id="8" name="Picture Placeholder 7"/>
          <p:cNvSpPr>
            <a:spLocks noGrp="1"/>
          </p:cNvSpPr>
          <p:nvPr>
            <p:ph type="pic" idx="16" sz="quarter"/>
          </p:nvPr>
        </p:nvSpPr>
        <p:spPr/>
      </p:sp>
      <p:sp>
        <p:nvSpPr>
          <p:cNvPr id="9" name="Picture Placeholder 8"/>
          <p:cNvSpPr>
            <a:spLocks noGrp="1"/>
          </p:cNvSpPr>
          <p:nvPr>
            <p:ph type="pic" idx="17" sz="quarter"/>
          </p:nvPr>
        </p:nvSpPr>
        <p:spPr/>
      </p:sp>
      <p:sp>
        <p:nvSpPr>
          <p:cNvPr id="10" name="Picture Placeholder 9"/>
          <p:cNvSpPr>
            <a:spLocks noGrp="1"/>
          </p:cNvSpPr>
          <p:nvPr>
            <p:ph type="pic" idx="18" sz="quarter"/>
          </p:nvPr>
        </p:nvSpPr>
        <p:spPr/>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2" sz="quarter"/>
          </p:nvPr>
        </p:nvSpPr>
        <p:spPr/>
        <p:txBody>
          <a:bodyPr/>
          <a:lstStyle/>
          <a:p>
            <a:r>
              <a:rPr b="0"/>
              <a:t>The chart illustrates an exponential growth in revenue from operations over a four-year period, representing a massive shift in market scale. This rapid expansion validates the company's aggressive screen addition strategy and increasing market penetration across diverse geographic segments. The consistent upward trajectory reflects a successful transition from a startup phase to becoming a dominant player in the cinematic exhibition sector.</a:t>
            </a:r>
          </a:p>
        </p:txBody>
      </p:sp>
      <p:sp>
        <p:nvSpPr>
          <p:cNvPr id="5" name="Text Placeholder 4"/>
          <p:cNvSpPr>
            <a:spLocks noGrp="1"/>
          </p:cNvSpPr>
          <p:nvPr>
            <p:ph type="body" idx="13" sz="quarter"/>
          </p:nvPr>
        </p:nvSpPr>
        <p:spPr/>
        <p:txBody>
          <a:bodyPr/>
          <a:lstStyle/>
          <a:p>
            <a:r>
              <a:rPr b="0"/>
              <a:t>The company exhibits strong unit economics with an Average Ticket Price of 243 and a growing F&amp;B Spend Per Head of 94. High promoter holding suggests significant internal confidence in the brand's long-term roadmap and operational stability. A 69% surge in viewership YoY highlights exceptional customer loyalty and a growing Lifetime Value (LTV) per attendee, which are critical drivers for future profitability.</a:t>
            </a:r>
          </a:p>
        </p:txBody>
      </p:sp>
      <p:sp>
        <p:nvSpPr>
          <p:cNvPr id="6" name="Picture Placeholder 5"/>
          <p:cNvSpPr>
            <a:spLocks noGrp="1"/>
          </p:cNvSpPr>
          <p:nvPr>
            <p:ph type="pic" idx="16" sz="quarter"/>
          </p:nvPr>
        </p:nvSpPr>
        <p:spPr/>
      </p:sp>
      <p:sp>
        <p:nvSpPr>
          <p:cNvPr id="7" name="Picture Placeholder 6"/>
          <p:cNvSpPr>
            <a:spLocks noGrp="1"/>
          </p:cNvSpPr>
          <p:nvPr>
            <p:ph type="pic" idx="17" sz="quarter"/>
          </p:nvPr>
        </p:nvSpPr>
        <p:spPr/>
      </p:sp>
      <p:graphicFrame>
        <p:nvGraphicFramePr>
          <p:cNvPr id="8" name="Chart 7"/>
          <p:cNvGraphicFramePr>
            <a:graphicFrameLocks noGrp="1"/>
          </p:cNvGraphicFramePr>
          <p:nvPr/>
        </p:nvGraphicFramePr>
        <p:xfrm>
          <a:off x="258763" y="1296988"/>
          <a:ext cx="5483225" cy="2625725"/>
        </p:xfrm>
        <a:graphic>
          <a:graphicData uri="http://schemas.openxmlformats.org/drawingml/2006/chart">
            <c:chart xmlns:c="http://schemas.openxmlformats.org/drawingml/2006/chart" r:id="rId2"/>
          </a:graphicData>
        </a:graphic>
      </p:graphicFrame>
      <p:graphicFrame>
        <p:nvGraphicFramePr>
          <p:cNvPr id="9" name="Chart 8"/>
          <p:cNvGraphicFramePr>
            <a:graphicFrameLocks noGrp="1"/>
          </p:cNvGraphicFramePr>
          <p:nvPr/>
        </p:nvGraphicFramePr>
        <p:xfrm>
          <a:off x="6542996" y="4325144"/>
          <a:ext cx="5259387" cy="2012950"/>
        </p:xfrm>
        <a:graphic>
          <a:graphicData uri="http://schemas.openxmlformats.org/drawingml/2006/chart">
            <c:chart xmlns:c="http://schemas.openxmlformats.org/drawingml/2006/chart" r:id="rId3"/>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0"/>
              <a:t>Scalable smart cinema model ensures low operational overhead and high capital efficiency.</a:t>
            </a:r>
          </a:p>
        </p:txBody>
      </p:sp>
      <p:sp>
        <p:nvSpPr>
          <p:cNvPr id="3" name="Text Placeholder 2"/>
          <p:cNvSpPr>
            <a:spLocks noGrp="1"/>
          </p:cNvSpPr>
          <p:nvPr>
            <p:ph type="body" idx="11" sz="quarter"/>
          </p:nvPr>
        </p:nvSpPr>
        <p:spPr/>
        <p:txBody>
          <a:bodyPr/>
          <a:lstStyle/>
          <a:p>
            <a:r>
              <a:rPr b="0"/>
              <a:t>Exceptional revenue growth trajectory with a 59% YoY surge in total income for FY25.</a:t>
            </a:r>
          </a:p>
        </p:txBody>
      </p:sp>
      <p:sp>
        <p:nvSpPr>
          <p:cNvPr id="4" name="Text Placeholder 3"/>
          <p:cNvSpPr>
            <a:spLocks noGrp="1"/>
          </p:cNvSpPr>
          <p:nvPr>
            <p:ph type="body" idx="12" sz="quarter"/>
          </p:nvPr>
        </p:nvSpPr>
        <p:spPr/>
        <p:txBody>
          <a:bodyPr/>
          <a:lstStyle/>
          <a:p>
            <a:r>
              <a:rPr b="0"/>
              <a:t>High operational leverage evidenced by a 365% growth in PAT reaching over 19 Cr.</a:t>
            </a:r>
          </a:p>
        </p:txBody>
      </p:sp>
      <p:sp>
        <p:nvSpPr>
          <p:cNvPr id="5" name="Text Placeholder 4"/>
          <p:cNvSpPr>
            <a:spLocks noGrp="1"/>
          </p:cNvSpPr>
          <p:nvPr>
            <p:ph type="body" idx="13" sz="quarter"/>
          </p:nvPr>
        </p:nvSpPr>
        <p:spPr/>
        <p:txBody>
          <a:bodyPr/>
          <a:lstStyle/>
          <a:p>
            <a:r>
              <a:rPr b="0"/>
              <a:t>Robust market position with 88 screens and aggressive expansion plans targeting urban demand.</a:t>
            </a:r>
          </a:p>
        </p:txBody>
      </p:sp>
      <p:sp>
        <p:nvSpPr>
          <p:cNvPr id="6" name="Text Placeholder 5"/>
          <p:cNvSpPr>
            <a:spLocks noGrp="1"/>
          </p:cNvSpPr>
          <p:nvPr>
            <p:ph type="body" idx="14" sz="quarter"/>
          </p:nvPr>
        </p:nvSpPr>
        <p:spPr/>
        <p:txBody>
          <a:bodyPr/>
          <a:lstStyle/>
          <a:p>
            <a:r>
              <a:rPr b="0"/>
              <a:t>Significant growth in advertising revenue (107% YoY) showcasing high platform value for brands.</a:t>
            </a:r>
          </a:p>
        </p:txBody>
      </p:sp>
      <p:sp>
        <p:nvSpPr>
          <p:cNvPr id="7" name="Text Placeholder 6"/>
          <p:cNvSpPr>
            <a:spLocks noGrp="1"/>
          </p:cNvSpPr>
          <p:nvPr>
            <p:ph type="body" idx="15" sz="quarter"/>
          </p:nvPr>
        </p:nvSpPr>
        <p:spPr/>
        <p:txBody>
          <a:bodyPr/>
          <a:lstStyle/>
          <a:p>
            <a:r>
              <a:rPr b="0"/>
              <a:t>Strong repeat customer potential driven by high-comfort amenities and affordable pricing strategies.</a:t>
            </a:r>
          </a:p>
        </p:txBody>
      </p:sp>
      <p:sp>
        <p:nvSpPr>
          <p:cNvPr id="8" name="Picture Placeholder 7"/>
          <p:cNvSpPr>
            <a:spLocks noGrp="1"/>
          </p:cNvSpPr>
          <p:nvPr>
            <p:ph type="pic" idx="16" sz="quarter"/>
          </p:nvPr>
        </p:nvSpPr>
        <p:spPr/>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Default Them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380</TotalTime>
  <Words>0</Words>
  <Application>Microsoft Macintosh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Rockwell</vt:lpstr>
      <vt:lpstr>Wingdings</vt:lpstr>
      <vt:lpstr>Default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Sambit Mallik</dc:creator>
  <cp:lastModifiedBy>Sambit Mallik</cp:lastModifiedBy>
  <cp:revision>17</cp:revision>
  <dcterms:created xsi:type="dcterms:W3CDTF">2026-01-24T04:48:24Z</dcterms:created>
  <dcterms:modified xsi:type="dcterms:W3CDTF">2026-02-04T14:44:34Z</dcterms:modified>
</cp:coreProperties>
</file>