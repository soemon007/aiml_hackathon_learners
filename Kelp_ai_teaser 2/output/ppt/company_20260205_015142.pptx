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106" d="100"/>
          <a:sy n="106"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Revenue Performance (INR Million)</c:v>
                </c:pt>
              </c:strCache>
            </c:strRef>
          </c:tx>
          <c:cat>
            <c:strRef>
              <c:f>Sheet1!$A$2:$A$4</c:f>
              <c:strCache>
                <c:ptCount val="3"/>
                <c:pt idx="0">
                  <c:v>FY2022</c:v>
                </c:pt>
                <c:pt idx="1">
                  <c:v>FY2023</c:v>
                </c:pt>
                <c:pt idx="2">
                  <c:v>FY2024</c:v>
                </c:pt>
              </c:strCache>
            </c:strRef>
          </c:cat>
          <c:val>
            <c:numRef>
              <c:f>Sheet1!$B$2:$B$4</c:f>
              <c:numCache>
                <c:formatCode>General</c:formatCode>
                <c:ptCount val="3"/>
                <c:pt idx="0">
                  <c:v>4018</c:v>
                </c:pt>
                <c:pt idx="1">
                  <c:v>4110</c:v>
                </c:pt>
                <c:pt idx="2">
                  <c:v>5022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Therapeutic Area Distribution</c:v>
                </c:pt>
              </c:strCache>
            </c:strRef>
          </c:tx>
          <c:cat>
            <c:strRef>
              <c:f>Sheet1!$A$2:$A$6</c:f>
              <c:strCache>
                <c:ptCount val="5"/>
                <c:pt idx="0">
                  <c:v>Anti-Infectives</c:v>
                </c:pt>
                <c:pt idx="1">
                  <c:v>CNS</c:v>
                </c:pt>
                <c:pt idx="2">
                  <c:v>Cardiovascular</c:v>
                </c:pt>
                <c:pt idx="3">
                  <c:v>Gastrointestinal</c:v>
                </c:pt>
                <c:pt idx="4">
                  <c:v>Others</c:v>
                </c:pt>
              </c:strCache>
            </c:strRef>
          </c:cat>
          <c:val>
            <c:numRef>
              <c:f>Sheet1!$B$2:$B$6</c:f>
              <c:numCache>
                <c:formatCode>General</c:formatCode>
                <c:ptCount val="5"/>
                <c:pt idx="0">
                  <c:v>32</c:v>
                </c:pt>
                <c:pt idx="1">
                  <c:v>24</c:v>
                </c:pt>
                <c:pt idx="2">
                  <c:v>18</c:v>
                </c:pt>
                <c:pt idx="3">
                  <c:v>14</c:v>
                </c:pt>
                <c:pt idx="4">
                  <c:v>12</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2/4/26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The Company is a vertically integrated pharmaceutical leader focusing on R&amp;D, manufacturing, and marketing of ethical and generic drugs.
Operates multiple specialized therapeutic divisions targeting the Central Nervous System, Cardiovascular, and Anti-Infective segments.
The manufacturing footprint is anchored by USFDA-registered facilities and an advanced R&amp;D center focused on complex molecules.
Strategic engagement model combines domestic B2C ethical branding with global B2B institutional supply and CRAMS services.
Recent consolidation through amalgamation has streamlined the supply chain, enhancing operational efficiencies between API and Formulation units.</a:t>
            </a:r>
          </a:p>
        </p:txBody>
      </p:sp>
      <p:sp>
        <p:nvSpPr>
          <p:cNvPr id="3" name="Text Placeholder 2"/>
          <p:cNvSpPr>
            <a:spLocks noGrp="1"/>
          </p:cNvSpPr>
          <p:nvPr>
            <p:ph type="body" idx="11" sz="quarter"/>
          </p:nvPr>
        </p:nvSpPr>
        <p:spPr/>
        <p:txBody>
          <a:bodyPr/>
          <a:lstStyle/>
          <a:p>
            <a:r>
              <a:rPr b="0"/>
              <a:t>API &amp; Generic Division: Specialized in the synthesis of high-value Active Pharmaceutical Ingredients with a focus on complex chemistry.
Noble &amp; Nova Divisions: Focused on branded formulations across high-growth chronic and acute therapeutic segments.
Formulation Division: Comprehensive manufacturing capabilities for tablets, capsules, injectables, and topical ointments.
Herbal &amp; Phyto-Chemicals: Specialized unit leveraging plant-based research for the nutraceutical and wellness markets.</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Established in 1986, the Company is a premier Indian pharmaceutical manufacturer ranking 35th in the national industry.
Recognized as the 2nd largest pharmaceutical manufacturer in North Domestic Market with a 35-year legacy of quality and innovation.
Boasts an extensive workforce of over 950 employees with an industry-leading median tenure of 9.3 years.
Maintains a robust global presence with exports reaching 45 countries and subsidiaries in Dubai and Singapore.</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demonstrated consistent revenue growth, surpassing the 5,000 million INR mark in 2024. This growth is driven by expanding footprints in regulated markets and an increasing volume of exports to 45 countries.</a:t>
            </a:r>
          </a:p>
        </p:txBody>
      </p:sp>
      <p:sp>
        <p:nvSpPr>
          <p:cNvPr id="5" name="Text Placeholder 4"/>
          <p:cNvSpPr>
            <a:spLocks noGrp="1"/>
          </p:cNvSpPr>
          <p:nvPr>
            <p:ph type="body" idx="13" sz="quarter"/>
          </p:nvPr>
        </p:nvSpPr>
        <p:spPr/>
        <p:txBody>
          <a:bodyPr/>
          <a:lstStyle/>
          <a:p>
            <a:r>
              <a:rPr b="0"/>
              <a:t>The Company maintains a highly diversified therapeutic portfolio. The significant concentration in chronic segments like CNS and Cardiovascular ensures recurring revenue and resilience against market volatility.</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Exceptional compliance track record with certifications from USFDA, MHRA-International Markets, TGA-Australia, and WHO-GMP.</a:t>
            </a:r>
          </a:p>
        </p:txBody>
      </p:sp>
      <p:sp>
        <p:nvSpPr>
          <p:cNvPr id="3" name="Text Placeholder 2"/>
          <p:cNvSpPr>
            <a:spLocks noGrp="1"/>
          </p:cNvSpPr>
          <p:nvPr>
            <p:ph type="body" idx="11" sz="quarter"/>
          </p:nvPr>
        </p:nvSpPr>
        <p:spPr/>
        <p:txBody>
          <a:bodyPr/>
          <a:lstStyle/>
          <a:p>
            <a:r>
              <a:rPr b="0"/>
              <a:t>Proprietary R&amp;D center recognized by DSIR, driving a robust pipeline of complex drug molecules.</a:t>
            </a:r>
          </a:p>
        </p:txBody>
      </p:sp>
      <p:sp>
        <p:nvSpPr>
          <p:cNvPr id="4" name="Text Placeholder 3"/>
          <p:cNvSpPr>
            <a:spLocks noGrp="1"/>
          </p:cNvSpPr>
          <p:nvPr>
            <p:ph type="body" idx="12" sz="quarter"/>
          </p:nvPr>
        </p:nvSpPr>
        <p:spPr/>
        <p:txBody>
          <a:bodyPr/>
          <a:lstStyle/>
          <a:p>
            <a:r>
              <a:rPr b="0"/>
              <a:t>Strong entry barriers established through high-capex manufacturing infrastructure and deep regulatory expertise.</a:t>
            </a:r>
          </a:p>
        </p:txBody>
      </p:sp>
      <p:sp>
        <p:nvSpPr>
          <p:cNvPr id="5" name="Text Placeholder 4"/>
          <p:cNvSpPr>
            <a:spLocks noGrp="1"/>
          </p:cNvSpPr>
          <p:nvPr>
            <p:ph type="body" idx="13" sz="quarter"/>
          </p:nvPr>
        </p:nvSpPr>
        <p:spPr/>
        <p:txBody>
          <a:bodyPr/>
          <a:lstStyle/>
          <a:p>
            <a:r>
              <a:rPr b="0"/>
              <a:t>Deeply integrated business model covering the entire value chain from API development to finished formulations.</a:t>
            </a:r>
          </a:p>
        </p:txBody>
      </p:sp>
      <p:sp>
        <p:nvSpPr>
          <p:cNvPr id="6" name="Text Placeholder 5"/>
          <p:cNvSpPr>
            <a:spLocks noGrp="1"/>
          </p:cNvSpPr>
          <p:nvPr>
            <p:ph type="body" idx="14" sz="quarter"/>
          </p:nvPr>
        </p:nvSpPr>
        <p:spPr/>
        <p:txBody>
          <a:bodyPr/>
          <a:lstStyle/>
          <a:p>
            <a:r>
              <a:rPr b="0"/>
              <a:t>Diversified revenue streams with established relationships with global giants like TEVA, Mylan, and Roche.</a:t>
            </a:r>
          </a:p>
        </p:txBody>
      </p:sp>
      <p:sp>
        <p:nvSpPr>
          <p:cNvPr id="7" name="Text Placeholder 6"/>
          <p:cNvSpPr>
            <a:spLocks noGrp="1"/>
          </p:cNvSpPr>
          <p:nvPr>
            <p:ph type="body" idx="15" sz="quarter"/>
          </p:nvPr>
        </p:nvSpPr>
        <p:spPr/>
        <p:txBody>
          <a:bodyPr/>
          <a:lstStyle/>
          <a:p>
            <a:r>
              <a:rPr b="0"/>
              <a:t>Scalable platform with a recent 360% increase in quarterly sales performance and significant export potential.</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380</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17</cp:revision>
  <dcterms:created xsi:type="dcterms:W3CDTF">2026-01-24T04:48:24Z</dcterms:created>
  <dcterms:modified xsi:type="dcterms:W3CDTF">2026-02-04T14:44:34Z</dcterms:modified>
</cp:coreProperties>
</file>