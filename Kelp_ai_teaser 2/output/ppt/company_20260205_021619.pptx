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95"/>
    <p:restoredTop sz="94717"/>
  </p:normalViewPr>
  <p:slideViewPr>
    <p:cSldViewPr snapToGrid="0">
      <p:cViewPr varScale="1">
        <p:scale>
          <a:sx n="97" d="100"/>
          <a:sy n="97" d="100"/>
        </p:scale>
        <p:origin x="100"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Performance (INR Millions)</c:v>
                </c:pt>
              </c:strCache>
            </c:strRef>
          </c:tx>
          <c:cat>
            <c:strRef>
              <c:f>Sheet1!$A$2:$A$4</c:f>
              <c:strCache>
                <c:ptCount val="3"/>
                <c:pt idx="0">
                  <c:v>2022</c:v>
                </c:pt>
                <c:pt idx="1">
                  <c:v>2023</c:v>
                </c:pt>
                <c:pt idx="2">
                  <c:v>2024</c:v>
                </c:pt>
              </c:strCache>
            </c:strRef>
          </c:cat>
          <c:val>
            <c:numRef>
              <c:f>Sheet1!$B$2:$B$4</c:f>
              <c:numCache>
                <c:formatCode>General</c:formatCode>
                <c:ptCount val="3"/>
                <c:pt idx="0">
                  <c:v>4017</c:v>
                </c:pt>
                <c:pt idx="1">
                  <c:v>4109</c:v>
                </c:pt>
                <c:pt idx="2">
                  <c:v>5022</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t>Shareholding Structure</a:t>
            </a:r>
          </a:p>
        </c:rich>
      </c:tx>
      <c:layout/>
      <c:overlay val="0"/>
    </c:title>
    <c:autoTitleDeleted val="0"/>
    <c:plotArea>
      <c:pieChart>
        <c:varyColors val="1"/>
        <c:ser>
          <c:idx val="0"/>
          <c:order val="0"/>
          <c:tx>
            <c:strRef>
              <c:f>Sheet1!$B$1</c:f>
              <c:strCache>
                <c:ptCount val="1"/>
                <c:pt idx="0">
                  <c:v>Shareholding Structure</c:v>
                </c:pt>
              </c:strCache>
            </c:strRef>
          </c:tx>
          <c:cat>
            <c:strRef>
              <c:f>Sheet1!$A$2:$A$3</c:f>
              <c:strCache>
                <c:ptCount val="2"/>
                <c:pt idx="0">
                  <c:v>Promoters</c:v>
                </c:pt>
                <c:pt idx="1">
                  <c:v>Non Promoters</c:v>
                </c:pt>
              </c:strCache>
            </c:strRef>
          </c:cat>
          <c:val>
            <c:numRef>
              <c:f>Sheet1!$B$2:$B$3</c:f>
              <c:numCache>
                <c:formatCode>General</c:formatCode>
                <c:ptCount val="2"/>
                <c:pt idx="0">
                  <c:v>55.6</c:v>
                </c:pt>
                <c:pt idx="1">
                  <c:v>44.4</c:v>
                </c:pt>
              </c:numCache>
            </c:numRef>
          </c:val>
        </c:ser>
        <c:dLbls>
          <c:txPr>
            <a:bodyPr/>
            <a:lstStyle/>
            <a:p>
              <a:pPr>
                <a:defRPr sz="900"/>
              </a:pPr>
            </a:p>
          </c:txPr>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&amp;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864226"/>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Business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3922713"/>
            <a:ext cx="5969818" cy="25463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Financial &amp; Operational Scale</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 Financial Metrics (FY24)</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3993099"/>
            <a:ext cx="5599112" cy="2283876"/>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Brand Overview and Market Presence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79773" y="4865557"/>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Brand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305860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Growth and Unit Economics</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Growth</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4959260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2/5/2026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 id="2147483666" r:id="rId6"/>
    <p:sldLayoutId id="2147483667" r:id="rId7"/>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Integrated pharmaceutical enterprise specializing in the R&amp;D, manufacturing, and marketing of high-quality formulations and APIs.
Comprehensive therapeutic coverage including CNS (Antipsychotics, NSAIDs), Respiratory, Allergy, and Cardiovascular systems.
Advanced manufacturing footprint with dedicated units in Punjab, Himachal Pradesh, and Jammu nearing strategic capacity expansion.
Strong R&amp;D focus with USFDA-registered facilities and approval from the Department of Scientific and Industrial Research (DSIR).
Global B2B model serving as a critical supplier to multinational generic pharmaceutical companies and large health institutions.</a:t>
            </a:r>
          </a:p>
        </p:txBody>
      </p:sp>
      <p:sp>
        <p:nvSpPr>
          <p:cNvPr id="3" name="Text Placeholder 2"/>
          <p:cNvSpPr>
            <a:spLocks noGrp="1"/>
          </p:cNvSpPr>
          <p:nvPr>
            <p:ph type="body" idx="11" sz="quarter"/>
          </p:nvPr>
        </p:nvSpPr>
        <p:spPr/>
        <p:txBody>
          <a:bodyPr/>
          <a:lstStyle/>
          <a:p>
            <a:r>
              <a:rPr b="0"/>
              <a:t>Diverse Drug Portfolio: Extensive range of products in CNS, Cardiovascular, Gastrointestinal, and Anti-Infective therapeutic classes.
Specialized Divisions: Operates through Noble, Nova, Ethical, Generic, and Global Business Units catering to B2B and institutional segments.
API and Formulation Excellence: Comprehensive capabilities in developing Active Pharmaceutical Ingredients (APIs) and finished drug formulations.</a:t>
            </a:r>
          </a:p>
        </p:txBody>
      </p:sp>
      <p:pic>
        <p:nvPicPr>
          <p:cNvPr id="4" name="Picture Placeholder 3" descr="iso 9001.png"/>
          <p:cNvPicPr>
            <a:picLocks noGrp="1" noChangeAspect="1"/>
          </p:cNvPicPr>
          <p:nvPr>
            <p:ph type="pic" idx="12" sz="quarter"/>
          </p:nvPr>
        </p:nvPicPr>
        <p:blipFill>
          <a:blip r:embed="rId2"/>
          <a:srcRect t="3487" b="3487"/>
          <a:stretch>
            <a:fillRect/>
          </a:stretch>
        </p:blipFill>
        <p:spPr/>
      </p:pic>
      <p:sp>
        <p:nvSpPr>
          <p:cNvPr id="5" name="Picture Placeholder 4"/>
          <p:cNvSpPr>
            <a:spLocks noGrp="1"/>
          </p:cNvSpPr>
          <p:nvPr>
            <p:ph type="pic" idx="13" sz="quarter"/>
          </p:nvPr>
        </p:nvSpPr>
        <p:spPr/>
      </p:sp>
      <p:sp>
        <p:nvSpPr>
          <p:cNvPr id="6" name="Picture Placeholder 5"/>
          <p:cNvSpPr>
            <a:spLocks noGrp="1"/>
          </p:cNvSpPr>
          <p:nvPr>
            <p:ph type="pic" idx="14" sz="quarter"/>
          </p:nvPr>
        </p:nvSpPr>
        <p:spPr/>
      </p:sp>
      <p:sp>
        <p:nvSpPr>
          <p:cNvPr id="7" name="Text Placeholder 6"/>
          <p:cNvSpPr>
            <a:spLocks noGrp="1"/>
          </p:cNvSpPr>
          <p:nvPr>
            <p:ph type="body" idx="15" sz="quarter"/>
          </p:nvPr>
        </p:nvSpPr>
        <p:spPr/>
        <p:txBody>
          <a:bodyPr/>
          <a:lstStyle/>
          <a:p>
            <a:r>
              <a:rPr b="0"/>
              <a:t>Leading Indian pharmaceutical manufacturer and marketer ranking 35th in the domestic industry and 2nd in North Domestic Market.
Diversified global footprint with exports to 45 countries and established subsidiaries in Dubai, Singapore, and the International Markets.
Recognized for high quality standards with ISO 9001:2008 and WHO GMP certifications.</a:t>
            </a:r>
          </a:p>
        </p:txBody>
      </p:sp>
      <p:sp>
        <p:nvSpPr>
          <p:cNvPr id="8" name="Picture Placeholder 7"/>
          <p:cNvSpPr>
            <a:spLocks noGrp="1"/>
          </p:cNvSpPr>
          <p:nvPr>
            <p:ph type="pic" idx="16" sz="quarter"/>
          </p:nvPr>
        </p:nvSpPr>
        <p:spPr/>
      </p:sp>
      <p:sp>
        <p:nvSpPr>
          <p:cNvPr id="9" name="Picture Placeholder 8"/>
          <p:cNvSpPr>
            <a:spLocks noGrp="1"/>
          </p:cNvSpPr>
          <p:nvPr>
            <p:ph type="pic" idx="17" sz="quarter"/>
          </p:nvPr>
        </p:nvSpPr>
        <p:spPr/>
      </p:sp>
      <p:sp>
        <p:nvSpPr>
          <p:cNvPr id="10" name="Picture Placeholder 9"/>
          <p:cNvSpPr>
            <a:spLocks noGrp="1"/>
          </p:cNvSpPr>
          <p:nvPr>
            <p:ph type="pic" idx="18" sz="quarter"/>
          </p:nvPr>
        </p:nvSpPr>
        <p:spPr/>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The Company has demonstrated a significant revenue surge, with FY2024 seeing an approximate 22% growth over the previous year. This consistent upward trend reflects robust demand across therapeutic segments and strengthening market penetration in export territories.</a:t>
            </a:r>
          </a:p>
        </p:txBody>
      </p:sp>
      <p:sp>
        <p:nvSpPr>
          <p:cNvPr id="5" name="Text Placeholder 4"/>
          <p:cNvSpPr>
            <a:spLocks noGrp="1"/>
          </p:cNvSpPr>
          <p:nvPr>
            <p:ph type="body" idx="13" sz="quarter"/>
          </p:nvPr>
        </p:nvSpPr>
        <p:spPr/>
        <p:txBody>
          <a:bodyPr/>
          <a:lstStyle/>
          <a:p>
            <a:r>
              <a:rPr b="0"/>
              <a:t>The shareholding pattern indicates a majority promoter control at 55.6%, ensuring strong management alignment and strategic stability. The significant non-promoter interest reflects the company's established presence in the public and institutional investment landscape.</a:t>
            </a:r>
          </a:p>
        </p:txBody>
      </p:sp>
      <p:sp>
        <p:nvSpPr>
          <p:cNvPr id="6" name="Picture Placeholder 5"/>
          <p:cNvSpPr>
            <a:spLocks noGrp="1"/>
          </p:cNvSpPr>
          <p:nvPr>
            <p:ph type="pic" idx="16" sz="quarter"/>
          </p:nvPr>
        </p:nvSpPr>
        <p:spPr/>
      </p:sp>
      <p:sp>
        <p:nvSpPr>
          <p:cNvPr id="7" name="Picture Placeholder 6"/>
          <p:cNvSpPr>
            <a:spLocks noGrp="1"/>
          </p:cNvSpPr>
          <p:nvPr>
            <p:ph type="pic" idx="17" sz="quarter"/>
          </p:nvPr>
        </p:nvSpPr>
        <p:spPr/>
      </p:sp>
      <p:graphicFrame>
        <p:nvGraphicFramePr>
          <p:cNvPr id="8" name="Chart 7"/>
          <p:cNvGraphicFramePr>
            <a:graphicFrameLocks noGrp="1"/>
          </p:cNvGraphicFramePr>
          <p:nvPr/>
        </p:nvGraphicFramePr>
        <p:xfrm>
          <a:off x="258763" y="1296988"/>
          <a:ext cx="5483225" cy="2625725"/>
        </p:xfrm>
        <a:graphic>
          <a:graphicData uri="http://schemas.openxmlformats.org/drawingml/2006/chart">
            <c:chart xmlns:c="http://schemas.openxmlformats.org/drawingml/2006/chart" r:id="rId2"/>
          </a:graphicData>
        </a:graphic>
      </p:graphicFrame>
      <p:graphicFrame>
        <p:nvGraphicFramePr>
          <p:cNvPr id="9" name="Chart 8"/>
          <p:cNvGraphicFramePr>
            <a:graphicFrameLocks noGrp="1"/>
          </p:cNvGraphicFramePr>
          <p:nvPr/>
        </p:nvGraphicFramePr>
        <p:xfrm>
          <a:off x="6542996" y="4325144"/>
          <a:ext cx="5259387" cy="2012950"/>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Elite Regulatory Compliance: Proven track record with approvals from USFDA, MHRA (International Markets), TGA (Australia), and PMDA (Japan).</a:t>
            </a:r>
          </a:p>
        </p:txBody>
      </p:sp>
      <p:sp>
        <p:nvSpPr>
          <p:cNvPr id="3" name="Text Placeholder 2"/>
          <p:cNvSpPr>
            <a:spLocks noGrp="1"/>
          </p:cNvSpPr>
          <p:nvPr>
            <p:ph type="body" idx="11" sz="quarter"/>
          </p:nvPr>
        </p:nvSpPr>
        <p:spPr/>
        <p:txBody>
          <a:bodyPr/>
          <a:lstStyle/>
          <a:p>
            <a:r>
              <a:rPr b="0"/>
              <a:t>Complex Chemistry Expertise: Advanced R&amp;D capabilities focused on high-barrier therapeutic areas and molecule development.</a:t>
            </a:r>
          </a:p>
        </p:txBody>
      </p:sp>
      <p:sp>
        <p:nvSpPr>
          <p:cNvPr id="4" name="Text Placeholder 3"/>
          <p:cNvSpPr>
            <a:spLocks noGrp="1"/>
          </p:cNvSpPr>
          <p:nvPr>
            <p:ph type="body" idx="12" sz="quarter"/>
          </p:nvPr>
        </p:nvSpPr>
        <p:spPr/>
        <p:txBody>
          <a:bodyPr/>
          <a:lstStyle/>
          <a:p>
            <a:r>
              <a:rPr b="0"/>
              <a:t>Robust Molecule Pipeline: Strategic focus on 5 major USFDA-approved products and a growing portfolio of complex molecules.</a:t>
            </a:r>
          </a:p>
        </p:txBody>
      </p:sp>
      <p:sp>
        <p:nvSpPr>
          <p:cNvPr id="5" name="Text Placeholder 4"/>
          <p:cNvSpPr>
            <a:spLocks noGrp="1"/>
          </p:cNvSpPr>
          <p:nvPr>
            <p:ph type="body" idx="13" sz="quarter"/>
          </p:nvPr>
        </p:nvSpPr>
        <p:spPr/>
        <p:txBody>
          <a:bodyPr/>
          <a:lstStyle/>
          <a:p>
            <a:r>
              <a:rPr b="0"/>
              <a:t>Global Distribution Network: Strategic presence in regulated markets and emerging economies across 27+ key global locations.</a:t>
            </a:r>
          </a:p>
        </p:txBody>
      </p:sp>
      <p:sp>
        <p:nvSpPr>
          <p:cNvPr id="6" name="Text Placeholder 5"/>
          <p:cNvSpPr>
            <a:spLocks noGrp="1"/>
          </p:cNvSpPr>
          <p:nvPr>
            <p:ph type="body" idx="14" sz="quarter"/>
          </p:nvPr>
        </p:nvSpPr>
        <p:spPr/>
        <p:txBody>
          <a:bodyPr/>
          <a:lstStyle/>
          <a:p>
            <a:r>
              <a:rPr b="0"/>
              <a:t>Strong Institutional Relationships: Trusted supplier to global pharmaceutical leaders including TEVA, Mylan, and Actavis.</a:t>
            </a:r>
          </a:p>
        </p:txBody>
      </p:sp>
      <p:sp>
        <p:nvSpPr>
          <p:cNvPr id="7" name="Text Placeholder 6"/>
          <p:cNvSpPr>
            <a:spLocks noGrp="1"/>
          </p:cNvSpPr>
          <p:nvPr>
            <p:ph type="body" idx="15" sz="quarter"/>
          </p:nvPr>
        </p:nvSpPr>
        <p:spPr/>
        <p:txBody>
          <a:bodyPr/>
          <a:lstStyle/>
          <a:p>
            <a:r>
              <a:rPr b="0"/>
              <a:t>Strategic Manufacturing Footprint: Modern production facilities in Punjab and Jammu with integrated R&amp;D centers approved by DSIR.</a:t>
            </a:r>
          </a:p>
        </p:txBody>
      </p:sp>
      <p:sp>
        <p:nvSpPr>
          <p:cNvPr id="8" name="Picture Placeholder 7"/>
          <p:cNvSpPr>
            <a:spLocks noGrp="1"/>
          </p:cNvSpPr>
          <p:nvPr>
            <p:ph type="pic" idx="16" sz="quarter"/>
          </p:nvPr>
        </p:nvSpPr>
        <p:spPr/>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382</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Vedant Iyengar</cp:lastModifiedBy>
  <cp:revision>18</cp:revision>
  <dcterms:created xsi:type="dcterms:W3CDTF">2026-01-24T04:48:24Z</dcterms:created>
  <dcterms:modified xsi:type="dcterms:W3CDTF">2026-02-04T20:27:34Z</dcterms:modified>
</cp:coreProperties>
</file>