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97" d="100"/>
          <a:sy n="97" d="100"/>
        </p:scale>
        <p:origin x="100"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Growth Analysis (INR Millions)</c:v>
                </c:pt>
              </c:strCache>
            </c:strRef>
          </c:tx>
          <c:cat>
            <c:strRef>
              <c:f>Sheet1!$A$2:$A$4</c:f>
              <c:strCache>
                <c:ptCount val="3"/>
                <c:pt idx="0">
                  <c:v>FY2022</c:v>
                </c:pt>
                <c:pt idx="1">
                  <c:v>FY2023</c:v>
                </c:pt>
                <c:pt idx="2">
                  <c:v>FY2024</c:v>
                </c:pt>
              </c:strCache>
            </c:strRef>
          </c:cat>
          <c:val>
            <c:numRef>
              <c:f>Sheet1!$B$2:$B$4</c:f>
              <c:numCache>
                <c:formatCode>General</c:formatCode>
                <c:ptCount val="3"/>
                <c:pt idx="0">
                  <c:v>4017</c:v>
                </c:pt>
                <c:pt idx="1">
                  <c:v>4109</c:v>
                </c:pt>
                <c:pt idx="2">
                  <c:v>5022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Shareholding Structure</a:t>
            </a:r>
          </a:p>
        </c:rich>
      </c:tx>
      <c:layout/>
      <c:overlay val="0"/>
    </c:title>
    <c:autoTitleDeleted val="0"/>
    <c:plotArea>
      <c:pieChart>
        <c:varyColors val="1"/>
        <c:ser>
          <c:idx val="0"/>
          <c:order val="0"/>
          <c:tx>
            <c:strRef>
              <c:f>Sheet1!$B$1</c:f>
              <c:strCache>
                <c:ptCount val="1"/>
                <c:pt idx="0">
                  <c:v>Shareholding Structure</c:v>
                </c:pt>
              </c:strCache>
            </c:strRef>
          </c:tx>
          <c:cat>
            <c:strRef>
              <c:f>Sheet1!$A$2:$A$3</c:f>
              <c:strCache>
                <c:ptCount val="2"/>
                <c:pt idx="0">
                  <c:v>Promoters</c:v>
                </c:pt>
                <c:pt idx="1">
                  <c:v>Non-Promoters</c:v>
                </c:pt>
              </c:strCache>
            </c:strRef>
          </c:cat>
          <c:val>
            <c:numRef>
              <c:f>Sheet1!$B$2:$B$3</c:f>
              <c:numCache>
                <c:formatCode>General</c:formatCode>
                <c:ptCount val="2"/>
                <c:pt idx="0">
                  <c:v>55.6</c:v>
                </c:pt>
                <c:pt idx="1">
                  <c:v>44.4</c:v>
                </c:pt>
              </c:numCache>
            </c:numRef>
          </c:val>
        </c:ser>
        <c:dLbls>
          <c:txPr>
            <a:bodyPr/>
            <a:lstStyle/>
            <a:p>
              <a:pPr>
                <a:defRPr sz="700"/>
              </a:pPr>
            </a:p>
          </c:txPr>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3922713"/>
            <a:ext cx="5969818"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3993099"/>
            <a:ext cx="5599112" cy="2283876"/>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2/5/2026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The Company operates a vertically integrated pharmaceutical business specializing in APIs, formulations, and R&amp;D-driven product development.
Maintains high regulatory standards with approvals from USFDA, Key Management, and TGA, ensuring access to high-value regulated markets.
Therapeutic expertise spans CNS, Cardiovascular, Gastrointestinal, and Respiratory systems, supported by complex chemical synthesis.
The manufacturing footprint is expanding through a strategic INR 100 crore investment to triple existing production capacity.
Proprietary R&amp;D center is recognized by DSIR, focusing on innovative molecule development and herbal research.</a:t>
            </a:r>
          </a:p>
        </p:txBody>
      </p:sp>
      <p:sp>
        <p:nvSpPr>
          <p:cNvPr id="3" name="Text Placeholder 2"/>
          <p:cNvSpPr>
            <a:spLocks noGrp="1"/>
          </p:cNvSpPr>
          <p:nvPr>
            <p:ph type="body" idx="11" sz="quarter"/>
          </p:nvPr>
        </p:nvSpPr>
        <p:spPr/>
        <p:txBody>
          <a:bodyPr/>
          <a:lstStyle/>
          <a:p>
            <a:r>
              <a:rPr b="0"/>
              <a:t>Specialized Formulations: Diverse range covering Central Nervous System (Antipsychotics/Analgesics), Cardiovascular, and Anti-Infective therapies.
Active Pharmaceutical Ingredients (APIs): High-quality API development and manufacturing for global supply chains.
Phyto-Chemicals and Herbal Products: Advanced research-driven segment focusing on plant-based therapeutic solutions.</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Ranked as the 35th largest pharmaceutical entity in Domestic Market and the 2nd largest manufacturer in North Domestic Market.
Extensive global footprint exporting to 45 countries with established subsidiaries in the International Markets, Dubai, and Singapore.
Integrated operations across Noble, Nova, Ethical, and Generic divisions with WHO-GMP and ISO 9001:2008 certified facilities.</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has demonstrated consistent top-line expansion, with revenue reaching INR 5,022 million in FY2024. This growth is driven by increased penetration in regulated markets and a robust export strategy across 45 countries.</a:t>
            </a:r>
          </a:p>
        </p:txBody>
      </p:sp>
      <p:sp>
        <p:nvSpPr>
          <p:cNvPr id="5" name="Text Placeholder 4"/>
          <p:cNvSpPr>
            <a:spLocks noGrp="1"/>
          </p:cNvSpPr>
          <p:nvPr>
            <p:ph type="body" idx="13" sz="quarter"/>
          </p:nvPr>
        </p:nvSpPr>
        <p:spPr/>
        <p:txBody>
          <a:bodyPr/>
          <a:lstStyle/>
          <a:p>
            <a:r>
              <a:rPr b="0"/>
              <a:t>The company maintains a strong promoter-led management structure with a 55.6% stake, providing long-term strategic stability. The diverse non-promoter base includes increasing interest from Foreign Institutional Investors (FIIs).</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Proven compliance track record with multi-year regulatory approvals from USFDA, TGA (Australia), and Key Management (International Markets).</a:t>
            </a:r>
          </a:p>
        </p:txBody>
      </p:sp>
      <p:sp>
        <p:nvSpPr>
          <p:cNvPr id="3" name="Text Placeholder 2"/>
          <p:cNvSpPr>
            <a:spLocks noGrp="1"/>
          </p:cNvSpPr>
          <p:nvPr>
            <p:ph type="body" idx="11" sz="quarter"/>
          </p:nvPr>
        </p:nvSpPr>
        <p:spPr/>
        <p:txBody>
          <a:bodyPr/>
          <a:lstStyle/>
          <a:p>
            <a:r>
              <a:rPr b="0"/>
              <a:t>Sophisticated R&amp;D capabilities with a DSIR-approved center focusing on complex chemistry and value-added molecules.</a:t>
            </a:r>
          </a:p>
        </p:txBody>
      </p:sp>
      <p:sp>
        <p:nvSpPr>
          <p:cNvPr id="4" name="Text Placeholder 3"/>
          <p:cNvSpPr>
            <a:spLocks noGrp="1"/>
          </p:cNvSpPr>
          <p:nvPr>
            <p:ph type="body" idx="12" sz="quarter"/>
          </p:nvPr>
        </p:nvSpPr>
        <p:spPr/>
        <p:txBody>
          <a:bodyPr/>
          <a:lstStyle/>
          <a:p>
            <a:r>
              <a:rPr b="0"/>
              <a:t>Deep strategic partnerships with global pharmaceutical leaders including TEVA, Mylan, Roche Diagnostics, and Itochu.</a:t>
            </a:r>
          </a:p>
        </p:txBody>
      </p:sp>
      <p:sp>
        <p:nvSpPr>
          <p:cNvPr id="5" name="Text Placeholder 4"/>
          <p:cNvSpPr>
            <a:spLocks noGrp="1"/>
          </p:cNvSpPr>
          <p:nvPr>
            <p:ph type="body" idx="13" sz="quarter"/>
          </p:nvPr>
        </p:nvSpPr>
        <p:spPr/>
        <p:txBody>
          <a:bodyPr/>
          <a:lstStyle/>
          <a:p>
            <a:r>
              <a:rPr b="0"/>
              <a:t>Significant capacity expansion plan with INR 100 crore investment earmarked for new units in Punjab, Himachal Pradesh, and Jammu.</a:t>
            </a:r>
          </a:p>
        </p:txBody>
      </p:sp>
      <p:sp>
        <p:nvSpPr>
          <p:cNvPr id="6" name="Text Placeholder 5"/>
          <p:cNvSpPr>
            <a:spLocks noGrp="1"/>
          </p:cNvSpPr>
          <p:nvPr>
            <p:ph type="body" idx="14" sz="quarter"/>
          </p:nvPr>
        </p:nvSpPr>
        <p:spPr/>
        <p:txBody>
          <a:bodyPr/>
          <a:lstStyle/>
          <a:p>
            <a:r>
              <a:rPr b="0"/>
              <a:t>Strong financial performance evidenced by an 832% increase in net profit and 360% sales growth in the most recent quarter.</a:t>
            </a:r>
          </a:p>
        </p:txBody>
      </p:sp>
      <p:sp>
        <p:nvSpPr>
          <p:cNvPr id="7" name="Text Placeholder 6"/>
          <p:cNvSpPr>
            <a:spLocks noGrp="1"/>
          </p:cNvSpPr>
          <p:nvPr>
            <p:ph type="body" idx="15" sz="quarter"/>
          </p:nvPr>
        </p:nvSpPr>
        <p:spPr/>
        <p:txBody>
          <a:bodyPr/>
          <a:lstStyle/>
          <a:p>
            <a:r>
              <a:rPr b="0"/>
              <a:t>Diversified therapeutic pipeline with over 100 unique molecules targeting high-growth chronic and acute segments.</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382</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Vedant Iyengar</cp:lastModifiedBy>
  <cp:revision>18</cp:revision>
  <dcterms:created xsi:type="dcterms:W3CDTF">2026-01-24T04:48:24Z</dcterms:created>
  <dcterms:modified xsi:type="dcterms:W3CDTF">2026-02-04T20:27:34Z</dcterms:modified>
</cp:coreProperties>
</file>