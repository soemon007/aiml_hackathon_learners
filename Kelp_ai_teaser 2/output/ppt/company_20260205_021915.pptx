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97" d="100"/>
          <a:sy n="97" d="100"/>
        </p:scale>
        <p:origin x="100"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Annual Revenue Performance (INR Mn)</c:v>
                </c:pt>
              </c:strCache>
            </c:strRef>
          </c:tx>
          <c:cat>
            <c:strRef>
              <c:f>Sheet1!$A$2:$A$4</c:f>
              <c:strCache>
                <c:ptCount val="3"/>
                <c:pt idx="0">
                  <c:v>FY22</c:v>
                </c:pt>
                <c:pt idx="1">
                  <c:v>FY23</c:v>
                </c:pt>
                <c:pt idx="2">
                  <c:v>FY24</c:v>
                </c:pt>
              </c:strCache>
            </c:strRef>
          </c:cat>
          <c:val>
            <c:numRef>
              <c:f>Sheet1!$B$2:$B$4</c:f>
              <c:numCache>
                <c:formatCode>General</c:formatCode>
                <c:ptCount val="3"/>
                <c:pt idx="0">
                  <c:v>4017</c:v>
                </c:pt>
                <c:pt idx="1">
                  <c:v>4109</c:v>
                </c:pt>
                <c:pt idx="2">
                  <c:v>5022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Major Shareholding Structure (%)</a:t>
            </a:r>
          </a:p>
        </c:rich>
      </c:tx>
      <c:layout/>
      <c:overlay val="0"/>
    </c:title>
    <c:autoTitleDeleted val="0"/>
    <c:plotArea>
      <c:pieChart>
        <c:varyColors val="1"/>
        <c:ser>
          <c:idx val="0"/>
          <c:order val="0"/>
          <c:tx>
            <c:strRef>
              <c:f>Sheet1!$B$1</c:f>
              <c:strCache>
                <c:ptCount val="1"/>
                <c:pt idx="0">
                  <c:v>Major Shareholding Structure (%)</c:v>
                </c:pt>
              </c:strCache>
            </c:strRef>
          </c:tx>
          <c:cat>
            <c:strRef>
              <c:f>Sheet1!$A$2:$A$6</c:f>
              <c:strCache>
                <c:ptCount val="5"/>
                <c:pt idx="0">
                  <c:v>Essix Biosciences</c:v>
                </c:pt>
                <c:pt idx="1">
                  <c:v>Key Management</c:v>
                </c:pt>
                <c:pt idx="2">
                  <c:v>Key Management</c:v>
                </c:pt>
                <c:pt idx="3">
                  <c:v>Key Management</c:v>
                </c:pt>
                <c:pt idx="4">
                  <c:v>Others</c:v>
                </c:pt>
              </c:strCache>
            </c:strRef>
          </c:cat>
          <c:val>
            <c:numRef>
              <c:f>Sheet1!$B$2:$B$6</c:f>
              <c:numCache>
                <c:formatCode>General</c:formatCode>
                <c:ptCount val="5"/>
                <c:pt idx="0">
                  <c:v>31.4</c:v>
                </c:pt>
                <c:pt idx="1">
                  <c:v>3.76</c:v>
                </c:pt>
                <c:pt idx="2">
                  <c:v>3.61</c:v>
                </c:pt>
                <c:pt idx="3">
                  <c:v>3.55</c:v>
                </c:pt>
                <c:pt idx="4">
                  <c:v>57.68</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3922713"/>
            <a:ext cx="5969818"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3993099"/>
            <a:ext cx="5599112" cy="2283876"/>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2/5/2026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Strategic focus on high-growth therapeutic areas including Central Nervous System, Cardiovascular, and Gastrointestinal health.
Multi-location manufacturing footprint with world-class facilities in Punjab and Jammu, adhering to WHO-GMP standards.
Proprietary R&amp;D capabilities focusing on complex molecule development and regulatory filings for international markets.
B2B business model providing critical API supplies and contract manufacturing services (CRAMS) to global pharmaceutical majors.
Integrated supply chain with a marketing presence in Mumbai and specialized research centers in Navi Mumbai.</a:t>
            </a:r>
          </a:p>
        </p:txBody>
      </p:sp>
      <p:sp>
        <p:nvSpPr>
          <p:cNvPr id="3" name="Text Placeholder 2"/>
          <p:cNvSpPr>
            <a:spLocks noGrp="1"/>
          </p:cNvSpPr>
          <p:nvPr>
            <p:ph type="body" idx="11" sz="quarter"/>
          </p:nvPr>
        </p:nvSpPr>
        <p:spPr/>
        <p:txBody>
          <a:bodyPr/>
          <a:lstStyle/>
          <a:p>
            <a:r>
              <a:rPr b="0"/>
              <a:t>Comprehensive range of Active Pharmaceutical Ingredients (APIs) and finished dosage formulations across multiple therapeutic segments.
Diversified specialized divisions including Noble, Nova, Ethical, Generic, and a dedicated Global Business Unit.
Extensive therapeutic portfolio covering CNS (Lithium carbonate), Cardiovascular (Amlodipine), and Systemic Anti-Infectives (Ceftazidime).</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Leading Indian pharmaceutical entity with over 35 years of heritage in API and formulations manufacturing.
Global footprint spanning 45 countries with major regulatory approvals from USFDA, Key Management, and PMDA.
Ranked as the 35th largest pharmaceutical company in Domestic Market and the 2nd largest manufacturer in North Domestic Market.</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has demonstrated a consistent upward trajectory in revenue, achieving a significant 22% growth in FY24. This trend highlights the successful scaling of manufacturing operations and increased penetration into regulated global markets.</a:t>
            </a:r>
          </a:p>
        </p:txBody>
      </p:sp>
      <p:sp>
        <p:nvSpPr>
          <p:cNvPr id="5" name="Text Placeholder 4"/>
          <p:cNvSpPr>
            <a:spLocks noGrp="1"/>
          </p:cNvSpPr>
          <p:nvPr>
            <p:ph type="body" idx="13" sz="quarter"/>
          </p:nvPr>
        </p:nvSpPr>
        <p:spPr/>
        <p:txBody>
          <a:bodyPr/>
          <a:lstStyle/>
          <a:p>
            <a:r>
              <a:rPr b="0"/>
              <a:t>The ownership structure reflects a stable promoter-led governance model with Essix Biosciences holding a primary stake of 31.4%. This distribution ensures long-term management commitment while maintaining liquidity for institutional and public investors.</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Proven compliance track record with certifications from USFDA, MHRA (International Markets), TGA (Australia), and ANVISA (Brazil).</a:t>
            </a:r>
          </a:p>
        </p:txBody>
      </p:sp>
      <p:sp>
        <p:nvSpPr>
          <p:cNvPr id="3" name="Text Placeholder 2"/>
          <p:cNvSpPr>
            <a:spLocks noGrp="1"/>
          </p:cNvSpPr>
          <p:nvPr>
            <p:ph type="body" idx="11" sz="quarter"/>
          </p:nvPr>
        </p:nvSpPr>
        <p:spPr/>
        <p:txBody>
          <a:bodyPr/>
          <a:lstStyle/>
          <a:p>
            <a:r>
              <a:rPr b="0"/>
              <a:t>Scalable molecule pipeline supported by a DSIR-recognized R&amp;D center with USFDA-registered capabilities.</a:t>
            </a:r>
          </a:p>
        </p:txBody>
      </p:sp>
      <p:sp>
        <p:nvSpPr>
          <p:cNvPr id="4" name="Text Placeholder 3"/>
          <p:cNvSpPr>
            <a:spLocks noGrp="1"/>
          </p:cNvSpPr>
          <p:nvPr>
            <p:ph type="body" idx="12" sz="quarter"/>
          </p:nvPr>
        </p:nvSpPr>
        <p:spPr/>
        <p:txBody>
          <a:bodyPr/>
          <a:lstStyle/>
          <a:p>
            <a:r>
              <a:rPr b="0"/>
              <a:t>Diversified global revenue streams with established Tier-1 client relationships including TEVA, Mylan, and Roche.</a:t>
            </a:r>
          </a:p>
        </p:txBody>
      </p:sp>
      <p:sp>
        <p:nvSpPr>
          <p:cNvPr id="5" name="Text Placeholder 4"/>
          <p:cNvSpPr>
            <a:spLocks noGrp="1"/>
          </p:cNvSpPr>
          <p:nvPr>
            <p:ph type="body" idx="13" sz="quarter"/>
          </p:nvPr>
        </p:nvSpPr>
        <p:spPr/>
        <p:txBody>
          <a:bodyPr/>
          <a:lstStyle/>
          <a:p>
            <a:r>
              <a:rPr b="0"/>
              <a:t>Strong growth momentum with 360% year-on-year sales increase and 832% surge in net profit for the latest quarter.</a:t>
            </a:r>
          </a:p>
        </p:txBody>
      </p:sp>
      <p:sp>
        <p:nvSpPr>
          <p:cNvPr id="6" name="Text Placeholder 5"/>
          <p:cNvSpPr>
            <a:spLocks noGrp="1"/>
          </p:cNvSpPr>
          <p:nvPr>
            <p:ph type="body" idx="14" sz="quarter"/>
          </p:nvPr>
        </p:nvSpPr>
        <p:spPr/>
        <p:txBody>
          <a:bodyPr/>
          <a:lstStyle/>
          <a:p>
            <a:r>
              <a:rPr b="0"/>
              <a:t>Strategic expansion plan with INR 1,000 Mn investment to triple capacity and launch specialized oncology units.</a:t>
            </a:r>
          </a:p>
        </p:txBody>
      </p:sp>
      <p:sp>
        <p:nvSpPr>
          <p:cNvPr id="7" name="Text Placeholder 6"/>
          <p:cNvSpPr>
            <a:spLocks noGrp="1"/>
          </p:cNvSpPr>
          <p:nvPr>
            <p:ph type="body" idx="15" sz="quarter"/>
          </p:nvPr>
        </p:nvSpPr>
        <p:spPr/>
        <p:txBody>
          <a:bodyPr/>
          <a:lstStyle/>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382</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Vedant Iyengar</cp:lastModifiedBy>
  <cp:revision>18</cp:revision>
  <dcterms:created xsi:type="dcterms:W3CDTF">2026-01-24T04:48:24Z</dcterms:created>
  <dcterms:modified xsi:type="dcterms:W3CDTF">2026-02-04T20:27:34Z</dcterms:modified>
</cp:coreProperties>
</file>