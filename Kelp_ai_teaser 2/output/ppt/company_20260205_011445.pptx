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106" d="100"/>
          <a:sy n="106"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from Operations (Last 5 Years)</c:v>
                </c:pt>
              </c:strCache>
            </c:strRef>
          </c:tx>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1807</c:v>
                </c:pt>
                <c:pt idx="1">
                  <c:v>2465</c:v>
                </c:pt>
                <c:pt idx="2">
                  <c:v>2658</c:v>
                </c:pt>
                <c:pt idx="3">
                  <c:v>2367</c:v>
                </c:pt>
                <c:pt idx="4">
                  <c:v>2366</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Shareholding Pattern</c:v>
                </c:pt>
              </c:strCache>
            </c:strRef>
          </c:tx>
          <c:cat>
            <c:strRef>
              <c:f>Sheet1!$A$2:$A$3</c:f>
              <c:strCache>
                <c:ptCount val="2"/>
                <c:pt idx="0">
                  <c:v>Promoters</c:v>
                </c:pt>
                <c:pt idx="1">
                  <c:v>Non-Promoters</c:v>
                </c:pt>
              </c:strCache>
            </c:strRef>
          </c:cat>
          <c:val>
            <c:numRef>
              <c:f>Sheet1!$B$2:$B$3</c:f>
              <c:numCache>
                <c:formatCode>General</c:formatCode>
                <c:ptCount val="2"/>
                <c:pt idx="0">
                  <c:v>58.8</c:v>
                </c:pt>
                <c:pt idx="1">
                  <c:v>41.2</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2/4/26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Specializes in the manufacturing of high-complexity forged and assembled products for critical industrial applications.
Provides end-to-end engineering solutions including design, prototyping, value engineering, and precision finishing.
Serves multiple high-growth end-user industries such as automotive, mining, agriculture, and infrastructure.
Utilizes advanced manufacturing technologies including hot, warm, and cold forging to meet specific metallurgical requirements.
Maintains rigorous quality standards through integrated testing, inspection, and ISO-certified management systems.</a:t>
            </a:r>
          </a:p>
        </p:txBody>
      </p:sp>
      <p:sp>
        <p:nvSpPr>
          <p:cNvPr id="3" name="Text Placeholder 2"/>
          <p:cNvSpPr>
            <a:spLocks noGrp="1"/>
          </p:cNvSpPr>
          <p:nvPr>
            <p:ph type="body" idx="11" sz="quarter"/>
          </p:nvPr>
        </p:nvSpPr>
        <p:spPr/>
        <p:txBody>
          <a:bodyPr/>
          <a:lstStyle/>
          <a:p>
            <a:r>
              <a:rPr b="0"/>
              <a:t>High-precision Engine and Driveline components including turbocharger parts, transmission systems, and axle components.
Critical industrial hardware for construction, mining, infrastructure, marine, railways, and power generation applications.
Comprehensive manufacturing services encompassing hot, warm, and cold forging, precision machining, and advanced metallurgical testing.</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A leading engineering organization with over four decades of expertise in high-quality forged and precision-machined products.
Operates five state-of-the-art manufacturing facilities with a strategic global presence across Asia, Key Export Markets, and North America.
Tier-1 partner to major global OEMs in the automotive, construction, and power generation sectors, focused on lean manufacturing.</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chart illustrates a resilient recovery in revenue following global market disruptions, stabilizing at a high baseline above historical averages. Strategic focus on higher-value product mixes and new order wins has maintained a consistent turnover and strengthened the balance sheet. Upcoming capital investments and the execution of a record order book are projected to drive the next phase of top-line expansion.</a:t>
            </a:r>
          </a:p>
        </p:txBody>
      </p:sp>
      <p:sp>
        <p:nvSpPr>
          <p:cNvPr id="5" name="Text Placeholder 4"/>
          <p:cNvSpPr>
            <a:spLocks noGrp="1"/>
          </p:cNvSpPr>
          <p:nvPr>
            <p:ph type="body" idx="13" sz="quarter"/>
          </p:nvPr>
        </p:nvSpPr>
        <p:spPr/>
        <p:txBody>
          <a:bodyPr/>
          <a:lstStyle/>
          <a:p>
            <a:r>
              <a:rPr b="0"/>
              <a:t>The ownership structure demonstrates a strong promoter commitment with a majority equity stake which ensures strategic continuity and stability. A significant non-promoter holding reflects healthy market participation and broad-based investor confidence in the company's long-term value proposition. This balanced equity distribution provides a solid foundation for corporate governance and future strategic capital raising initiatives.</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Strong market positioning supported by deep-rooted relationships with diverse global original equipment manufacturers.</a:t>
            </a:r>
          </a:p>
        </p:txBody>
      </p:sp>
      <p:sp>
        <p:nvSpPr>
          <p:cNvPr id="3" name="Text Placeholder 2"/>
          <p:cNvSpPr>
            <a:spLocks noGrp="1"/>
          </p:cNvSpPr>
          <p:nvPr>
            <p:ph type="body" idx="11" sz="quarter"/>
          </p:nvPr>
        </p:nvSpPr>
        <p:spPr/>
        <p:txBody>
          <a:bodyPr/>
          <a:lstStyle/>
          <a:p>
            <a:r>
              <a:rPr b="0"/>
              <a:t>Achieved record new business order wins in the most recent fiscal year totaling approximately $9 million in annual value.</a:t>
            </a:r>
          </a:p>
        </p:txBody>
      </p:sp>
      <p:sp>
        <p:nvSpPr>
          <p:cNvPr id="4" name="Text Placeholder 3"/>
          <p:cNvSpPr>
            <a:spLocks noGrp="1"/>
          </p:cNvSpPr>
          <p:nvPr>
            <p:ph type="body" idx="12" sz="quarter"/>
          </p:nvPr>
        </p:nvSpPr>
        <p:spPr/>
        <p:txBody>
          <a:bodyPr/>
          <a:lstStyle/>
          <a:p>
            <a:r>
              <a:rPr b="0"/>
              <a:t>Ongoing capital expenditure program focused on capacity expansion and technological modernization with substantial budget allocation.</a:t>
            </a:r>
          </a:p>
        </p:txBody>
      </p:sp>
      <p:sp>
        <p:nvSpPr>
          <p:cNvPr id="5" name="Text Placeholder 4"/>
          <p:cNvSpPr>
            <a:spLocks noGrp="1"/>
          </p:cNvSpPr>
          <p:nvPr>
            <p:ph type="body" idx="13" sz="quarter"/>
          </p:nvPr>
        </p:nvSpPr>
        <p:spPr/>
        <p:txBody>
          <a:bodyPr/>
          <a:lstStyle/>
          <a:p>
            <a:r>
              <a:rPr b="0"/>
              <a:t>Strategic initiative to diversify revenue by increasing high-margin export sales to a target of 50% of total turnover.</a:t>
            </a:r>
          </a:p>
        </p:txBody>
      </p:sp>
      <p:sp>
        <p:nvSpPr>
          <p:cNvPr id="6" name="Text Placeholder 5"/>
          <p:cNvSpPr>
            <a:spLocks noGrp="1"/>
          </p:cNvSpPr>
          <p:nvPr>
            <p:ph type="body" idx="14" sz="quarter"/>
          </p:nvPr>
        </p:nvSpPr>
        <p:spPr/>
        <p:txBody>
          <a:bodyPr/>
          <a:lstStyle/>
          <a:p>
            <a:r>
              <a:rPr b="0"/>
              <a:t>Enhanced operational efficiency through the implementation of advanced SAP ERP systems and automated compliance workflows.</a:t>
            </a:r>
          </a:p>
        </p:txBody>
      </p:sp>
      <p:sp>
        <p:nvSpPr>
          <p:cNvPr id="7" name="Text Placeholder 6"/>
          <p:cNvSpPr>
            <a:spLocks noGrp="1"/>
          </p:cNvSpPr>
          <p:nvPr>
            <p:ph type="body" idx="15" sz="quarter"/>
          </p:nvPr>
        </p:nvSpPr>
        <p:spPr/>
        <p:txBody>
          <a:bodyPr/>
          <a:lstStyle/>
          <a:p>
            <a:r>
              <a:rPr b="0"/>
              <a:t>Resilient financial profile with a moderate risk rating and a diversified customer base mitigating sectoral cyclicality.</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17</cp:revision>
  <dcterms:created xsi:type="dcterms:W3CDTF">2026-01-24T04:48:24Z</dcterms:created>
  <dcterms:modified xsi:type="dcterms:W3CDTF">2026-02-04T14:44:34Z</dcterms:modified>
</cp:coreProperties>
</file>