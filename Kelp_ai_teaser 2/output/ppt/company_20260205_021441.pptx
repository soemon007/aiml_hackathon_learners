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Performance (INR Mn)</c:v>
                </c:pt>
              </c:strCache>
            </c:strRef>
          </c:tx>
          <c:cat>
            <c:strRef>
              <c:f>Sheet1!$A$2:$A$4</c:f>
              <c:strCache>
                <c:ptCount val="3"/>
                <c:pt idx="0">
                  <c:v>FY22</c:v>
                </c:pt>
                <c:pt idx="1">
                  <c:v>FY23</c:v>
                </c:pt>
                <c:pt idx="2">
                  <c:v>FY24</c:v>
                </c:pt>
              </c:strCache>
            </c:strRef>
          </c:cat>
          <c:val>
            <c:numRef>
              <c:f>Sheet1!$B$2:$B$4</c:f>
              <c:numCache>
                <c:formatCode>General</c:formatCode>
                <c:ptCount val="3"/>
                <c:pt idx="0">
                  <c:v>4017</c:v>
                </c:pt>
                <c:pt idx="1">
                  <c:v>4109</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Equity Shareholding Structure (%)</a:t>
            </a:r>
          </a:p>
        </c:rich>
      </c:tx>
      <c:layout/>
      <c:overlay val="0"/>
    </c:title>
    <c:autoTitleDeleted val="0"/>
    <c:plotArea>
      <c:pieChart>
        <c:varyColors val="1"/>
        <c:ser>
          <c:idx val="0"/>
          <c:order val="0"/>
          <c:tx>
            <c:strRef>
              <c:f>Sheet1!$B$1</c:f>
              <c:strCache>
                <c:ptCount val="1"/>
                <c:pt idx="0">
                  <c:v>Equity Shareholding Structure (%)</c:v>
                </c:pt>
              </c:strCache>
            </c:strRef>
          </c:tx>
          <c:cat>
            <c:strRef>
              <c:f>Sheet1!$A$2:$A$3</c:f>
              <c:strCache>
                <c:ptCount val="2"/>
                <c:pt idx="0">
                  <c:v>Promoters</c:v>
                </c:pt>
                <c:pt idx="1">
                  <c:v>Non Promoters</c:v>
                </c:pt>
              </c:strCache>
            </c:strRef>
          </c:cat>
          <c:val>
            <c:numRef>
              <c:f>Sheet1!$B$2:$B$3</c:f>
              <c:numCache>
                <c:formatCode>General</c:formatCode>
                <c:ptCount val="2"/>
                <c:pt idx="0">
                  <c:v>55.6</c:v>
                </c:pt>
                <c:pt idx="1">
                  <c:v>44.4</c:v>
                </c:pt>
              </c:numCache>
            </c:numRef>
          </c:val>
        </c:ser>
        <c:dLbls>
          <c:txPr>
            <a:bodyPr/>
            <a:lstStyle/>
            <a:p>
              <a:pPr>
                <a:defRPr sz="800"/>
              </a:pPr>
            </a:p>
          </c:txPr>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Specializes in a vertically integrated business model ranging from research-driven API production to large-scale formulations.
Maintains a strong focus on high-growth therapeutic areas such as Neurosciences, Cardiovascular health, and Gastroenterology.
Operates multiple USFDA-registered manufacturing sites ensuring adherence to international quality and safety benchmarks.
Leverages a wide international network to capture market share in both regulated Western markets and emerging economies.
Continuously invests in new divisions like medical devices and oncology to diversify the product pipeline and service mix.</a:t>
            </a:r>
          </a:p>
        </p:txBody>
      </p:sp>
      <p:sp>
        <p:nvSpPr>
          <p:cNvPr id="3" name="Text Placeholder 2"/>
          <p:cNvSpPr>
            <a:spLocks noGrp="1"/>
          </p:cNvSpPr>
          <p:nvPr>
            <p:ph type="body" idx="11" sz="quarter"/>
          </p:nvPr>
        </p:nvSpPr>
        <p:spPr/>
        <p:txBody>
          <a:bodyPr/>
          <a:lstStyle/>
          <a:p>
            <a:r>
              <a:rPr b="0"/>
              <a:t>Diverse API and formulation portfolio covering Central Nervous System, Cardiovascular, Anti-Infectives, and Respiratory therapeutic areas.
Comprehensive division structure including Noble, Nova, Ethical, Generic, and Institutional units serving B2B and global markets.
Wide array of flagship products such as Lithium Carbonate, Sildenafil Citrate, and advanced antibiotic combinations like Amoxicillin-Clavulanate.</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Established pharmaceutical leader with over 35 years of expertise in Active Pharmaceutical Ingredients (APIs) and finished formulations.
Global presence spanning 45 countries with dedicated subsidiaries in the International Markets, Dubai, and Singapore.
Second largest pharmaceutical manufacturer in North Domestic Market with multi-facility manufacturing capabilities.</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achieved a significant 22% revenue growth in FY24, reaching over 5,000 INR Mn. This upward trend is driven by increased penetration in regulated markets and enhanced manufacturing efficiencies.</a:t>
            </a:r>
          </a:p>
        </p:txBody>
      </p:sp>
      <p:sp>
        <p:nvSpPr>
          <p:cNvPr id="5" name="Text Placeholder 4"/>
          <p:cNvSpPr>
            <a:spLocks noGrp="1"/>
          </p:cNvSpPr>
          <p:nvPr>
            <p:ph type="body" idx="13" sz="quarter"/>
          </p:nvPr>
        </p:nvSpPr>
        <p:spPr/>
        <p:txBody>
          <a:bodyPr/>
          <a:lstStyle/>
          <a:p>
            <a:r>
              <a:rPr b="0"/>
              <a:t>The shareholding structure is predominantly promoter-led at 55.6%, ensuring strong management continuity and strategic alignment. The healthy 44.4% non-promoter interest reflects market confidence and investment liquidity.</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Unmatched compliance track record with approvals from USFDA, TGA-Australia, MHRA-International Markets, and PMDA-Japan.</a:t>
            </a:r>
          </a:p>
        </p:txBody>
      </p:sp>
      <p:sp>
        <p:nvSpPr>
          <p:cNvPr id="3" name="Text Placeholder 2"/>
          <p:cNvSpPr>
            <a:spLocks noGrp="1"/>
          </p:cNvSpPr>
          <p:nvPr>
            <p:ph type="body" idx="11" sz="quarter"/>
          </p:nvPr>
        </p:nvSpPr>
        <p:spPr/>
        <p:txBody>
          <a:bodyPr/>
          <a:lstStyle/>
          <a:p>
            <a:r>
              <a:rPr b="0"/>
              <a:t>Robust R&amp;D capabilities with centers approved by DSIR and registered with the USFDA to support complex chemistry.</a:t>
            </a:r>
          </a:p>
        </p:txBody>
      </p:sp>
      <p:sp>
        <p:nvSpPr>
          <p:cNvPr id="4" name="Text Placeholder 3"/>
          <p:cNvSpPr>
            <a:spLocks noGrp="1"/>
          </p:cNvSpPr>
          <p:nvPr>
            <p:ph type="body" idx="12" sz="quarter"/>
          </p:nvPr>
        </p:nvSpPr>
        <p:spPr/>
        <p:txBody>
          <a:bodyPr/>
          <a:lstStyle/>
          <a:p>
            <a:r>
              <a:rPr b="0"/>
              <a:t>Extensive molecule pipeline with established global supply relationships including Roche, TEVA, and Mylan.</a:t>
            </a:r>
          </a:p>
        </p:txBody>
      </p:sp>
      <p:sp>
        <p:nvSpPr>
          <p:cNvPr id="5" name="Text Placeholder 4"/>
          <p:cNvSpPr>
            <a:spLocks noGrp="1"/>
          </p:cNvSpPr>
          <p:nvPr>
            <p:ph type="body" idx="13" sz="quarter"/>
          </p:nvPr>
        </p:nvSpPr>
        <p:spPr/>
        <p:txBody>
          <a:bodyPr/>
          <a:lstStyle/>
          <a:p>
            <a:r>
              <a:rPr b="0"/>
              <a:t>Strategic expansion plans with a focus on three-fold capacity growth in Punjab, Himachal Pradesh, and Jammu.</a:t>
            </a:r>
          </a:p>
        </p:txBody>
      </p:sp>
      <p:sp>
        <p:nvSpPr>
          <p:cNvPr id="6" name="Text Placeholder 5"/>
          <p:cNvSpPr>
            <a:spLocks noGrp="1"/>
          </p:cNvSpPr>
          <p:nvPr>
            <p:ph type="body" idx="14" sz="quarter"/>
          </p:nvPr>
        </p:nvSpPr>
        <p:spPr/>
        <p:txBody>
          <a:bodyPr/>
          <a:lstStyle/>
          <a:p>
            <a:r>
              <a:rPr b="0"/>
              <a:t>Strong entry barriers backed by significant capex in high-standard manufacturing facilities and intellectual property.</a:t>
            </a:r>
          </a:p>
        </p:txBody>
      </p:sp>
      <p:sp>
        <p:nvSpPr>
          <p:cNvPr id="7" name="Text Placeholder 6"/>
          <p:cNvSpPr>
            <a:spLocks noGrp="1"/>
          </p:cNvSpPr>
          <p:nvPr>
            <p:ph type="body" idx="15" sz="quarter"/>
          </p:nvPr>
        </p:nvSpPr>
        <p:spPr/>
        <p:txBody>
          <a:bodyPr/>
          <a:lstStyle/>
          <a:p>
            <a:r>
              <a:rPr b="0"/>
              <a:t>Recognized for quality excellence with ISO 9001:2008 and WHO-GMP certifications across all operating units.</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