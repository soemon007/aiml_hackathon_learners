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media/image3.svg" ContentType="image/svg+xml"/>
  <Override PartName="/ppt/media/image5.svg" ContentType="image/svg+xml"/>
  <Override PartName="/ppt/media/image7.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7" r:id="rId7"/>
    <p:sldId id="258" r:id="rId8"/>
    <p:sldId id="259" r:id="rId9"/>
    <p:sldId id="260" r:id="rId10"/>
    <p:sldId id="261"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7B6"/>
    <a:srgbClr val="6FACFF"/>
    <a:srgbClr val="90E0EF"/>
    <a:srgbClr val="FB712C"/>
    <a:srgbClr val="F04C7A"/>
    <a:srgbClr val="A31D63"/>
    <a:srgbClr val="2A06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495"/>
    <p:restoredTop sz="94717"/>
  </p:normalViewPr>
  <p:slideViewPr>
    <p:cSldViewPr snapToGrid="0">
      <p:cViewPr varScale="1">
        <p:scale>
          <a:sx n="106" d="100"/>
          <a:sy n="106" d="100"/>
        </p:scale>
        <p:origin x="192" y="2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Revenue Growth (INR Millions)</c:v>
                </c:pt>
              </c:strCache>
            </c:strRef>
          </c:tx>
          <c:cat>
            <c:strRef>
              <c:f>Sheet1!$A$2:$A$5</c:f>
              <c:strCache>
                <c:ptCount val="4"/>
                <c:pt idx="0">
                  <c:v>FY22</c:v>
                </c:pt>
                <c:pt idx="1">
                  <c:v>FY23</c:v>
                </c:pt>
                <c:pt idx="2">
                  <c:v>FY24</c:v>
                </c:pt>
                <c:pt idx="3">
                  <c:v>FY25</c:v>
                </c:pt>
              </c:strCache>
            </c:strRef>
          </c:cat>
          <c:val>
            <c:numRef>
              <c:f>Sheet1!$B$2:$B$5</c:f>
              <c:numCache>
                <c:formatCode>General</c:formatCode>
                <c:ptCount val="4"/>
                <c:pt idx="0">
                  <c:v>68.2</c:v>
                </c:pt>
                <c:pt idx="1">
                  <c:v>254</c:v>
                </c:pt>
                <c:pt idx="2">
                  <c:v>612</c:v>
                </c:pt>
                <c:pt idx="3">
                  <c:v>960</c:v>
                </c:pt>
              </c:numCache>
            </c:numRef>
          </c:val>
        </c:ser>
        <c:dLbls>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autoTitleDeleted val="0"/>
    <c:plotArea>
      <c:pieChart>
        <c:varyColors val="1"/>
        <c:ser>
          <c:idx val="0"/>
          <c:order val="0"/>
          <c:tx>
            <c:strRef>
              <c:f>Sheet1!$B$1</c:f>
              <c:strCache>
                <c:ptCount val="1"/>
                <c:pt idx="0">
                  <c:v>Shareholding Structure (%)</c:v>
                </c:pt>
              </c:strCache>
            </c:strRef>
          </c:tx>
          <c:cat>
            <c:strRef>
              <c:f>Sheet1!$A$2:$A$3</c:f>
              <c:strCache>
                <c:ptCount val="2"/>
                <c:pt idx="0">
                  <c:v>Promoters</c:v>
                </c:pt>
                <c:pt idx="1">
                  <c:v>Non-Promoters</c:v>
                </c:pt>
              </c:strCache>
            </c:strRef>
          </c:cat>
          <c:val>
            <c:numRef>
              <c:f>Sheet1!$B$2:$B$3</c:f>
              <c:numCache>
                <c:formatCode>General</c:formatCode>
                <c:ptCount val="2"/>
                <c:pt idx="0">
                  <c:v>70.1</c:v>
                </c:pt>
                <c:pt idx="1">
                  <c:v>29.9</c:v>
                </c:pt>
              </c:numCache>
            </c:numRef>
          </c:val>
        </c:ser>
        <c:dLbls>
          <c:dLblPos val="bestFit"/>
          <c:showLegendKey val="0"/>
          <c:showVal val="1"/>
          <c:showCatName val="1"/>
          <c:showSerName val="0"/>
          <c:showPercent val="0"/>
          <c:showBubbleSize val="0"/>
          <c:showLeaderLines val="1"/>
        </c:dLbls>
      </c:pieChart>
    </c:plotArea>
    <c:legend>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png"/><Relationship Id="rId6" Type="http://schemas.openxmlformats.org/officeDocument/2006/relationships/image" Target="../media/image5.svg"/><Relationship Id="rId7" Type="http://schemas.openxmlformats.org/officeDocument/2006/relationships/image" Target="../media/image6.png"/><Relationship Id="rId8" Type="http://schemas.openxmlformats.org/officeDocument/2006/relationships/image" Target="../media/image7.sv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_Slide">
    <p:bg>
      <p:bgPr>
        <a:solidFill>
          <a:srgbClr val="2A063F"/>
        </a:solidFill>
        <a:effectLst/>
      </p:bgPr>
    </p:bg>
    <p:spTree>
      <p:nvGrpSpPr>
        <p:cNvPr id="1" name=""/>
        <p:cNvGrpSpPr/>
        <p:nvPr/>
      </p:nvGrpSpPr>
      <p:grpSpPr>
        <a:xfrm>
          <a:off x="0" y="0"/>
          <a:ext cx="0" cy="0"/>
          <a:chOff x="0" y="0"/>
          <a:chExt cx="0" cy="0"/>
        </a:xfrm>
      </p:grpSpPr>
      <p:pic>
        <p:nvPicPr>
          <p:cNvPr id="1028" name="Picture 4" descr="Geometric pattern Images - Free ...">
            <a:extLst>
              <a:ext uri="{FF2B5EF4-FFF2-40B4-BE49-F238E27FC236}">
                <a16:creationId xmlns:a16="http://schemas.microsoft.com/office/drawing/2014/main" id="{E6657D50-4ACA-29E0-6C6A-CCAD9432118A}"/>
              </a:ext>
            </a:extLst>
          </p:cNvPr>
          <p:cNvPicPr>
            <a:picLocks noChangeAspect="1" noChangeArrowheads="1"/>
          </p:cNvPicPr>
          <p:nvPr userDrawn="1"/>
        </p:nvPicPr>
        <p:blipFill>
          <a:blip r:embed="rId2">
            <a:alphaModFix amt="3000"/>
            <a:extLst>
              <a:ext uri="{28A0092B-C50C-407E-A947-70E740481C1C}">
                <a14:useLocalDpi xmlns:a14="http://schemas.microsoft.com/office/drawing/2010/main" val="0"/>
              </a:ext>
            </a:extLst>
          </a:blip>
          <a:srcRect/>
          <a:stretch>
            <a:fillRect/>
          </a:stretch>
        </p:blipFill>
        <p:spPr bwMode="auto">
          <a:xfrm>
            <a:off x="-376660" y="-185963"/>
            <a:ext cx="13091817" cy="6726099"/>
          </a:xfrm>
          <a:prstGeom prst="rect">
            <a:avLst/>
          </a:prstGeom>
          <a:noFill/>
          <a:extLst>
            <a:ext uri="{909E8E84-426E-40DD-AFC4-6F175D3DCCD1}">
              <a14:hiddenFill xmlns:a14="http://schemas.microsoft.com/office/drawing/2010/main">
                <a:solidFill>
                  <a:srgbClr val="FFFFFF"/>
                </a:solidFill>
              </a14:hiddenFill>
            </a:ext>
          </a:extLst>
        </p:spPr>
      </p:pic>
      <p:sp>
        <p:nvSpPr>
          <p:cNvPr id="41" name="Freeform 4">
            <a:extLst>
              <a:ext uri="{FF2B5EF4-FFF2-40B4-BE49-F238E27FC236}">
                <a16:creationId xmlns:a16="http://schemas.microsoft.com/office/drawing/2014/main" id="{1B9AF06B-B946-100D-8E6B-B35C454030EE}"/>
              </a:ext>
              <a:ext uri="{C183D7F6-B498-43B3-948B-1728B52AA6E4}">
                <adec:decorative xmlns:adec="http://schemas.microsoft.com/office/drawing/2017/decorative" val="1"/>
              </a:ext>
            </a:extLst>
          </p:cNvPr>
          <p:cNvSpPr/>
          <p:nvPr userDrawn="1"/>
        </p:nvSpPr>
        <p:spPr>
          <a:xfrm>
            <a:off x="2221680" y="5033953"/>
            <a:ext cx="4458815"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sz="1350"/>
          </a:p>
        </p:txBody>
      </p:sp>
      <p:sp>
        <p:nvSpPr>
          <p:cNvPr id="32" name="Freeform 2">
            <a:extLst>
              <a:ext uri="{FF2B5EF4-FFF2-40B4-BE49-F238E27FC236}">
                <a16:creationId xmlns:a16="http://schemas.microsoft.com/office/drawing/2014/main" id="{A712A287-3087-1DF3-F43D-A56A53B980B4}"/>
              </a:ext>
              <a:ext uri="{C183D7F6-B498-43B3-948B-1728B52AA6E4}">
                <adec:decorative xmlns:adec="http://schemas.microsoft.com/office/drawing/2017/decorative" val="1"/>
              </a:ext>
            </a:extLst>
          </p:cNvPr>
          <p:cNvSpPr/>
          <p:nvPr userDrawn="1"/>
        </p:nvSpPr>
        <p:spPr>
          <a:xfrm>
            <a:off x="-863173" y="-153887"/>
            <a:ext cx="2466586" cy="3540610"/>
          </a:xfrm>
          <a:custGeom>
            <a:avLst/>
            <a:gdLst/>
            <a:ahLst/>
            <a:cxnLst/>
            <a:rect l="l" t="t" r="r" b="b"/>
            <a:pathLst>
              <a:path w="4549062" h="6780444">
                <a:moveTo>
                  <a:pt x="0" y="0"/>
                </a:moveTo>
                <a:lnTo>
                  <a:pt x="4549062" y="0"/>
                </a:lnTo>
                <a:lnTo>
                  <a:pt x="4549062" y="6780444"/>
                </a:lnTo>
                <a:lnTo>
                  <a:pt x="0" y="678044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sz="1350" dirty="0"/>
          </a:p>
        </p:txBody>
      </p:sp>
      <p:sp>
        <p:nvSpPr>
          <p:cNvPr id="33" name="Freeform 5">
            <a:extLst>
              <a:ext uri="{FF2B5EF4-FFF2-40B4-BE49-F238E27FC236}">
                <a16:creationId xmlns:a16="http://schemas.microsoft.com/office/drawing/2014/main" id="{2A160F13-8764-D059-9923-6D95B47B175D}"/>
              </a:ext>
              <a:ext uri="{C183D7F6-B498-43B3-948B-1728B52AA6E4}">
                <adec:decorative xmlns:adec="http://schemas.microsoft.com/office/drawing/2017/decorative" val="1"/>
              </a:ext>
            </a:extLst>
          </p:cNvPr>
          <p:cNvSpPr/>
          <p:nvPr userDrawn="1"/>
        </p:nvSpPr>
        <p:spPr>
          <a:xfrm rot="21445884">
            <a:off x="4804637" y="-750786"/>
            <a:ext cx="2729224" cy="2735166"/>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sz="1350" dirty="0"/>
          </a:p>
        </p:txBody>
      </p:sp>
      <p:sp>
        <p:nvSpPr>
          <p:cNvPr id="34" name="Freeform 4">
            <a:extLst>
              <a:ext uri="{FF2B5EF4-FFF2-40B4-BE49-F238E27FC236}">
                <a16:creationId xmlns:a16="http://schemas.microsoft.com/office/drawing/2014/main" id="{50B8F49F-8D86-DC2D-37F0-946BC7888B85}"/>
              </a:ext>
              <a:ext uri="{C183D7F6-B498-43B3-948B-1728B52AA6E4}">
                <adec:decorative xmlns:adec="http://schemas.microsoft.com/office/drawing/2017/decorative" val="1"/>
              </a:ext>
            </a:extLst>
          </p:cNvPr>
          <p:cNvSpPr/>
          <p:nvPr userDrawn="1"/>
        </p:nvSpPr>
        <p:spPr>
          <a:xfrm>
            <a:off x="2207259" y="670876"/>
            <a:ext cx="4170792"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sz="1350"/>
          </a:p>
        </p:txBody>
      </p:sp>
      <p:sp>
        <p:nvSpPr>
          <p:cNvPr id="35" name="Freeform 5">
            <a:extLst>
              <a:ext uri="{FF2B5EF4-FFF2-40B4-BE49-F238E27FC236}">
                <a16:creationId xmlns:a16="http://schemas.microsoft.com/office/drawing/2014/main" id="{0E270C24-0873-5229-B9F8-0748D3B0295E}"/>
              </a:ext>
              <a:ext uri="{C183D7F6-B498-43B3-948B-1728B52AA6E4}">
                <adec:decorative xmlns:adec="http://schemas.microsoft.com/office/drawing/2017/decorative" val="1"/>
              </a:ext>
            </a:extLst>
          </p:cNvPr>
          <p:cNvSpPr/>
          <p:nvPr userDrawn="1"/>
        </p:nvSpPr>
        <p:spPr>
          <a:xfrm>
            <a:off x="4698766" y="3400034"/>
            <a:ext cx="3019835" cy="2848398"/>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sz="1350" dirty="0"/>
          </a:p>
        </p:txBody>
      </p:sp>
      <p:sp>
        <p:nvSpPr>
          <p:cNvPr id="36" name="Freeform 2">
            <a:extLst>
              <a:ext uri="{FF2B5EF4-FFF2-40B4-BE49-F238E27FC236}">
                <a16:creationId xmlns:a16="http://schemas.microsoft.com/office/drawing/2014/main" id="{F08BCC40-8EF1-E663-8913-1862FCE00F6E}"/>
              </a:ext>
              <a:ext uri="{C183D7F6-B498-43B3-948B-1728B52AA6E4}">
                <adec:decorative xmlns:adec="http://schemas.microsoft.com/office/drawing/2017/decorative" val="1"/>
              </a:ext>
            </a:extLst>
          </p:cNvPr>
          <p:cNvSpPr/>
          <p:nvPr userDrawn="1"/>
        </p:nvSpPr>
        <p:spPr>
          <a:xfrm>
            <a:off x="10009050" y="3550743"/>
            <a:ext cx="2616847" cy="3540610"/>
          </a:xfrm>
          <a:custGeom>
            <a:avLst/>
            <a:gdLst/>
            <a:ahLst/>
            <a:cxnLst/>
            <a:rect l="l" t="t" r="r" b="b"/>
            <a:pathLst>
              <a:path w="4549062" h="6780444">
                <a:moveTo>
                  <a:pt x="0" y="0"/>
                </a:moveTo>
                <a:lnTo>
                  <a:pt x="4549062" y="0"/>
                </a:lnTo>
                <a:lnTo>
                  <a:pt x="4549062" y="6780444"/>
                </a:lnTo>
                <a:lnTo>
                  <a:pt x="0" y="678044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sz="1350" dirty="0"/>
          </a:p>
        </p:txBody>
      </p:sp>
      <p:sp>
        <p:nvSpPr>
          <p:cNvPr id="37" name="Rectangle 36">
            <a:extLst>
              <a:ext uri="{FF2B5EF4-FFF2-40B4-BE49-F238E27FC236}">
                <a16:creationId xmlns:a16="http://schemas.microsoft.com/office/drawing/2014/main" id="{15DD37F5-790C-EFF8-893A-97E9CC3AC34C}"/>
              </a:ext>
            </a:extLst>
          </p:cNvPr>
          <p:cNvSpPr/>
          <p:nvPr userDrawn="1"/>
        </p:nvSpPr>
        <p:spPr>
          <a:xfrm rot="16200000">
            <a:off x="5644041" y="334942"/>
            <a:ext cx="903921" cy="12192003"/>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350"/>
          </a:p>
        </p:txBody>
      </p:sp>
      <p:sp>
        <p:nvSpPr>
          <p:cNvPr id="42" name="TextBox 41">
            <a:extLst>
              <a:ext uri="{FF2B5EF4-FFF2-40B4-BE49-F238E27FC236}">
                <a16:creationId xmlns:a16="http://schemas.microsoft.com/office/drawing/2014/main" id="{BD71EE71-6D3D-DE57-F03B-FAAAB2CDE9D3}"/>
              </a:ext>
            </a:extLst>
          </p:cNvPr>
          <p:cNvSpPr txBox="1"/>
          <p:nvPr userDrawn="1"/>
        </p:nvSpPr>
        <p:spPr>
          <a:xfrm>
            <a:off x="64072" y="6077001"/>
            <a:ext cx="5464885" cy="553998"/>
          </a:xfrm>
          <a:prstGeom prst="rect">
            <a:avLst/>
          </a:prstGeom>
          <a:noFill/>
        </p:spPr>
        <p:txBody>
          <a:bodyPr wrap="square" rtlCol="0">
            <a:spAutoFit/>
          </a:bodyPr>
          <a:lstStyle/>
          <a:p>
            <a:r>
              <a:rPr lang="en-US" sz="1500" b="1" dirty="0">
                <a:solidFill>
                  <a:schemeClr val="tx1"/>
                </a:solidFill>
                <a:latin typeface="Arial" panose="020B0604020202020204" pitchFamily="34" charset="0"/>
                <a:cs typeface="Arial" panose="020B0604020202020204" pitchFamily="34" charset="0"/>
              </a:rPr>
              <a:t>Investment Brief</a:t>
            </a:r>
          </a:p>
          <a:p>
            <a:r>
              <a:rPr lang="en-US" sz="1500" i="1" dirty="0" err="1">
                <a:solidFill>
                  <a:schemeClr val="tx1"/>
                </a:solidFill>
                <a:latin typeface="Arial" panose="020B0604020202020204" pitchFamily="34" charset="0"/>
                <a:cs typeface="Arial" panose="020B0604020202020204" pitchFamily="34" charset="0"/>
              </a:rPr>
              <a:t>kelpglobal.com</a:t>
            </a:r>
            <a:endParaRPr lang="en-US" sz="1500" i="1" dirty="0">
              <a:solidFill>
                <a:schemeClr val="tx1"/>
              </a:solidFill>
              <a:latin typeface="Arial" panose="020B0604020202020204" pitchFamily="34" charset="0"/>
              <a:cs typeface="Arial" panose="020B0604020202020204" pitchFamily="34" charset="0"/>
            </a:endParaRPr>
          </a:p>
        </p:txBody>
      </p:sp>
      <p:pic>
        <p:nvPicPr>
          <p:cNvPr id="43" name="Picture 42" descr="A white letter on a black background&#10;&#10;AI-generated content may be incorrect.">
            <a:extLst>
              <a:ext uri="{FF2B5EF4-FFF2-40B4-BE49-F238E27FC236}">
                <a16:creationId xmlns:a16="http://schemas.microsoft.com/office/drawing/2014/main" id="{D49EF3F4-51EF-4606-B7A3-3504870972F4}"/>
              </a:ext>
            </a:extLst>
          </p:cNvPr>
          <p:cNvPicPr>
            <a:picLocks noChangeAspect="1"/>
          </p:cNvPicPr>
          <p:nvPr userDrawn="1"/>
        </p:nvPicPr>
        <p:blipFill>
          <a:blip r:embed="rId9"/>
          <a:stretch>
            <a:fillRect/>
          </a:stretch>
        </p:blipFill>
        <p:spPr>
          <a:xfrm>
            <a:off x="9910007" y="246908"/>
            <a:ext cx="1911873" cy="726707"/>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lide_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C7C7B3B-35A8-CB14-7DE6-7597AE5727BB}"/>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sz="2000" b="1" dirty="0">
                <a:solidFill>
                  <a:srgbClr val="FFFFFF"/>
                </a:solidFill>
                <a:latin typeface="Arial" panose="020B0604020202020204" pitchFamily="34" charset="0"/>
                <a:cs typeface="Arial" panose="020B0604020202020204" pitchFamily="34" charset="0"/>
              </a:rPr>
              <a:t>Business Profile &amp; Infrastructure</a:t>
            </a:r>
            <a:endParaRPr sz="2000" b="1" dirty="0">
              <a:solidFill>
                <a:srgbClr val="FFFFFF"/>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E1E57ECB-C669-1AC2-3C5E-2B9B86C530B4}"/>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8" name="Picture 7" descr="A white letter on a black background&#10;&#10;AI-generated content may be incorrect.">
            <a:extLst>
              <a:ext uri="{FF2B5EF4-FFF2-40B4-BE49-F238E27FC236}">
                <a16:creationId xmlns:a16="http://schemas.microsoft.com/office/drawing/2014/main" id="{40F6C2CA-BED1-72A7-775A-CD3062FAC359}"/>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4" name="TextBox 3">
            <a:extLst>
              <a:ext uri="{FF2B5EF4-FFF2-40B4-BE49-F238E27FC236}">
                <a16:creationId xmlns:a16="http://schemas.microsoft.com/office/drawing/2014/main" id="{2B57153E-0761-147E-9F8E-CD5A48F6BBA5}"/>
              </a:ext>
            </a:extLst>
          </p:cNvPr>
          <p:cNvSpPr txBox="1"/>
          <p:nvPr userDrawn="1"/>
        </p:nvSpPr>
        <p:spPr>
          <a:xfrm>
            <a:off x="146060" y="4151189"/>
            <a:ext cx="8081253" cy="414371"/>
          </a:xfrm>
          <a:prstGeom prst="rect">
            <a:avLst/>
          </a:prstGeom>
          <a:solidFill>
            <a:srgbClr val="0077B6">
              <a:alpha val="41961"/>
            </a:srgbClr>
          </a:solidFill>
        </p:spPr>
        <p:txBody>
          <a:bodyPr wrap="square" rtlCol="0">
            <a:spAutoFit/>
          </a:bodyPr>
          <a:lstStyle/>
          <a:p>
            <a:endParaRPr lang="en-GB" dirty="0"/>
          </a:p>
        </p:txBody>
      </p:sp>
      <p:sp>
        <p:nvSpPr>
          <p:cNvPr id="10" name="Rectangle 9">
            <a:extLst>
              <a:ext uri="{FF2B5EF4-FFF2-40B4-BE49-F238E27FC236}">
                <a16:creationId xmlns:a16="http://schemas.microsoft.com/office/drawing/2014/main" id="{FD12A1B1-2F44-EBD9-7484-072B4B7A20C0}"/>
              </a:ext>
            </a:extLst>
          </p:cNvPr>
          <p:cNvSpPr/>
          <p:nvPr userDrawn="1"/>
        </p:nvSpPr>
        <p:spPr>
          <a:xfrm>
            <a:off x="146059" y="1354422"/>
            <a:ext cx="8017579" cy="25138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1" name="TextBox 10">
            <a:extLst>
              <a:ext uri="{FF2B5EF4-FFF2-40B4-BE49-F238E27FC236}">
                <a16:creationId xmlns:a16="http://schemas.microsoft.com/office/drawing/2014/main" id="{67E60B4F-D735-2076-55BD-B7B41AD03D44}"/>
              </a:ext>
            </a:extLst>
          </p:cNvPr>
          <p:cNvSpPr txBox="1"/>
          <p:nvPr userDrawn="1"/>
        </p:nvSpPr>
        <p:spPr>
          <a:xfrm>
            <a:off x="154287" y="798749"/>
            <a:ext cx="8115271" cy="414372"/>
          </a:xfrm>
          <a:prstGeom prst="rect">
            <a:avLst/>
          </a:prstGeom>
          <a:solidFill>
            <a:srgbClr val="6FACFF">
              <a:alpha val="41961"/>
            </a:srgbClr>
          </a:solidFill>
        </p:spPr>
        <p:txBody>
          <a:bodyPr wrap="square" rtlCol="0">
            <a:spAutoFit/>
          </a:bodyPr>
          <a:lstStyle/>
          <a:p>
            <a:endParaRPr lang="en-GB" dirty="0"/>
          </a:p>
        </p:txBody>
      </p:sp>
      <p:sp>
        <p:nvSpPr>
          <p:cNvPr id="12" name="TextBox 11">
            <a:extLst>
              <a:ext uri="{FF2B5EF4-FFF2-40B4-BE49-F238E27FC236}">
                <a16:creationId xmlns:a16="http://schemas.microsoft.com/office/drawing/2014/main" id="{DEA8438F-5D82-EB08-3BF9-9C884B9375DA}"/>
              </a:ext>
            </a:extLst>
          </p:cNvPr>
          <p:cNvSpPr txBox="1"/>
          <p:nvPr userDrawn="1"/>
        </p:nvSpPr>
        <p:spPr>
          <a:xfrm>
            <a:off x="8571893" y="3845798"/>
            <a:ext cx="3474046" cy="414371"/>
          </a:xfrm>
          <a:prstGeom prst="rect">
            <a:avLst/>
          </a:prstGeom>
          <a:solidFill>
            <a:srgbClr val="0077B6">
              <a:alpha val="42745"/>
            </a:srgbClr>
          </a:solidFill>
        </p:spPr>
        <p:txBody>
          <a:bodyPr wrap="square" rtlCol="0">
            <a:spAutoFit/>
          </a:bodyPr>
          <a:lstStyle/>
          <a:p>
            <a:endParaRPr lang="en-GB" dirty="0"/>
          </a:p>
        </p:txBody>
      </p:sp>
      <p:cxnSp>
        <p:nvCxnSpPr>
          <p:cNvPr id="13" name="Straight Connector 12">
            <a:extLst>
              <a:ext uri="{FF2B5EF4-FFF2-40B4-BE49-F238E27FC236}">
                <a16:creationId xmlns:a16="http://schemas.microsoft.com/office/drawing/2014/main" id="{02AF2439-D35F-B769-B7D1-D7E48C243F13}"/>
              </a:ext>
            </a:extLst>
          </p:cNvPr>
          <p:cNvCxnSpPr>
            <a:cxnSpLocks/>
          </p:cNvCxnSpPr>
          <p:nvPr userDrawn="1"/>
        </p:nvCxnSpPr>
        <p:spPr>
          <a:xfrm>
            <a:off x="8389194" y="631993"/>
            <a:ext cx="0" cy="6226007"/>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162F7883-A476-5852-F143-B3DFA7053835}"/>
              </a:ext>
            </a:extLst>
          </p:cNvPr>
          <p:cNvSpPr/>
          <p:nvPr userDrawn="1"/>
        </p:nvSpPr>
        <p:spPr>
          <a:xfrm>
            <a:off x="8571893" y="1395641"/>
            <a:ext cx="3431797" cy="22810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7" name="TextBox 16">
            <a:extLst>
              <a:ext uri="{FF2B5EF4-FFF2-40B4-BE49-F238E27FC236}">
                <a16:creationId xmlns:a16="http://schemas.microsoft.com/office/drawing/2014/main" id="{9B693A0E-7104-1EF4-C199-ABE4EA9337B0}"/>
              </a:ext>
            </a:extLst>
          </p:cNvPr>
          <p:cNvSpPr txBox="1"/>
          <p:nvPr userDrawn="1"/>
        </p:nvSpPr>
        <p:spPr>
          <a:xfrm>
            <a:off x="8508829" y="828876"/>
            <a:ext cx="3474046" cy="414371"/>
          </a:xfrm>
          <a:prstGeom prst="rect">
            <a:avLst/>
          </a:prstGeom>
          <a:solidFill>
            <a:srgbClr val="6FACFF">
              <a:alpha val="42745"/>
            </a:srgbClr>
          </a:solidFill>
        </p:spPr>
        <p:txBody>
          <a:bodyPr wrap="square" rtlCol="0">
            <a:spAutoFit/>
          </a:bodyPr>
          <a:lstStyle/>
          <a:p>
            <a:endParaRPr lang="en-GB" dirty="0"/>
          </a:p>
        </p:txBody>
      </p:sp>
      <p:sp>
        <p:nvSpPr>
          <p:cNvPr id="18" name="Rectangle 17">
            <a:extLst>
              <a:ext uri="{FF2B5EF4-FFF2-40B4-BE49-F238E27FC236}">
                <a16:creationId xmlns:a16="http://schemas.microsoft.com/office/drawing/2014/main" id="{0CD2EF22-2305-CBCF-7392-90504AAC5F5D}"/>
              </a:ext>
            </a:extLst>
          </p:cNvPr>
          <p:cNvSpPr/>
          <p:nvPr userDrawn="1"/>
        </p:nvSpPr>
        <p:spPr>
          <a:xfrm>
            <a:off x="188308" y="4693425"/>
            <a:ext cx="8081252" cy="18058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 name="Text Placeholder 2">
            <a:extLst>
              <a:ext uri="{FF2B5EF4-FFF2-40B4-BE49-F238E27FC236}">
                <a16:creationId xmlns:a16="http://schemas.microsoft.com/office/drawing/2014/main" id="{13C21514-8574-AB3F-FED4-0D5790A63814}"/>
              </a:ext>
            </a:extLst>
          </p:cNvPr>
          <p:cNvSpPr>
            <a:spLocks noGrp="1"/>
          </p:cNvSpPr>
          <p:nvPr>
            <p:ph type="body" sz="quarter" idx="10"/>
          </p:nvPr>
        </p:nvSpPr>
        <p:spPr>
          <a:xfrm>
            <a:off x="236262" y="1417132"/>
            <a:ext cx="8017580" cy="2388473"/>
          </a:xfrm>
        </p:spPr>
        <p:txBody>
          <a:bodyPr>
            <a:normAutofit/>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Text Placeholder 8">
            <a:extLst>
              <a:ext uri="{FF2B5EF4-FFF2-40B4-BE49-F238E27FC236}">
                <a16:creationId xmlns:a16="http://schemas.microsoft.com/office/drawing/2014/main" id="{48EB1D40-3674-BBC3-BA3D-593FBC536801}"/>
              </a:ext>
            </a:extLst>
          </p:cNvPr>
          <p:cNvSpPr>
            <a:spLocks noGrp="1"/>
          </p:cNvSpPr>
          <p:nvPr>
            <p:ph type="body" sz="quarter" idx="11"/>
          </p:nvPr>
        </p:nvSpPr>
        <p:spPr>
          <a:xfrm>
            <a:off x="301578" y="4864226"/>
            <a:ext cx="7550150" cy="1420812"/>
          </a:xfrm>
        </p:spPr>
        <p:txBody>
          <a:bodyPr>
            <a:normAutofit/>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 name="TextBox 1">
            <a:extLst>
              <a:ext uri="{FF2B5EF4-FFF2-40B4-BE49-F238E27FC236}">
                <a16:creationId xmlns:a16="http://schemas.microsoft.com/office/drawing/2014/main" id="{4956E25C-1867-5A97-A053-74EF89CF8053}"/>
              </a:ext>
            </a:extLst>
          </p:cNvPr>
          <p:cNvSpPr txBox="1"/>
          <p:nvPr userDrawn="1"/>
        </p:nvSpPr>
        <p:spPr>
          <a:xfrm>
            <a:off x="154288" y="814857"/>
            <a:ext cx="512805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Business Overview</a:t>
            </a:r>
          </a:p>
        </p:txBody>
      </p:sp>
      <p:sp>
        <p:nvSpPr>
          <p:cNvPr id="5" name="TextBox 4">
            <a:extLst>
              <a:ext uri="{FF2B5EF4-FFF2-40B4-BE49-F238E27FC236}">
                <a16:creationId xmlns:a16="http://schemas.microsoft.com/office/drawing/2014/main" id="{A954834B-3DF1-23D9-5C4D-4A6C8E23F765}"/>
              </a:ext>
            </a:extLst>
          </p:cNvPr>
          <p:cNvSpPr txBox="1"/>
          <p:nvPr userDrawn="1"/>
        </p:nvSpPr>
        <p:spPr>
          <a:xfrm>
            <a:off x="8571893" y="3868317"/>
            <a:ext cx="3066601"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Certifications</a:t>
            </a:r>
          </a:p>
        </p:txBody>
      </p:sp>
      <p:sp>
        <p:nvSpPr>
          <p:cNvPr id="14" name="TextBox 13">
            <a:extLst>
              <a:ext uri="{FF2B5EF4-FFF2-40B4-BE49-F238E27FC236}">
                <a16:creationId xmlns:a16="http://schemas.microsoft.com/office/drawing/2014/main" id="{39F8FA0A-4415-E7B6-228E-46B151ECBCE6}"/>
              </a:ext>
            </a:extLst>
          </p:cNvPr>
          <p:cNvSpPr txBox="1"/>
          <p:nvPr userDrawn="1"/>
        </p:nvSpPr>
        <p:spPr>
          <a:xfrm>
            <a:off x="188308" y="4173708"/>
            <a:ext cx="512805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Portfolio and Products</a:t>
            </a:r>
          </a:p>
        </p:txBody>
      </p:sp>
      <p:sp>
        <p:nvSpPr>
          <p:cNvPr id="20" name="Picture Placeholder 19">
            <a:extLst>
              <a:ext uri="{FF2B5EF4-FFF2-40B4-BE49-F238E27FC236}">
                <a16:creationId xmlns:a16="http://schemas.microsoft.com/office/drawing/2014/main" id="{F701B351-9295-2343-7729-22B37578850C}"/>
              </a:ext>
            </a:extLst>
          </p:cNvPr>
          <p:cNvSpPr>
            <a:spLocks noGrp="1"/>
          </p:cNvSpPr>
          <p:nvPr>
            <p:ph type="pic" sz="quarter" idx="12"/>
          </p:nvPr>
        </p:nvSpPr>
        <p:spPr>
          <a:xfrm>
            <a:off x="9701086" y="4479735"/>
            <a:ext cx="1089531" cy="991109"/>
          </a:xfrm>
        </p:spPr>
        <p:txBody>
          <a:bodyPr/>
          <a:lstStyle/>
          <a:p>
            <a:endParaRPr lang="en-GB"/>
          </a:p>
        </p:txBody>
      </p:sp>
      <p:sp>
        <p:nvSpPr>
          <p:cNvPr id="21" name="Picture Placeholder 19">
            <a:extLst>
              <a:ext uri="{FF2B5EF4-FFF2-40B4-BE49-F238E27FC236}">
                <a16:creationId xmlns:a16="http://schemas.microsoft.com/office/drawing/2014/main" id="{E5F74BA3-8C7A-8938-B580-623C8CA528D7}"/>
              </a:ext>
            </a:extLst>
          </p:cNvPr>
          <p:cNvSpPr>
            <a:spLocks noGrp="1"/>
          </p:cNvSpPr>
          <p:nvPr>
            <p:ph type="pic" sz="quarter" idx="13"/>
          </p:nvPr>
        </p:nvSpPr>
        <p:spPr>
          <a:xfrm>
            <a:off x="8826504" y="5574632"/>
            <a:ext cx="1089535" cy="908983"/>
          </a:xfrm>
        </p:spPr>
        <p:txBody>
          <a:bodyPr/>
          <a:lstStyle/>
          <a:p>
            <a:endParaRPr lang="en-GB"/>
          </a:p>
        </p:txBody>
      </p:sp>
      <p:sp>
        <p:nvSpPr>
          <p:cNvPr id="22" name="Picture Placeholder 19">
            <a:extLst>
              <a:ext uri="{FF2B5EF4-FFF2-40B4-BE49-F238E27FC236}">
                <a16:creationId xmlns:a16="http://schemas.microsoft.com/office/drawing/2014/main" id="{EFC57E91-D73D-F1D4-2CD5-581EA200A756}"/>
              </a:ext>
            </a:extLst>
          </p:cNvPr>
          <p:cNvSpPr>
            <a:spLocks noGrp="1"/>
          </p:cNvSpPr>
          <p:nvPr>
            <p:ph type="pic" sz="quarter" idx="14"/>
          </p:nvPr>
        </p:nvSpPr>
        <p:spPr>
          <a:xfrm>
            <a:off x="10548962" y="5596364"/>
            <a:ext cx="1089532" cy="887251"/>
          </a:xfrm>
        </p:spPr>
        <p:txBody>
          <a:bodyPr/>
          <a:lstStyle/>
          <a:p>
            <a:endParaRPr lang="en-GB"/>
          </a:p>
        </p:txBody>
      </p:sp>
      <p:sp>
        <p:nvSpPr>
          <p:cNvPr id="23" name="TextBox 22">
            <a:extLst>
              <a:ext uri="{FF2B5EF4-FFF2-40B4-BE49-F238E27FC236}">
                <a16:creationId xmlns:a16="http://schemas.microsoft.com/office/drawing/2014/main" id="{D0F51ADC-19AC-CC4C-101E-F9EA157D172C}"/>
              </a:ext>
            </a:extLst>
          </p:cNvPr>
          <p:cNvSpPr txBox="1"/>
          <p:nvPr userDrawn="1"/>
        </p:nvSpPr>
        <p:spPr>
          <a:xfrm>
            <a:off x="8541487" y="850054"/>
            <a:ext cx="309701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At a Glance</a:t>
            </a:r>
          </a:p>
        </p:txBody>
      </p:sp>
      <p:sp>
        <p:nvSpPr>
          <p:cNvPr id="25" name="Text Placeholder 24">
            <a:extLst>
              <a:ext uri="{FF2B5EF4-FFF2-40B4-BE49-F238E27FC236}">
                <a16:creationId xmlns:a16="http://schemas.microsoft.com/office/drawing/2014/main" id="{79C7AF37-8E24-7EC6-C84D-1E144C153BAA}"/>
              </a:ext>
            </a:extLst>
          </p:cNvPr>
          <p:cNvSpPr>
            <a:spLocks noGrp="1"/>
          </p:cNvSpPr>
          <p:nvPr>
            <p:ph type="body" sz="quarter" idx="15"/>
          </p:nvPr>
        </p:nvSpPr>
        <p:spPr>
          <a:xfrm>
            <a:off x="8674226" y="1479907"/>
            <a:ext cx="3143250" cy="2219325"/>
          </a:xfrm>
        </p:spPr>
        <p:txBody>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9" name="Picture Placeholder 18">
            <a:extLst>
              <a:ext uri="{FF2B5EF4-FFF2-40B4-BE49-F238E27FC236}">
                <a16:creationId xmlns:a16="http://schemas.microsoft.com/office/drawing/2014/main" id="{FAD83EC9-39E7-8960-FB4A-66247F4FE61D}"/>
              </a:ext>
            </a:extLst>
          </p:cNvPr>
          <p:cNvSpPr>
            <a:spLocks noGrp="1"/>
          </p:cNvSpPr>
          <p:nvPr>
            <p:ph type="pic" sz="quarter" idx="16"/>
          </p:nvPr>
        </p:nvSpPr>
        <p:spPr>
          <a:xfrm>
            <a:off x="7560074" y="1480079"/>
            <a:ext cx="560387" cy="584200"/>
          </a:xfrm>
        </p:spPr>
        <p:txBody>
          <a:bodyPr/>
          <a:lstStyle/>
          <a:p>
            <a:endParaRPr lang="en-GB"/>
          </a:p>
        </p:txBody>
      </p:sp>
      <p:sp>
        <p:nvSpPr>
          <p:cNvPr id="24" name="Picture Placeholder 18">
            <a:extLst>
              <a:ext uri="{FF2B5EF4-FFF2-40B4-BE49-F238E27FC236}">
                <a16:creationId xmlns:a16="http://schemas.microsoft.com/office/drawing/2014/main" id="{79B0485E-332F-E3ED-5180-4C38D7877684}"/>
              </a:ext>
            </a:extLst>
          </p:cNvPr>
          <p:cNvSpPr>
            <a:spLocks noGrp="1"/>
          </p:cNvSpPr>
          <p:nvPr>
            <p:ph type="pic" sz="quarter" idx="17"/>
          </p:nvPr>
        </p:nvSpPr>
        <p:spPr>
          <a:xfrm>
            <a:off x="7542089" y="5012164"/>
            <a:ext cx="560387" cy="584200"/>
          </a:xfrm>
        </p:spPr>
        <p:txBody>
          <a:bodyPr/>
          <a:lstStyle/>
          <a:p>
            <a:endParaRPr lang="en-GB"/>
          </a:p>
        </p:txBody>
      </p:sp>
      <p:sp>
        <p:nvSpPr>
          <p:cNvPr id="26" name="Picture Placeholder 18">
            <a:extLst>
              <a:ext uri="{FF2B5EF4-FFF2-40B4-BE49-F238E27FC236}">
                <a16:creationId xmlns:a16="http://schemas.microsoft.com/office/drawing/2014/main" id="{17DCE210-3387-3CE1-1570-6E59B39B6E98}"/>
              </a:ext>
            </a:extLst>
          </p:cNvPr>
          <p:cNvSpPr>
            <a:spLocks noGrp="1"/>
          </p:cNvSpPr>
          <p:nvPr>
            <p:ph type="pic" sz="quarter" idx="18"/>
          </p:nvPr>
        </p:nvSpPr>
        <p:spPr>
          <a:xfrm>
            <a:off x="11362809" y="1522913"/>
            <a:ext cx="560387" cy="584200"/>
          </a:xfrm>
        </p:spPr>
        <p:txBody>
          <a:bodyPr/>
          <a:lstStyle/>
          <a:p>
            <a:endParaRPr lang="en-GB"/>
          </a:p>
        </p:txBody>
      </p:sp>
    </p:spTree>
    <p:extLst>
      <p:ext uri="{BB962C8B-B14F-4D97-AF65-F5344CB8AC3E}">
        <p14:creationId xmlns:p14="http://schemas.microsoft.com/office/powerpoint/2010/main" val="2687324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lide_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2318C7D-B421-4556-7BFD-CC04951D942A}"/>
              </a:ext>
            </a:extLst>
          </p:cNvPr>
          <p:cNvSpPr/>
          <p:nvPr userDrawn="1"/>
        </p:nvSpPr>
        <p:spPr>
          <a:xfrm>
            <a:off x="6441912" y="1326032"/>
            <a:ext cx="5352369" cy="217022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7" name="Rectangle 6">
            <a:extLst>
              <a:ext uri="{FF2B5EF4-FFF2-40B4-BE49-F238E27FC236}">
                <a16:creationId xmlns:a16="http://schemas.microsoft.com/office/drawing/2014/main" id="{0517C9D5-49AC-9CA1-E5F3-5A1A806A33F8}"/>
              </a:ext>
            </a:extLst>
          </p:cNvPr>
          <p:cNvSpPr/>
          <p:nvPr userDrawn="1"/>
        </p:nvSpPr>
        <p:spPr>
          <a:xfrm>
            <a:off x="126182" y="4211787"/>
            <a:ext cx="5969818" cy="225725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5" name="Rectangle 4">
            <a:extLst>
              <a:ext uri="{FF2B5EF4-FFF2-40B4-BE49-F238E27FC236}">
                <a16:creationId xmlns:a16="http://schemas.microsoft.com/office/drawing/2014/main" id="{842A2C26-E205-E6B7-3924-B3F00935BC4F}"/>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IN" sz="2000" b="1" kern="1200" dirty="0">
                <a:solidFill>
                  <a:schemeClr val="lt1"/>
                </a:solidFill>
                <a:effectLst/>
                <a:latin typeface="Arial" panose="020B0604020202020204" pitchFamily="34" charset="0"/>
                <a:ea typeface="+mn-ea"/>
                <a:cs typeface="Arial" panose="020B0604020202020204" pitchFamily="34" charset="0"/>
              </a:rPr>
              <a:t>Financial &amp; Operational Scale</a:t>
            </a:r>
          </a:p>
        </p:txBody>
      </p:sp>
      <p:sp>
        <p:nvSpPr>
          <p:cNvPr id="3" name="TextBox 2">
            <a:extLst>
              <a:ext uri="{FF2B5EF4-FFF2-40B4-BE49-F238E27FC236}">
                <a16:creationId xmlns:a16="http://schemas.microsoft.com/office/drawing/2014/main" id="{EF2B70FC-EA3A-9BC1-136F-70C24143B8A4}"/>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4" name="Picture 3" descr="A white letter on a black background&#10;&#10;AI-generated content may be incorrect.">
            <a:extLst>
              <a:ext uri="{FF2B5EF4-FFF2-40B4-BE49-F238E27FC236}">
                <a16:creationId xmlns:a16="http://schemas.microsoft.com/office/drawing/2014/main" id="{8405219B-631A-B6C2-078E-01EE365BF882}"/>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2" name="TextBox 153">
            <a:extLst>
              <a:ext uri="{FF2B5EF4-FFF2-40B4-BE49-F238E27FC236}">
                <a16:creationId xmlns:a16="http://schemas.microsoft.com/office/drawing/2014/main" id="{A7B5FD41-65CC-DCFC-EEA0-2E9BD7A03752}"/>
              </a:ext>
            </a:extLst>
          </p:cNvPr>
          <p:cNvSpPr txBox="1"/>
          <p:nvPr userDrawn="1"/>
        </p:nvSpPr>
        <p:spPr>
          <a:xfrm>
            <a:off x="126182" y="762574"/>
            <a:ext cx="5616000" cy="345556"/>
          </a:xfrm>
          <a:prstGeom prst="roundRect">
            <a:avLst/>
          </a:prstGeom>
          <a:solidFill>
            <a:srgbClr val="0077B6">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Key Financial Metrics (FY24)</a:t>
            </a:r>
          </a:p>
        </p:txBody>
      </p:sp>
      <p:sp>
        <p:nvSpPr>
          <p:cNvPr id="6" name="TextBox 153">
            <a:extLst>
              <a:ext uri="{FF2B5EF4-FFF2-40B4-BE49-F238E27FC236}">
                <a16:creationId xmlns:a16="http://schemas.microsoft.com/office/drawing/2014/main" id="{C757E7BD-409D-85E9-63ED-AF7F5EEECDC8}"/>
              </a:ext>
            </a:extLst>
          </p:cNvPr>
          <p:cNvSpPr txBox="1"/>
          <p:nvPr userDrawn="1"/>
        </p:nvSpPr>
        <p:spPr>
          <a:xfrm>
            <a:off x="6566721" y="3750090"/>
            <a:ext cx="5352369" cy="345556"/>
          </a:xfrm>
          <a:prstGeom prst="roundRect">
            <a:avLst/>
          </a:prstGeom>
          <a:solidFill>
            <a:srgbClr val="0077B6">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Promoters v/s Non Promoters</a:t>
            </a:r>
          </a:p>
        </p:txBody>
      </p:sp>
      <p:sp>
        <p:nvSpPr>
          <p:cNvPr id="10" name="Chart Placeholder 9">
            <a:extLst>
              <a:ext uri="{FF2B5EF4-FFF2-40B4-BE49-F238E27FC236}">
                <a16:creationId xmlns:a16="http://schemas.microsoft.com/office/drawing/2014/main" id="{314BFA5B-DA44-35AB-4230-666E47503CBA}"/>
              </a:ext>
            </a:extLst>
          </p:cNvPr>
          <p:cNvSpPr>
            <a:spLocks noGrp="1"/>
          </p:cNvSpPr>
          <p:nvPr>
            <p:ph type="chart" sz="quarter" idx="10"/>
          </p:nvPr>
        </p:nvSpPr>
        <p:spPr>
          <a:xfrm>
            <a:off x="258763" y="1296988"/>
            <a:ext cx="5483225" cy="2625725"/>
          </a:xfrm>
        </p:spPr>
        <p:txBody>
          <a:bodyPr/>
          <a:lstStyle/>
          <a:p>
            <a:endParaRPr lang="en-GB"/>
          </a:p>
        </p:txBody>
      </p:sp>
      <p:sp>
        <p:nvSpPr>
          <p:cNvPr id="12" name="Chart Placeholder 11">
            <a:extLst>
              <a:ext uri="{FF2B5EF4-FFF2-40B4-BE49-F238E27FC236}">
                <a16:creationId xmlns:a16="http://schemas.microsoft.com/office/drawing/2014/main" id="{4F4B5099-C250-429F-B035-D8FD2B9191E4}"/>
              </a:ext>
            </a:extLst>
          </p:cNvPr>
          <p:cNvSpPr>
            <a:spLocks noGrp="1"/>
          </p:cNvSpPr>
          <p:nvPr>
            <p:ph type="chart" sz="quarter" idx="11"/>
          </p:nvPr>
        </p:nvSpPr>
        <p:spPr>
          <a:xfrm>
            <a:off x="6542996" y="4325144"/>
            <a:ext cx="5259387" cy="2012950"/>
          </a:xfrm>
        </p:spPr>
        <p:txBody>
          <a:bodyPr/>
          <a:lstStyle/>
          <a:p>
            <a:endParaRPr lang="en-GB"/>
          </a:p>
        </p:txBody>
      </p:sp>
      <p:sp>
        <p:nvSpPr>
          <p:cNvPr id="14" name="Text Placeholder 13">
            <a:extLst>
              <a:ext uri="{FF2B5EF4-FFF2-40B4-BE49-F238E27FC236}">
                <a16:creationId xmlns:a16="http://schemas.microsoft.com/office/drawing/2014/main" id="{2DFEA1BA-A093-DDF9-3DB8-B4A28E960CDA}"/>
              </a:ext>
            </a:extLst>
          </p:cNvPr>
          <p:cNvSpPr>
            <a:spLocks noGrp="1"/>
          </p:cNvSpPr>
          <p:nvPr>
            <p:ph type="body" sz="quarter" idx="12"/>
          </p:nvPr>
        </p:nvSpPr>
        <p:spPr>
          <a:xfrm>
            <a:off x="258763" y="4386263"/>
            <a:ext cx="5599112" cy="1890712"/>
          </a:xfrm>
        </p:spPr>
        <p:txBody>
          <a:bodyPr/>
          <a:lstStyle>
            <a:lvl1pPr>
              <a:defRPr sz="1200">
                <a:latin typeface="Arial" panose="020B06040202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5" name="TextBox 153">
            <a:extLst>
              <a:ext uri="{FF2B5EF4-FFF2-40B4-BE49-F238E27FC236}">
                <a16:creationId xmlns:a16="http://schemas.microsoft.com/office/drawing/2014/main" id="{09F7A666-201F-9258-69E7-81D59D339426}"/>
              </a:ext>
            </a:extLst>
          </p:cNvPr>
          <p:cNvSpPr txBox="1"/>
          <p:nvPr userDrawn="1"/>
        </p:nvSpPr>
        <p:spPr>
          <a:xfrm>
            <a:off x="6449820" y="797725"/>
            <a:ext cx="5352369" cy="345556"/>
          </a:xfrm>
          <a:prstGeom prst="roundRect">
            <a:avLst/>
          </a:prstGeom>
          <a:solidFill>
            <a:srgbClr val="6FACFF">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Current Endeavours</a:t>
            </a:r>
          </a:p>
        </p:txBody>
      </p:sp>
      <p:sp>
        <p:nvSpPr>
          <p:cNvPr id="16" name="Text Placeholder 13">
            <a:extLst>
              <a:ext uri="{FF2B5EF4-FFF2-40B4-BE49-F238E27FC236}">
                <a16:creationId xmlns:a16="http://schemas.microsoft.com/office/drawing/2014/main" id="{A6C93ED4-1702-7B8D-5F36-E67260FB774A}"/>
              </a:ext>
            </a:extLst>
          </p:cNvPr>
          <p:cNvSpPr>
            <a:spLocks noGrp="1"/>
          </p:cNvSpPr>
          <p:nvPr>
            <p:ph type="body" sz="quarter" idx="13"/>
          </p:nvPr>
        </p:nvSpPr>
        <p:spPr>
          <a:xfrm>
            <a:off x="6450014" y="1488859"/>
            <a:ext cx="5352369" cy="1890712"/>
          </a:xfrm>
        </p:spPr>
        <p:txBody>
          <a:bodyPr/>
          <a:lstStyle>
            <a:lvl1pPr>
              <a:defRPr sz="1200">
                <a:latin typeface="Arial" panose="020B06040202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Picture Placeholder 18">
            <a:extLst>
              <a:ext uri="{FF2B5EF4-FFF2-40B4-BE49-F238E27FC236}">
                <a16:creationId xmlns:a16="http://schemas.microsoft.com/office/drawing/2014/main" id="{50C145BC-849C-7BED-8D76-9D2CBB6027C8}"/>
              </a:ext>
            </a:extLst>
          </p:cNvPr>
          <p:cNvSpPr>
            <a:spLocks noGrp="1"/>
          </p:cNvSpPr>
          <p:nvPr>
            <p:ph type="pic" sz="quarter" idx="16"/>
          </p:nvPr>
        </p:nvSpPr>
        <p:spPr>
          <a:xfrm>
            <a:off x="11085405" y="1597483"/>
            <a:ext cx="560387" cy="584200"/>
          </a:xfrm>
        </p:spPr>
        <p:txBody>
          <a:bodyPr/>
          <a:lstStyle/>
          <a:p>
            <a:endParaRPr lang="en-GB"/>
          </a:p>
        </p:txBody>
      </p:sp>
      <p:sp>
        <p:nvSpPr>
          <p:cNvPr id="11" name="Picture Placeholder 18">
            <a:extLst>
              <a:ext uri="{FF2B5EF4-FFF2-40B4-BE49-F238E27FC236}">
                <a16:creationId xmlns:a16="http://schemas.microsoft.com/office/drawing/2014/main" id="{D8485975-C325-68AD-C16C-A6ED6801C253}"/>
              </a:ext>
            </a:extLst>
          </p:cNvPr>
          <p:cNvSpPr>
            <a:spLocks noGrp="1"/>
          </p:cNvSpPr>
          <p:nvPr>
            <p:ph type="pic" sz="quarter" idx="17"/>
          </p:nvPr>
        </p:nvSpPr>
        <p:spPr>
          <a:xfrm>
            <a:off x="5136357" y="4477512"/>
            <a:ext cx="560387" cy="584200"/>
          </a:xfrm>
        </p:spPr>
        <p:txBody>
          <a:bodyPr/>
          <a:lstStyle/>
          <a:p>
            <a:endParaRPr lang="en-GB"/>
          </a:p>
        </p:txBody>
      </p:sp>
    </p:spTree>
    <p:extLst>
      <p:ext uri="{BB962C8B-B14F-4D97-AF65-F5344CB8AC3E}">
        <p14:creationId xmlns:p14="http://schemas.microsoft.com/office/powerpoint/2010/main" val="1840751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lide_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9DE9D625-B252-EFFB-3A00-7B566DC08A6F}"/>
              </a:ext>
            </a:extLst>
          </p:cNvPr>
          <p:cNvSpPr/>
          <p:nvPr userDrawn="1"/>
        </p:nvSpPr>
        <p:spPr>
          <a:xfrm>
            <a:off x="4395498" y="2088107"/>
            <a:ext cx="3519725" cy="2839548"/>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6" name="Rectangle 5">
            <a:extLst>
              <a:ext uri="{FF2B5EF4-FFF2-40B4-BE49-F238E27FC236}">
                <a16:creationId xmlns:a16="http://schemas.microsoft.com/office/drawing/2014/main" id="{1BC3EBF0-E13C-252F-470B-3F9796752F0C}"/>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sz="2000" b="1" dirty="0">
                <a:solidFill>
                  <a:srgbClr val="FFFFFF"/>
                </a:solidFill>
                <a:latin typeface="Arial"/>
              </a:rPr>
              <a:t>Investment Highlights</a:t>
            </a:r>
            <a:endParaRPr sz="2000" b="1" dirty="0">
              <a:solidFill>
                <a:srgbClr val="FFFFFF"/>
              </a:solidFill>
              <a:latin typeface="Arial"/>
            </a:endParaRPr>
          </a:p>
        </p:txBody>
      </p:sp>
      <p:sp>
        <p:nvSpPr>
          <p:cNvPr id="4" name="TextBox 3">
            <a:extLst>
              <a:ext uri="{FF2B5EF4-FFF2-40B4-BE49-F238E27FC236}">
                <a16:creationId xmlns:a16="http://schemas.microsoft.com/office/drawing/2014/main" id="{079099D8-B111-64B9-AED3-0B81F8134912}"/>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5" name="Picture 4" descr="A white letter on a black background&#10;&#10;AI-generated content may be incorrect.">
            <a:extLst>
              <a:ext uri="{FF2B5EF4-FFF2-40B4-BE49-F238E27FC236}">
                <a16:creationId xmlns:a16="http://schemas.microsoft.com/office/drawing/2014/main" id="{20DAE98F-4E14-A8A3-15C2-ED6852567ACC}"/>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8" name="TextBox 7">
            <a:extLst>
              <a:ext uri="{FF2B5EF4-FFF2-40B4-BE49-F238E27FC236}">
                <a16:creationId xmlns:a16="http://schemas.microsoft.com/office/drawing/2014/main" id="{9C614A9E-8F95-982B-8753-47EDDA1EBD51}"/>
              </a:ext>
            </a:extLst>
          </p:cNvPr>
          <p:cNvSpPr txBox="1"/>
          <p:nvPr userDrawn="1"/>
        </p:nvSpPr>
        <p:spPr>
          <a:xfrm>
            <a:off x="445822" y="1128668"/>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5" name="TextBox 34">
            <a:extLst>
              <a:ext uri="{FF2B5EF4-FFF2-40B4-BE49-F238E27FC236}">
                <a16:creationId xmlns:a16="http://schemas.microsoft.com/office/drawing/2014/main" id="{FF534886-F3B6-8ECD-72C7-0AF52C54FDBE}"/>
              </a:ext>
            </a:extLst>
          </p:cNvPr>
          <p:cNvSpPr txBox="1"/>
          <p:nvPr userDrawn="1"/>
        </p:nvSpPr>
        <p:spPr>
          <a:xfrm>
            <a:off x="445822" y="3090275"/>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6" name="TextBox 35">
            <a:extLst>
              <a:ext uri="{FF2B5EF4-FFF2-40B4-BE49-F238E27FC236}">
                <a16:creationId xmlns:a16="http://schemas.microsoft.com/office/drawing/2014/main" id="{FC6F682F-2F9F-0CE1-8721-13E3F577FC72}"/>
              </a:ext>
            </a:extLst>
          </p:cNvPr>
          <p:cNvSpPr txBox="1"/>
          <p:nvPr userDrawn="1"/>
        </p:nvSpPr>
        <p:spPr>
          <a:xfrm>
            <a:off x="8229266" y="1128668"/>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7" name="TextBox 36">
            <a:extLst>
              <a:ext uri="{FF2B5EF4-FFF2-40B4-BE49-F238E27FC236}">
                <a16:creationId xmlns:a16="http://schemas.microsoft.com/office/drawing/2014/main" id="{AAF64F0F-101E-61D2-B3AC-357F5CB3FA39}"/>
              </a:ext>
            </a:extLst>
          </p:cNvPr>
          <p:cNvSpPr txBox="1"/>
          <p:nvPr userDrawn="1"/>
        </p:nvSpPr>
        <p:spPr>
          <a:xfrm>
            <a:off x="8229265" y="4982247"/>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2" name="TextBox 1">
            <a:extLst>
              <a:ext uri="{FF2B5EF4-FFF2-40B4-BE49-F238E27FC236}">
                <a16:creationId xmlns:a16="http://schemas.microsoft.com/office/drawing/2014/main" id="{492E92FF-7727-F376-371F-DF4984617C32}"/>
              </a:ext>
            </a:extLst>
          </p:cNvPr>
          <p:cNvSpPr txBox="1"/>
          <p:nvPr userDrawn="1"/>
        </p:nvSpPr>
        <p:spPr>
          <a:xfrm>
            <a:off x="445821" y="4960264"/>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 name="TextBox 2">
            <a:extLst>
              <a:ext uri="{FF2B5EF4-FFF2-40B4-BE49-F238E27FC236}">
                <a16:creationId xmlns:a16="http://schemas.microsoft.com/office/drawing/2014/main" id="{F8A9165A-549C-5FC1-E3B8-CC0D1FCCCBF8}"/>
              </a:ext>
            </a:extLst>
          </p:cNvPr>
          <p:cNvSpPr txBox="1"/>
          <p:nvPr userDrawn="1"/>
        </p:nvSpPr>
        <p:spPr>
          <a:xfrm>
            <a:off x="8229264" y="2982402"/>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9" name="Text Placeholder 8">
            <a:extLst>
              <a:ext uri="{FF2B5EF4-FFF2-40B4-BE49-F238E27FC236}">
                <a16:creationId xmlns:a16="http://schemas.microsoft.com/office/drawing/2014/main" id="{173ACBEE-F2CF-9F04-221F-55220E28F08D}"/>
              </a:ext>
            </a:extLst>
          </p:cNvPr>
          <p:cNvSpPr>
            <a:spLocks noGrp="1"/>
          </p:cNvSpPr>
          <p:nvPr>
            <p:ph type="body" sz="quarter" idx="10"/>
          </p:nvPr>
        </p:nvSpPr>
        <p:spPr>
          <a:xfrm>
            <a:off x="576842" y="1247000"/>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0" name="Text Placeholder 8">
            <a:extLst>
              <a:ext uri="{FF2B5EF4-FFF2-40B4-BE49-F238E27FC236}">
                <a16:creationId xmlns:a16="http://schemas.microsoft.com/office/drawing/2014/main" id="{C16A02EF-3A0A-9F69-ED41-5964EB2FB726}"/>
              </a:ext>
            </a:extLst>
          </p:cNvPr>
          <p:cNvSpPr>
            <a:spLocks noGrp="1"/>
          </p:cNvSpPr>
          <p:nvPr>
            <p:ph type="body" sz="quarter" idx="11"/>
          </p:nvPr>
        </p:nvSpPr>
        <p:spPr>
          <a:xfrm>
            <a:off x="576842" y="3208607"/>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1" name="Text Placeholder 8">
            <a:extLst>
              <a:ext uri="{FF2B5EF4-FFF2-40B4-BE49-F238E27FC236}">
                <a16:creationId xmlns:a16="http://schemas.microsoft.com/office/drawing/2014/main" id="{3279AE7B-09C6-FA87-CD67-8A56043506EF}"/>
              </a:ext>
            </a:extLst>
          </p:cNvPr>
          <p:cNvSpPr>
            <a:spLocks noGrp="1"/>
          </p:cNvSpPr>
          <p:nvPr>
            <p:ph type="body" sz="quarter" idx="12"/>
          </p:nvPr>
        </p:nvSpPr>
        <p:spPr>
          <a:xfrm>
            <a:off x="576842" y="5100579"/>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2" name="Text Placeholder 8">
            <a:extLst>
              <a:ext uri="{FF2B5EF4-FFF2-40B4-BE49-F238E27FC236}">
                <a16:creationId xmlns:a16="http://schemas.microsoft.com/office/drawing/2014/main" id="{91EFA2E5-2EED-FC30-19ED-119A4FA44F35}"/>
              </a:ext>
            </a:extLst>
          </p:cNvPr>
          <p:cNvSpPr>
            <a:spLocks noGrp="1"/>
          </p:cNvSpPr>
          <p:nvPr>
            <p:ph type="body" sz="quarter" idx="13"/>
          </p:nvPr>
        </p:nvSpPr>
        <p:spPr>
          <a:xfrm>
            <a:off x="8358148" y="5100579"/>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3" name="Text Placeholder 8">
            <a:extLst>
              <a:ext uri="{FF2B5EF4-FFF2-40B4-BE49-F238E27FC236}">
                <a16:creationId xmlns:a16="http://schemas.microsoft.com/office/drawing/2014/main" id="{9B35D539-7AB8-8443-6FCD-CB867FE8F6D5}"/>
              </a:ext>
            </a:extLst>
          </p:cNvPr>
          <p:cNvSpPr>
            <a:spLocks noGrp="1"/>
          </p:cNvSpPr>
          <p:nvPr>
            <p:ph type="body" sz="quarter" idx="14"/>
          </p:nvPr>
        </p:nvSpPr>
        <p:spPr>
          <a:xfrm>
            <a:off x="8358148" y="3090275"/>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4" name="Text Placeholder 8">
            <a:extLst>
              <a:ext uri="{FF2B5EF4-FFF2-40B4-BE49-F238E27FC236}">
                <a16:creationId xmlns:a16="http://schemas.microsoft.com/office/drawing/2014/main" id="{BE808182-B9EA-8FEC-B991-239B2BC4B72F}"/>
              </a:ext>
            </a:extLst>
          </p:cNvPr>
          <p:cNvSpPr>
            <a:spLocks noGrp="1"/>
          </p:cNvSpPr>
          <p:nvPr>
            <p:ph type="body" sz="quarter" idx="15"/>
          </p:nvPr>
        </p:nvSpPr>
        <p:spPr>
          <a:xfrm>
            <a:off x="8358148" y="1247000"/>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5" name="Picture Placeholder 14">
            <a:extLst>
              <a:ext uri="{FF2B5EF4-FFF2-40B4-BE49-F238E27FC236}">
                <a16:creationId xmlns:a16="http://schemas.microsoft.com/office/drawing/2014/main" id="{1151F41C-DF8D-8A26-5C35-EDCAA413E2E3}"/>
              </a:ext>
            </a:extLst>
          </p:cNvPr>
          <p:cNvSpPr>
            <a:spLocks noGrp="1"/>
          </p:cNvSpPr>
          <p:nvPr>
            <p:ph type="pic" sz="quarter" idx="16"/>
          </p:nvPr>
        </p:nvSpPr>
        <p:spPr>
          <a:xfrm>
            <a:off x="4586288" y="2252663"/>
            <a:ext cx="3138487" cy="2470150"/>
          </a:xfrm>
        </p:spPr>
        <p:txBody>
          <a:bodyPr/>
          <a:lstStyle/>
          <a:p>
            <a:endParaRPr lang="en-GB"/>
          </a:p>
        </p:txBody>
      </p:sp>
    </p:spTree>
    <p:extLst>
      <p:ext uri="{BB962C8B-B14F-4D97-AF65-F5344CB8AC3E}">
        <p14:creationId xmlns:p14="http://schemas.microsoft.com/office/powerpoint/2010/main" val="1010910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nding_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27CB1D8-835C-AF66-B603-006B6ECA9B61}"/>
              </a:ext>
            </a:extLst>
          </p:cNvPr>
          <p:cNvSpPr/>
          <p:nvPr userDrawn="1"/>
        </p:nvSpPr>
        <p:spPr>
          <a:xfrm>
            <a:off x="-359763" y="-191125"/>
            <a:ext cx="13211331" cy="7240249"/>
          </a:xfrm>
          <a:prstGeom prst="rect">
            <a:avLst/>
          </a:prstGeom>
          <a:solidFill>
            <a:srgbClr val="0033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8" name="TextBox 7">
            <a:extLst>
              <a:ext uri="{FF2B5EF4-FFF2-40B4-BE49-F238E27FC236}">
                <a16:creationId xmlns:a16="http://schemas.microsoft.com/office/drawing/2014/main" id="{6CA54CD8-076B-81E2-4178-71ACCDFD8043}"/>
              </a:ext>
            </a:extLst>
          </p:cNvPr>
          <p:cNvSpPr txBox="1"/>
          <p:nvPr userDrawn="1"/>
        </p:nvSpPr>
        <p:spPr>
          <a:xfrm>
            <a:off x="1" y="2540294"/>
            <a:ext cx="12192000" cy="1346522"/>
          </a:xfrm>
          <a:prstGeom prst="rect">
            <a:avLst/>
          </a:prstGeom>
          <a:noFill/>
        </p:spPr>
        <p:txBody>
          <a:bodyPr wrap="square">
            <a:spAutoFit/>
          </a:bodyPr>
          <a:lstStyle/>
          <a:p>
            <a:pPr algn="just"/>
            <a:r>
              <a:rPr lang="en-IN" sz="2000" dirty="0">
                <a:solidFill>
                  <a:schemeClr val="bg1"/>
                </a:solidFill>
                <a:latin typeface="Arial" panose="020B0604020202020204" pitchFamily="34" charset="0"/>
                <a:cs typeface="Arial" panose="020B0604020202020204" pitchFamily="34" charset="0"/>
              </a:rPr>
              <a:t>Important Notice &amp; </a:t>
            </a:r>
            <a:r>
              <a:rPr lang="en-US" sz="2000" dirty="0">
                <a:solidFill>
                  <a:schemeClr val="bg1"/>
                </a:solidFill>
                <a:latin typeface="Arial" panose="020B0604020202020204" pitchFamily="34" charset="0"/>
                <a:cs typeface="Arial" panose="020B0604020202020204" pitchFamily="34" charset="0"/>
              </a:rPr>
              <a:t>Disclaimer</a:t>
            </a:r>
          </a:p>
          <a:p>
            <a:pPr algn="just"/>
            <a:endParaRPr lang="en-US" sz="1350" b="0" dirty="0">
              <a:solidFill>
                <a:schemeClr val="bg1"/>
              </a:solidFill>
              <a:latin typeface="Arial" panose="020B0604020202020204" pitchFamily="34" charset="0"/>
              <a:cs typeface="Arial" panose="020B0604020202020204" pitchFamily="34" charset="0"/>
            </a:endParaRPr>
          </a:p>
          <a:p>
            <a:pPr algn="just"/>
            <a:r>
              <a:rPr lang="en-IN" sz="1200" b="1" dirty="0">
                <a:solidFill>
                  <a:schemeClr val="bg1"/>
                </a:solidFill>
                <a:latin typeface="Arial" panose="020B0604020202020204" pitchFamily="34" charset="0"/>
                <a:cs typeface="Arial" panose="020B0604020202020204" pitchFamily="34" charset="0"/>
              </a:rPr>
              <a:t>Strictly Private &amp; Confidential.</a:t>
            </a:r>
            <a:r>
              <a:rPr lang="en-IN" sz="1200" dirty="0">
                <a:solidFill>
                  <a:schemeClr val="bg1"/>
                </a:solidFill>
                <a:latin typeface="Arial" panose="020B0604020202020204" pitchFamily="34" charset="0"/>
                <a:cs typeface="Arial" panose="020B0604020202020204" pitchFamily="34" charset="0"/>
              </a:rPr>
              <a:t> This presentation is prepared by </a:t>
            </a:r>
            <a:r>
              <a:rPr lang="en-IN" sz="1200" b="1" dirty="0">
                <a:solidFill>
                  <a:schemeClr val="bg1"/>
                </a:solidFill>
                <a:latin typeface="Arial" panose="020B0604020202020204" pitchFamily="34" charset="0"/>
                <a:cs typeface="Arial" panose="020B0604020202020204" pitchFamily="34" charset="0"/>
              </a:rPr>
              <a:t>Kelp Global</a:t>
            </a:r>
            <a:r>
              <a:rPr lang="en-IN" sz="1200" dirty="0">
                <a:solidFill>
                  <a:schemeClr val="bg1"/>
                </a:solidFill>
                <a:latin typeface="Arial" panose="020B0604020202020204" pitchFamily="34" charset="0"/>
                <a:cs typeface="Arial" panose="020B0604020202020204" pitchFamily="34" charset="0"/>
              </a:rPr>
              <a:t> exclusively for the intended recipient and may not be reproduced or distributed without prior written consent. This document is for informational purposes only and does not constitute an offer to sell or a solicitation of an offer to buy any securities. While all information is obtained from sources believed to be reliable, Kelp Global makes no representation or warranty regarding its accuracy or completeness and accepts no liability for any loss arising from its use. This presentation contains forward-looking statements and financial projections (e.g., FY26–FY28E) based on current assumptions; actual results may vary materially.</a:t>
            </a:r>
            <a:endParaRPr lang="en-US" sz="1200" b="0" dirty="0">
              <a:solidFill>
                <a:schemeClr val="bg1"/>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9528C02C-2DF5-5316-A9C5-9681A979014E}"/>
              </a:ext>
            </a:extLst>
          </p:cNvPr>
          <p:cNvSpPr txBox="1"/>
          <p:nvPr userDrawn="1"/>
        </p:nvSpPr>
        <p:spPr>
          <a:xfrm>
            <a:off x="4459726" y="6762462"/>
            <a:ext cx="3511457" cy="230832"/>
          </a:xfrm>
          <a:prstGeom prst="rect">
            <a:avLst/>
          </a:prstGeom>
          <a:noFill/>
        </p:spPr>
        <p:txBody>
          <a:bodyPr wrap="square">
            <a:spAutoFit/>
          </a:bodyPr>
          <a:lstStyle/>
          <a:p>
            <a:r>
              <a:rPr lang="en-IN" sz="900" b="0" dirty="0">
                <a:solidFill>
                  <a:schemeClr val="bg1"/>
                </a:solidFill>
                <a:latin typeface="Arial"/>
              </a:rPr>
              <a:t>Strictly Private &amp; Confidential – Prepared by Kelp M&amp;A Team</a:t>
            </a:r>
            <a:endParaRPr lang="en-US" sz="900" dirty="0">
              <a:solidFill>
                <a:schemeClr val="bg1"/>
              </a:solidFill>
            </a:endParaRPr>
          </a:p>
        </p:txBody>
      </p:sp>
      <p:pic>
        <p:nvPicPr>
          <p:cNvPr id="10" name="Picture 9" descr="A white letter on a black background&#10;&#10;AI-generated content may be incorrect.">
            <a:extLst>
              <a:ext uri="{FF2B5EF4-FFF2-40B4-BE49-F238E27FC236}">
                <a16:creationId xmlns:a16="http://schemas.microsoft.com/office/drawing/2014/main" id="{90BC9A44-27D7-8D38-8B51-54EB762103C4}"/>
              </a:ext>
            </a:extLst>
          </p:cNvPr>
          <p:cNvPicPr>
            <a:picLocks noChangeAspect="1"/>
          </p:cNvPicPr>
          <p:nvPr userDrawn="1"/>
        </p:nvPicPr>
        <p:blipFill>
          <a:blip r:embed="rId2"/>
          <a:stretch>
            <a:fillRect/>
          </a:stretch>
        </p:blipFill>
        <p:spPr>
          <a:xfrm>
            <a:off x="196057" y="811231"/>
            <a:ext cx="1911873" cy="726707"/>
          </a:xfrm>
          <a:prstGeom prst="rect">
            <a:avLst/>
          </a:prstGeom>
        </p:spPr>
      </p:pic>
    </p:spTree>
    <p:extLst>
      <p:ext uri="{BB962C8B-B14F-4D97-AF65-F5344CB8AC3E}">
        <p14:creationId xmlns:p14="http://schemas.microsoft.com/office/powerpoint/2010/main" val="18438076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Slide_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C7C7B3B-35A8-CB14-7DE6-7597AE5727BB}"/>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sz="2000" b="1" dirty="0">
                <a:solidFill>
                  <a:srgbClr val="FFFFFF"/>
                </a:solidFill>
                <a:latin typeface="Arial" panose="020B0604020202020204" pitchFamily="34" charset="0"/>
                <a:cs typeface="Arial" panose="020B0604020202020204" pitchFamily="34" charset="0"/>
              </a:rPr>
              <a:t>Brand Overview and Market Presence</a:t>
            </a:r>
            <a:endParaRPr sz="2000" b="1" dirty="0">
              <a:solidFill>
                <a:srgbClr val="FFFFFF"/>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E1E57ECB-C669-1AC2-3C5E-2B9B86C530B4}"/>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8" name="Picture 7" descr="A white letter on a black background&#10;&#10;AI-generated content may be incorrect.">
            <a:extLst>
              <a:ext uri="{FF2B5EF4-FFF2-40B4-BE49-F238E27FC236}">
                <a16:creationId xmlns:a16="http://schemas.microsoft.com/office/drawing/2014/main" id="{40F6C2CA-BED1-72A7-775A-CD3062FAC359}"/>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4" name="TextBox 3">
            <a:extLst>
              <a:ext uri="{FF2B5EF4-FFF2-40B4-BE49-F238E27FC236}">
                <a16:creationId xmlns:a16="http://schemas.microsoft.com/office/drawing/2014/main" id="{2B57153E-0761-147E-9F8E-CD5A48F6BBA5}"/>
              </a:ext>
            </a:extLst>
          </p:cNvPr>
          <p:cNvSpPr txBox="1"/>
          <p:nvPr userDrawn="1"/>
        </p:nvSpPr>
        <p:spPr>
          <a:xfrm>
            <a:off x="146060" y="4151189"/>
            <a:ext cx="8081253" cy="414371"/>
          </a:xfrm>
          <a:prstGeom prst="rect">
            <a:avLst/>
          </a:prstGeom>
          <a:solidFill>
            <a:srgbClr val="0077B6">
              <a:alpha val="41961"/>
            </a:srgbClr>
          </a:solidFill>
        </p:spPr>
        <p:txBody>
          <a:bodyPr wrap="square" rtlCol="0">
            <a:spAutoFit/>
          </a:bodyPr>
          <a:lstStyle/>
          <a:p>
            <a:endParaRPr lang="en-GB" dirty="0"/>
          </a:p>
        </p:txBody>
      </p:sp>
      <p:sp>
        <p:nvSpPr>
          <p:cNvPr id="10" name="Rectangle 9">
            <a:extLst>
              <a:ext uri="{FF2B5EF4-FFF2-40B4-BE49-F238E27FC236}">
                <a16:creationId xmlns:a16="http://schemas.microsoft.com/office/drawing/2014/main" id="{FD12A1B1-2F44-EBD9-7484-072B4B7A20C0}"/>
              </a:ext>
            </a:extLst>
          </p:cNvPr>
          <p:cNvSpPr/>
          <p:nvPr userDrawn="1"/>
        </p:nvSpPr>
        <p:spPr>
          <a:xfrm>
            <a:off x="146059" y="1354422"/>
            <a:ext cx="8017579" cy="25138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1" name="TextBox 10">
            <a:extLst>
              <a:ext uri="{FF2B5EF4-FFF2-40B4-BE49-F238E27FC236}">
                <a16:creationId xmlns:a16="http://schemas.microsoft.com/office/drawing/2014/main" id="{67E60B4F-D735-2076-55BD-B7B41AD03D44}"/>
              </a:ext>
            </a:extLst>
          </p:cNvPr>
          <p:cNvSpPr txBox="1"/>
          <p:nvPr userDrawn="1"/>
        </p:nvSpPr>
        <p:spPr>
          <a:xfrm>
            <a:off x="154287" y="798749"/>
            <a:ext cx="8115271" cy="414372"/>
          </a:xfrm>
          <a:prstGeom prst="rect">
            <a:avLst/>
          </a:prstGeom>
          <a:solidFill>
            <a:srgbClr val="6FACFF">
              <a:alpha val="41961"/>
            </a:srgbClr>
          </a:solidFill>
        </p:spPr>
        <p:txBody>
          <a:bodyPr wrap="square" rtlCol="0">
            <a:spAutoFit/>
          </a:bodyPr>
          <a:lstStyle/>
          <a:p>
            <a:endParaRPr lang="en-GB" dirty="0"/>
          </a:p>
        </p:txBody>
      </p:sp>
      <p:sp>
        <p:nvSpPr>
          <p:cNvPr id="12" name="TextBox 11">
            <a:extLst>
              <a:ext uri="{FF2B5EF4-FFF2-40B4-BE49-F238E27FC236}">
                <a16:creationId xmlns:a16="http://schemas.microsoft.com/office/drawing/2014/main" id="{DEA8438F-5D82-EB08-3BF9-9C884B9375DA}"/>
              </a:ext>
            </a:extLst>
          </p:cNvPr>
          <p:cNvSpPr txBox="1"/>
          <p:nvPr userDrawn="1"/>
        </p:nvSpPr>
        <p:spPr>
          <a:xfrm>
            <a:off x="8571893" y="3845798"/>
            <a:ext cx="3474046" cy="414371"/>
          </a:xfrm>
          <a:prstGeom prst="rect">
            <a:avLst/>
          </a:prstGeom>
          <a:solidFill>
            <a:srgbClr val="0077B6">
              <a:alpha val="42745"/>
            </a:srgbClr>
          </a:solidFill>
        </p:spPr>
        <p:txBody>
          <a:bodyPr wrap="square" rtlCol="0">
            <a:spAutoFit/>
          </a:bodyPr>
          <a:lstStyle/>
          <a:p>
            <a:endParaRPr lang="en-GB" dirty="0"/>
          </a:p>
        </p:txBody>
      </p:sp>
      <p:cxnSp>
        <p:nvCxnSpPr>
          <p:cNvPr id="13" name="Straight Connector 12">
            <a:extLst>
              <a:ext uri="{FF2B5EF4-FFF2-40B4-BE49-F238E27FC236}">
                <a16:creationId xmlns:a16="http://schemas.microsoft.com/office/drawing/2014/main" id="{02AF2439-D35F-B769-B7D1-D7E48C243F13}"/>
              </a:ext>
            </a:extLst>
          </p:cNvPr>
          <p:cNvCxnSpPr>
            <a:cxnSpLocks/>
          </p:cNvCxnSpPr>
          <p:nvPr userDrawn="1"/>
        </p:nvCxnSpPr>
        <p:spPr>
          <a:xfrm>
            <a:off x="8389194" y="631993"/>
            <a:ext cx="0" cy="6226007"/>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162F7883-A476-5852-F143-B3DFA7053835}"/>
              </a:ext>
            </a:extLst>
          </p:cNvPr>
          <p:cNvSpPr/>
          <p:nvPr userDrawn="1"/>
        </p:nvSpPr>
        <p:spPr>
          <a:xfrm>
            <a:off x="8571893" y="1395641"/>
            <a:ext cx="3431797" cy="22810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7" name="TextBox 16">
            <a:extLst>
              <a:ext uri="{FF2B5EF4-FFF2-40B4-BE49-F238E27FC236}">
                <a16:creationId xmlns:a16="http://schemas.microsoft.com/office/drawing/2014/main" id="{9B693A0E-7104-1EF4-C199-ABE4EA9337B0}"/>
              </a:ext>
            </a:extLst>
          </p:cNvPr>
          <p:cNvSpPr txBox="1"/>
          <p:nvPr userDrawn="1"/>
        </p:nvSpPr>
        <p:spPr>
          <a:xfrm>
            <a:off x="8508829" y="828876"/>
            <a:ext cx="3474046" cy="414371"/>
          </a:xfrm>
          <a:prstGeom prst="rect">
            <a:avLst/>
          </a:prstGeom>
          <a:solidFill>
            <a:srgbClr val="6FACFF">
              <a:alpha val="42745"/>
            </a:srgbClr>
          </a:solidFill>
        </p:spPr>
        <p:txBody>
          <a:bodyPr wrap="square" rtlCol="0">
            <a:spAutoFit/>
          </a:bodyPr>
          <a:lstStyle/>
          <a:p>
            <a:endParaRPr lang="en-GB" dirty="0"/>
          </a:p>
        </p:txBody>
      </p:sp>
      <p:sp>
        <p:nvSpPr>
          <p:cNvPr id="18" name="Rectangle 17">
            <a:extLst>
              <a:ext uri="{FF2B5EF4-FFF2-40B4-BE49-F238E27FC236}">
                <a16:creationId xmlns:a16="http://schemas.microsoft.com/office/drawing/2014/main" id="{0CD2EF22-2305-CBCF-7392-90504AAC5F5D}"/>
              </a:ext>
            </a:extLst>
          </p:cNvPr>
          <p:cNvSpPr/>
          <p:nvPr userDrawn="1"/>
        </p:nvSpPr>
        <p:spPr>
          <a:xfrm>
            <a:off x="188308" y="4693425"/>
            <a:ext cx="8081252" cy="18058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 name="Text Placeholder 2">
            <a:extLst>
              <a:ext uri="{FF2B5EF4-FFF2-40B4-BE49-F238E27FC236}">
                <a16:creationId xmlns:a16="http://schemas.microsoft.com/office/drawing/2014/main" id="{13C21514-8574-AB3F-FED4-0D5790A63814}"/>
              </a:ext>
            </a:extLst>
          </p:cNvPr>
          <p:cNvSpPr>
            <a:spLocks noGrp="1"/>
          </p:cNvSpPr>
          <p:nvPr>
            <p:ph type="body" sz="quarter" idx="10"/>
          </p:nvPr>
        </p:nvSpPr>
        <p:spPr>
          <a:xfrm>
            <a:off x="236262" y="1417132"/>
            <a:ext cx="8017580" cy="2388473"/>
          </a:xfrm>
        </p:spPr>
        <p:txBody>
          <a:bodyPr>
            <a:normAutofit/>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Text Placeholder 8">
            <a:extLst>
              <a:ext uri="{FF2B5EF4-FFF2-40B4-BE49-F238E27FC236}">
                <a16:creationId xmlns:a16="http://schemas.microsoft.com/office/drawing/2014/main" id="{48EB1D40-3674-BBC3-BA3D-593FBC536801}"/>
              </a:ext>
            </a:extLst>
          </p:cNvPr>
          <p:cNvSpPr>
            <a:spLocks noGrp="1"/>
          </p:cNvSpPr>
          <p:nvPr>
            <p:ph type="body" sz="quarter" idx="11"/>
          </p:nvPr>
        </p:nvSpPr>
        <p:spPr>
          <a:xfrm>
            <a:off x="379773" y="4865557"/>
            <a:ext cx="7550150" cy="1420812"/>
          </a:xfrm>
        </p:spPr>
        <p:txBody>
          <a:bodyPr>
            <a:normAutofit/>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 name="TextBox 1">
            <a:extLst>
              <a:ext uri="{FF2B5EF4-FFF2-40B4-BE49-F238E27FC236}">
                <a16:creationId xmlns:a16="http://schemas.microsoft.com/office/drawing/2014/main" id="{4956E25C-1867-5A97-A053-74EF89CF8053}"/>
              </a:ext>
            </a:extLst>
          </p:cNvPr>
          <p:cNvSpPr txBox="1"/>
          <p:nvPr userDrawn="1"/>
        </p:nvSpPr>
        <p:spPr>
          <a:xfrm>
            <a:off x="154288" y="814857"/>
            <a:ext cx="512805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Brand Overview</a:t>
            </a:r>
          </a:p>
        </p:txBody>
      </p:sp>
      <p:sp>
        <p:nvSpPr>
          <p:cNvPr id="5" name="TextBox 4">
            <a:extLst>
              <a:ext uri="{FF2B5EF4-FFF2-40B4-BE49-F238E27FC236}">
                <a16:creationId xmlns:a16="http://schemas.microsoft.com/office/drawing/2014/main" id="{A954834B-3DF1-23D9-5C4D-4A6C8E23F765}"/>
              </a:ext>
            </a:extLst>
          </p:cNvPr>
          <p:cNvSpPr txBox="1"/>
          <p:nvPr userDrawn="1"/>
        </p:nvSpPr>
        <p:spPr>
          <a:xfrm>
            <a:off x="8571893" y="3868317"/>
            <a:ext cx="3066601"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Certifications</a:t>
            </a:r>
          </a:p>
        </p:txBody>
      </p:sp>
      <p:sp>
        <p:nvSpPr>
          <p:cNvPr id="14" name="TextBox 13">
            <a:extLst>
              <a:ext uri="{FF2B5EF4-FFF2-40B4-BE49-F238E27FC236}">
                <a16:creationId xmlns:a16="http://schemas.microsoft.com/office/drawing/2014/main" id="{39F8FA0A-4415-E7B6-228E-46B151ECBCE6}"/>
              </a:ext>
            </a:extLst>
          </p:cNvPr>
          <p:cNvSpPr txBox="1"/>
          <p:nvPr userDrawn="1"/>
        </p:nvSpPr>
        <p:spPr>
          <a:xfrm>
            <a:off x="188308" y="4173708"/>
            <a:ext cx="512805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Portfolio and Products</a:t>
            </a:r>
          </a:p>
        </p:txBody>
      </p:sp>
      <p:sp>
        <p:nvSpPr>
          <p:cNvPr id="20" name="Picture Placeholder 19">
            <a:extLst>
              <a:ext uri="{FF2B5EF4-FFF2-40B4-BE49-F238E27FC236}">
                <a16:creationId xmlns:a16="http://schemas.microsoft.com/office/drawing/2014/main" id="{F701B351-9295-2343-7729-22B37578850C}"/>
              </a:ext>
            </a:extLst>
          </p:cNvPr>
          <p:cNvSpPr>
            <a:spLocks noGrp="1"/>
          </p:cNvSpPr>
          <p:nvPr>
            <p:ph type="pic" sz="quarter" idx="12"/>
          </p:nvPr>
        </p:nvSpPr>
        <p:spPr>
          <a:xfrm>
            <a:off x="9701086" y="4479735"/>
            <a:ext cx="1089531" cy="991109"/>
          </a:xfrm>
        </p:spPr>
        <p:txBody>
          <a:bodyPr/>
          <a:lstStyle/>
          <a:p>
            <a:endParaRPr lang="en-GB"/>
          </a:p>
        </p:txBody>
      </p:sp>
      <p:sp>
        <p:nvSpPr>
          <p:cNvPr id="21" name="Picture Placeholder 19">
            <a:extLst>
              <a:ext uri="{FF2B5EF4-FFF2-40B4-BE49-F238E27FC236}">
                <a16:creationId xmlns:a16="http://schemas.microsoft.com/office/drawing/2014/main" id="{E5F74BA3-8C7A-8938-B580-623C8CA528D7}"/>
              </a:ext>
            </a:extLst>
          </p:cNvPr>
          <p:cNvSpPr>
            <a:spLocks noGrp="1"/>
          </p:cNvSpPr>
          <p:nvPr>
            <p:ph type="pic" sz="quarter" idx="13"/>
          </p:nvPr>
        </p:nvSpPr>
        <p:spPr>
          <a:xfrm>
            <a:off x="8826504" y="5574632"/>
            <a:ext cx="1089535" cy="908983"/>
          </a:xfrm>
        </p:spPr>
        <p:txBody>
          <a:bodyPr/>
          <a:lstStyle/>
          <a:p>
            <a:endParaRPr lang="en-GB"/>
          </a:p>
        </p:txBody>
      </p:sp>
      <p:sp>
        <p:nvSpPr>
          <p:cNvPr id="22" name="Picture Placeholder 19">
            <a:extLst>
              <a:ext uri="{FF2B5EF4-FFF2-40B4-BE49-F238E27FC236}">
                <a16:creationId xmlns:a16="http://schemas.microsoft.com/office/drawing/2014/main" id="{EFC57E91-D73D-F1D4-2CD5-581EA200A756}"/>
              </a:ext>
            </a:extLst>
          </p:cNvPr>
          <p:cNvSpPr>
            <a:spLocks noGrp="1"/>
          </p:cNvSpPr>
          <p:nvPr>
            <p:ph type="pic" sz="quarter" idx="14"/>
          </p:nvPr>
        </p:nvSpPr>
        <p:spPr>
          <a:xfrm>
            <a:off x="10548962" y="5596364"/>
            <a:ext cx="1089532" cy="887251"/>
          </a:xfrm>
        </p:spPr>
        <p:txBody>
          <a:bodyPr/>
          <a:lstStyle/>
          <a:p>
            <a:endParaRPr lang="en-GB"/>
          </a:p>
        </p:txBody>
      </p:sp>
      <p:sp>
        <p:nvSpPr>
          <p:cNvPr id="23" name="TextBox 22">
            <a:extLst>
              <a:ext uri="{FF2B5EF4-FFF2-40B4-BE49-F238E27FC236}">
                <a16:creationId xmlns:a16="http://schemas.microsoft.com/office/drawing/2014/main" id="{D0F51ADC-19AC-CC4C-101E-F9EA157D172C}"/>
              </a:ext>
            </a:extLst>
          </p:cNvPr>
          <p:cNvSpPr txBox="1"/>
          <p:nvPr userDrawn="1"/>
        </p:nvSpPr>
        <p:spPr>
          <a:xfrm>
            <a:off x="8541487" y="850054"/>
            <a:ext cx="309701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At a Glance</a:t>
            </a:r>
          </a:p>
        </p:txBody>
      </p:sp>
      <p:sp>
        <p:nvSpPr>
          <p:cNvPr id="25" name="Text Placeholder 24">
            <a:extLst>
              <a:ext uri="{FF2B5EF4-FFF2-40B4-BE49-F238E27FC236}">
                <a16:creationId xmlns:a16="http://schemas.microsoft.com/office/drawing/2014/main" id="{79C7AF37-8E24-7EC6-C84D-1E144C153BAA}"/>
              </a:ext>
            </a:extLst>
          </p:cNvPr>
          <p:cNvSpPr>
            <a:spLocks noGrp="1"/>
          </p:cNvSpPr>
          <p:nvPr>
            <p:ph type="body" sz="quarter" idx="15"/>
          </p:nvPr>
        </p:nvSpPr>
        <p:spPr>
          <a:xfrm>
            <a:off x="8674226" y="1479907"/>
            <a:ext cx="3143250" cy="2219325"/>
          </a:xfrm>
        </p:spPr>
        <p:txBody>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9" name="Picture Placeholder 18">
            <a:extLst>
              <a:ext uri="{FF2B5EF4-FFF2-40B4-BE49-F238E27FC236}">
                <a16:creationId xmlns:a16="http://schemas.microsoft.com/office/drawing/2014/main" id="{FAD83EC9-39E7-8960-FB4A-66247F4FE61D}"/>
              </a:ext>
            </a:extLst>
          </p:cNvPr>
          <p:cNvSpPr>
            <a:spLocks noGrp="1"/>
          </p:cNvSpPr>
          <p:nvPr>
            <p:ph type="pic" sz="quarter" idx="16"/>
          </p:nvPr>
        </p:nvSpPr>
        <p:spPr>
          <a:xfrm>
            <a:off x="7560074" y="1480079"/>
            <a:ext cx="560387" cy="584200"/>
          </a:xfrm>
        </p:spPr>
        <p:txBody>
          <a:bodyPr/>
          <a:lstStyle/>
          <a:p>
            <a:endParaRPr lang="en-GB"/>
          </a:p>
        </p:txBody>
      </p:sp>
      <p:sp>
        <p:nvSpPr>
          <p:cNvPr id="24" name="Picture Placeholder 18">
            <a:extLst>
              <a:ext uri="{FF2B5EF4-FFF2-40B4-BE49-F238E27FC236}">
                <a16:creationId xmlns:a16="http://schemas.microsoft.com/office/drawing/2014/main" id="{79B0485E-332F-E3ED-5180-4C38D7877684}"/>
              </a:ext>
            </a:extLst>
          </p:cNvPr>
          <p:cNvSpPr>
            <a:spLocks noGrp="1"/>
          </p:cNvSpPr>
          <p:nvPr>
            <p:ph type="pic" sz="quarter" idx="17"/>
          </p:nvPr>
        </p:nvSpPr>
        <p:spPr>
          <a:xfrm>
            <a:off x="7542089" y="5012164"/>
            <a:ext cx="560387" cy="584200"/>
          </a:xfrm>
        </p:spPr>
        <p:txBody>
          <a:bodyPr/>
          <a:lstStyle/>
          <a:p>
            <a:endParaRPr lang="en-GB"/>
          </a:p>
        </p:txBody>
      </p:sp>
      <p:sp>
        <p:nvSpPr>
          <p:cNvPr id="26" name="Picture Placeholder 18">
            <a:extLst>
              <a:ext uri="{FF2B5EF4-FFF2-40B4-BE49-F238E27FC236}">
                <a16:creationId xmlns:a16="http://schemas.microsoft.com/office/drawing/2014/main" id="{17DCE210-3387-3CE1-1570-6E59B39B6E98}"/>
              </a:ext>
            </a:extLst>
          </p:cNvPr>
          <p:cNvSpPr>
            <a:spLocks noGrp="1"/>
          </p:cNvSpPr>
          <p:nvPr>
            <p:ph type="pic" sz="quarter" idx="18"/>
          </p:nvPr>
        </p:nvSpPr>
        <p:spPr>
          <a:xfrm>
            <a:off x="11362809" y="1522913"/>
            <a:ext cx="560387" cy="584200"/>
          </a:xfrm>
        </p:spPr>
        <p:txBody>
          <a:bodyPr/>
          <a:lstStyle/>
          <a:p>
            <a:endParaRPr lang="en-GB"/>
          </a:p>
        </p:txBody>
      </p:sp>
    </p:spTree>
    <p:extLst>
      <p:ext uri="{BB962C8B-B14F-4D97-AF65-F5344CB8AC3E}">
        <p14:creationId xmlns:p14="http://schemas.microsoft.com/office/powerpoint/2010/main" val="30586007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lide_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2318C7D-B421-4556-7BFD-CC04951D942A}"/>
              </a:ext>
            </a:extLst>
          </p:cNvPr>
          <p:cNvSpPr/>
          <p:nvPr userDrawn="1"/>
        </p:nvSpPr>
        <p:spPr>
          <a:xfrm>
            <a:off x="6441912" y="1326032"/>
            <a:ext cx="5352369" cy="217022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7" name="Rectangle 6">
            <a:extLst>
              <a:ext uri="{FF2B5EF4-FFF2-40B4-BE49-F238E27FC236}">
                <a16:creationId xmlns:a16="http://schemas.microsoft.com/office/drawing/2014/main" id="{0517C9D5-49AC-9CA1-E5F3-5A1A806A33F8}"/>
              </a:ext>
            </a:extLst>
          </p:cNvPr>
          <p:cNvSpPr/>
          <p:nvPr userDrawn="1"/>
        </p:nvSpPr>
        <p:spPr>
          <a:xfrm>
            <a:off x="126182" y="4211787"/>
            <a:ext cx="5969818" cy="225725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5" name="Rectangle 4">
            <a:extLst>
              <a:ext uri="{FF2B5EF4-FFF2-40B4-BE49-F238E27FC236}">
                <a16:creationId xmlns:a16="http://schemas.microsoft.com/office/drawing/2014/main" id="{842A2C26-E205-E6B7-3924-B3F00935BC4F}"/>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IN" sz="2000" b="1" kern="1200" dirty="0">
                <a:solidFill>
                  <a:schemeClr val="lt1"/>
                </a:solidFill>
                <a:effectLst/>
                <a:latin typeface="Arial" panose="020B0604020202020204" pitchFamily="34" charset="0"/>
                <a:ea typeface="+mn-ea"/>
                <a:cs typeface="Arial" panose="020B0604020202020204" pitchFamily="34" charset="0"/>
              </a:rPr>
              <a:t>Growth and Unit Economics</a:t>
            </a:r>
          </a:p>
        </p:txBody>
      </p:sp>
      <p:sp>
        <p:nvSpPr>
          <p:cNvPr id="3" name="TextBox 2">
            <a:extLst>
              <a:ext uri="{FF2B5EF4-FFF2-40B4-BE49-F238E27FC236}">
                <a16:creationId xmlns:a16="http://schemas.microsoft.com/office/drawing/2014/main" id="{EF2B70FC-EA3A-9BC1-136F-70C24143B8A4}"/>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4" name="Picture 3" descr="A white letter on a black background&#10;&#10;AI-generated content may be incorrect.">
            <a:extLst>
              <a:ext uri="{FF2B5EF4-FFF2-40B4-BE49-F238E27FC236}">
                <a16:creationId xmlns:a16="http://schemas.microsoft.com/office/drawing/2014/main" id="{8405219B-631A-B6C2-078E-01EE365BF882}"/>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2" name="TextBox 153">
            <a:extLst>
              <a:ext uri="{FF2B5EF4-FFF2-40B4-BE49-F238E27FC236}">
                <a16:creationId xmlns:a16="http://schemas.microsoft.com/office/drawing/2014/main" id="{A7B5FD41-65CC-DCFC-EEA0-2E9BD7A03752}"/>
              </a:ext>
            </a:extLst>
          </p:cNvPr>
          <p:cNvSpPr txBox="1"/>
          <p:nvPr userDrawn="1"/>
        </p:nvSpPr>
        <p:spPr>
          <a:xfrm>
            <a:off x="126182" y="762574"/>
            <a:ext cx="5616000" cy="345556"/>
          </a:xfrm>
          <a:prstGeom prst="roundRect">
            <a:avLst/>
          </a:prstGeom>
          <a:solidFill>
            <a:srgbClr val="0077B6">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Growth</a:t>
            </a:r>
          </a:p>
        </p:txBody>
      </p:sp>
      <p:sp>
        <p:nvSpPr>
          <p:cNvPr id="6" name="TextBox 153">
            <a:extLst>
              <a:ext uri="{FF2B5EF4-FFF2-40B4-BE49-F238E27FC236}">
                <a16:creationId xmlns:a16="http://schemas.microsoft.com/office/drawing/2014/main" id="{C757E7BD-409D-85E9-63ED-AF7F5EEECDC8}"/>
              </a:ext>
            </a:extLst>
          </p:cNvPr>
          <p:cNvSpPr txBox="1"/>
          <p:nvPr userDrawn="1"/>
        </p:nvSpPr>
        <p:spPr>
          <a:xfrm>
            <a:off x="6566721" y="3750090"/>
            <a:ext cx="5352369" cy="345556"/>
          </a:xfrm>
          <a:prstGeom prst="roundRect">
            <a:avLst/>
          </a:prstGeom>
          <a:solidFill>
            <a:srgbClr val="0077B6">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Promoters v/s Non Promoters</a:t>
            </a:r>
          </a:p>
        </p:txBody>
      </p:sp>
      <p:sp>
        <p:nvSpPr>
          <p:cNvPr id="10" name="Chart Placeholder 9">
            <a:extLst>
              <a:ext uri="{FF2B5EF4-FFF2-40B4-BE49-F238E27FC236}">
                <a16:creationId xmlns:a16="http://schemas.microsoft.com/office/drawing/2014/main" id="{314BFA5B-DA44-35AB-4230-666E47503CBA}"/>
              </a:ext>
            </a:extLst>
          </p:cNvPr>
          <p:cNvSpPr>
            <a:spLocks noGrp="1"/>
          </p:cNvSpPr>
          <p:nvPr>
            <p:ph type="chart" sz="quarter" idx="10"/>
          </p:nvPr>
        </p:nvSpPr>
        <p:spPr>
          <a:xfrm>
            <a:off x="258763" y="1296988"/>
            <a:ext cx="5483225" cy="2625725"/>
          </a:xfrm>
        </p:spPr>
        <p:txBody>
          <a:bodyPr/>
          <a:lstStyle/>
          <a:p>
            <a:endParaRPr lang="en-GB"/>
          </a:p>
        </p:txBody>
      </p:sp>
      <p:sp>
        <p:nvSpPr>
          <p:cNvPr id="12" name="Chart Placeholder 11">
            <a:extLst>
              <a:ext uri="{FF2B5EF4-FFF2-40B4-BE49-F238E27FC236}">
                <a16:creationId xmlns:a16="http://schemas.microsoft.com/office/drawing/2014/main" id="{4F4B5099-C250-429F-B035-D8FD2B9191E4}"/>
              </a:ext>
            </a:extLst>
          </p:cNvPr>
          <p:cNvSpPr>
            <a:spLocks noGrp="1"/>
          </p:cNvSpPr>
          <p:nvPr>
            <p:ph type="chart" sz="quarter" idx="11"/>
          </p:nvPr>
        </p:nvSpPr>
        <p:spPr>
          <a:xfrm>
            <a:off x="6542996" y="4325144"/>
            <a:ext cx="5259387" cy="2012950"/>
          </a:xfrm>
        </p:spPr>
        <p:txBody>
          <a:bodyPr/>
          <a:lstStyle/>
          <a:p>
            <a:endParaRPr lang="en-GB"/>
          </a:p>
        </p:txBody>
      </p:sp>
      <p:sp>
        <p:nvSpPr>
          <p:cNvPr id="14" name="Text Placeholder 13">
            <a:extLst>
              <a:ext uri="{FF2B5EF4-FFF2-40B4-BE49-F238E27FC236}">
                <a16:creationId xmlns:a16="http://schemas.microsoft.com/office/drawing/2014/main" id="{2DFEA1BA-A093-DDF9-3DB8-B4A28E960CDA}"/>
              </a:ext>
            </a:extLst>
          </p:cNvPr>
          <p:cNvSpPr>
            <a:spLocks noGrp="1"/>
          </p:cNvSpPr>
          <p:nvPr>
            <p:ph type="body" sz="quarter" idx="12"/>
          </p:nvPr>
        </p:nvSpPr>
        <p:spPr>
          <a:xfrm>
            <a:off x="258763" y="4386263"/>
            <a:ext cx="5599112" cy="1890712"/>
          </a:xfrm>
        </p:spPr>
        <p:txBody>
          <a:bodyPr/>
          <a:lstStyle>
            <a:lvl1pPr>
              <a:defRPr sz="1200">
                <a:latin typeface="Arial" panose="020B06040202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5" name="TextBox 153">
            <a:extLst>
              <a:ext uri="{FF2B5EF4-FFF2-40B4-BE49-F238E27FC236}">
                <a16:creationId xmlns:a16="http://schemas.microsoft.com/office/drawing/2014/main" id="{09F7A666-201F-9258-69E7-81D59D339426}"/>
              </a:ext>
            </a:extLst>
          </p:cNvPr>
          <p:cNvSpPr txBox="1"/>
          <p:nvPr userDrawn="1"/>
        </p:nvSpPr>
        <p:spPr>
          <a:xfrm>
            <a:off x="6449820" y="797725"/>
            <a:ext cx="5352369" cy="345556"/>
          </a:xfrm>
          <a:prstGeom prst="roundRect">
            <a:avLst/>
          </a:prstGeom>
          <a:solidFill>
            <a:srgbClr val="6FACFF">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Current Endeavours</a:t>
            </a:r>
          </a:p>
        </p:txBody>
      </p:sp>
      <p:sp>
        <p:nvSpPr>
          <p:cNvPr id="16" name="Text Placeholder 13">
            <a:extLst>
              <a:ext uri="{FF2B5EF4-FFF2-40B4-BE49-F238E27FC236}">
                <a16:creationId xmlns:a16="http://schemas.microsoft.com/office/drawing/2014/main" id="{A6C93ED4-1702-7B8D-5F36-E67260FB774A}"/>
              </a:ext>
            </a:extLst>
          </p:cNvPr>
          <p:cNvSpPr>
            <a:spLocks noGrp="1"/>
          </p:cNvSpPr>
          <p:nvPr>
            <p:ph type="body" sz="quarter" idx="13"/>
          </p:nvPr>
        </p:nvSpPr>
        <p:spPr>
          <a:xfrm>
            <a:off x="6450014" y="1488859"/>
            <a:ext cx="5352369" cy="1890712"/>
          </a:xfrm>
        </p:spPr>
        <p:txBody>
          <a:bodyPr/>
          <a:lstStyle>
            <a:lvl1pPr>
              <a:defRPr sz="1200">
                <a:latin typeface="Arial" panose="020B06040202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Picture Placeholder 18">
            <a:extLst>
              <a:ext uri="{FF2B5EF4-FFF2-40B4-BE49-F238E27FC236}">
                <a16:creationId xmlns:a16="http://schemas.microsoft.com/office/drawing/2014/main" id="{50C145BC-849C-7BED-8D76-9D2CBB6027C8}"/>
              </a:ext>
            </a:extLst>
          </p:cNvPr>
          <p:cNvSpPr>
            <a:spLocks noGrp="1"/>
          </p:cNvSpPr>
          <p:nvPr>
            <p:ph type="pic" sz="quarter" idx="16"/>
          </p:nvPr>
        </p:nvSpPr>
        <p:spPr>
          <a:xfrm>
            <a:off x="11085405" y="1597483"/>
            <a:ext cx="560387" cy="584200"/>
          </a:xfrm>
        </p:spPr>
        <p:txBody>
          <a:bodyPr/>
          <a:lstStyle/>
          <a:p>
            <a:endParaRPr lang="en-GB"/>
          </a:p>
        </p:txBody>
      </p:sp>
      <p:sp>
        <p:nvSpPr>
          <p:cNvPr id="11" name="Picture Placeholder 18">
            <a:extLst>
              <a:ext uri="{FF2B5EF4-FFF2-40B4-BE49-F238E27FC236}">
                <a16:creationId xmlns:a16="http://schemas.microsoft.com/office/drawing/2014/main" id="{D8485975-C325-68AD-C16C-A6ED6801C253}"/>
              </a:ext>
            </a:extLst>
          </p:cNvPr>
          <p:cNvSpPr>
            <a:spLocks noGrp="1"/>
          </p:cNvSpPr>
          <p:nvPr>
            <p:ph type="pic" sz="quarter" idx="17"/>
          </p:nvPr>
        </p:nvSpPr>
        <p:spPr>
          <a:xfrm>
            <a:off x="5136357" y="4477512"/>
            <a:ext cx="560387" cy="584200"/>
          </a:xfrm>
        </p:spPr>
        <p:txBody>
          <a:bodyPr/>
          <a:lstStyle/>
          <a:p>
            <a:endParaRPr lang="en-GB"/>
          </a:p>
        </p:txBody>
      </p:sp>
    </p:spTree>
    <p:extLst>
      <p:ext uri="{BB962C8B-B14F-4D97-AF65-F5344CB8AC3E}">
        <p14:creationId xmlns:p14="http://schemas.microsoft.com/office/powerpoint/2010/main" val="49592600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4634" y="484094"/>
            <a:ext cx="10075084" cy="1116106"/>
          </a:xfrm>
          <a:prstGeom prst="rect">
            <a:avLst/>
          </a:prstGeom>
        </p:spPr>
        <p:txBody>
          <a:bodyPr vert="horz" lIns="91440" tIns="45720" rIns="91440" bIns="45720" rtlCol="0" anchor="t" anchorCtr="0">
            <a:noAutofit/>
          </a:bodyPr>
          <a:lstStyle/>
          <a:p>
            <a:r>
              <a:rPr lang="en-GB"/>
              <a:t>Click to edit Master title style</a:t>
            </a:r>
            <a:endParaRPr/>
          </a:p>
        </p:txBody>
      </p:sp>
      <p:sp>
        <p:nvSpPr>
          <p:cNvPr id="3" name="Text Placeholder 2"/>
          <p:cNvSpPr>
            <a:spLocks noGrp="1"/>
          </p:cNvSpPr>
          <p:nvPr>
            <p:ph type="body" idx="1"/>
          </p:nvPr>
        </p:nvSpPr>
        <p:spPr>
          <a:xfrm>
            <a:off x="664634" y="1981203"/>
            <a:ext cx="10075084" cy="41449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2"/>
          </p:nvPr>
        </p:nvSpPr>
        <p:spPr>
          <a:xfrm>
            <a:off x="9060329" y="6423588"/>
            <a:ext cx="2844800" cy="365125"/>
          </a:xfrm>
          <a:prstGeom prst="rect">
            <a:avLst/>
          </a:prstGeom>
        </p:spPr>
        <p:txBody>
          <a:bodyPr vert="horz" lIns="91440" tIns="45720" rIns="91440" bIns="45720" rtlCol="0" anchor="ctr"/>
          <a:lstStyle>
            <a:lvl1pPr algn="r">
              <a:defRPr sz="825">
                <a:solidFill>
                  <a:schemeClr val="tx1">
                    <a:lumMod val="65000"/>
                    <a:lumOff val="35000"/>
                  </a:schemeClr>
                </a:solidFill>
              </a:defRPr>
            </a:lvl1pPr>
          </a:lstStyle>
          <a:p>
            <a:fld id="{E3AE72C7-7358-2242-B91F-8F564DC30B2C}" type="datetimeFigureOut">
              <a:rPr lang="en-US" smtClean="0"/>
              <a:t>2/4/26</a:t>
            </a:fld>
            <a:endParaRPr lang="en-US"/>
          </a:p>
        </p:txBody>
      </p:sp>
      <p:sp>
        <p:nvSpPr>
          <p:cNvPr id="5" name="Footer Placeholder 4"/>
          <p:cNvSpPr>
            <a:spLocks noGrp="1"/>
          </p:cNvSpPr>
          <p:nvPr>
            <p:ph type="ftr" sz="quarter" idx="3"/>
          </p:nvPr>
        </p:nvSpPr>
        <p:spPr>
          <a:xfrm>
            <a:off x="268941" y="6423588"/>
            <a:ext cx="8163859" cy="365125"/>
          </a:xfrm>
          <a:prstGeom prst="rect">
            <a:avLst/>
          </a:prstGeom>
        </p:spPr>
        <p:txBody>
          <a:bodyPr vert="horz" lIns="91440" tIns="45720" rIns="91440" bIns="45720" rtlCol="0" anchor="ctr"/>
          <a:lstStyle>
            <a:lvl1pPr algn="l">
              <a:defRPr sz="825">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11074400" y="242236"/>
            <a:ext cx="738717" cy="365125"/>
          </a:xfrm>
          <a:prstGeom prst="rect">
            <a:avLst/>
          </a:prstGeom>
        </p:spPr>
        <p:txBody>
          <a:bodyPr vert="horz" lIns="91440" tIns="45720" rIns="91440" bIns="45720" rtlCol="0" anchor="ctr"/>
          <a:lstStyle>
            <a:lvl1pPr algn="r">
              <a:defRPr sz="1050">
                <a:solidFill>
                  <a:schemeClr val="bg1"/>
                </a:solidFill>
              </a:defRPr>
            </a:lvl1pPr>
          </a:lstStyle>
          <a:p>
            <a:fld id="{98DF15E9-887E-AA4B-A287-7DA0FC14E13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3" r:id="rId2"/>
    <p:sldLayoutId id="2147483664" r:id="rId3"/>
    <p:sldLayoutId id="2147483665" r:id="rId4"/>
    <p:sldLayoutId id="2147483662" r:id="rId5"/>
    <p:sldLayoutId id="2147483666" r:id="rId6"/>
    <p:sldLayoutId id="2147483667" r:id="rId7"/>
  </p:sldLayoutIdLst>
  <p:txStyles>
    <p:titleStyle>
      <a:lvl1pPr algn="l" defTabSz="685800" rtl="0" eaLnBrk="1" latinLnBrk="0" hangingPunct="1">
        <a:spcBef>
          <a:spcPct val="0"/>
        </a:spcBef>
        <a:buNone/>
        <a:defRPr sz="2700" b="0" kern="1200">
          <a:solidFill>
            <a:schemeClr val="accent1"/>
          </a:solidFill>
          <a:latin typeface="+mj-lt"/>
          <a:ea typeface="+mj-ea"/>
          <a:cs typeface="+mj-cs"/>
        </a:defRPr>
      </a:lvl1pPr>
    </p:titleStyle>
    <p:bodyStyle>
      <a:lvl1pPr marL="171450" indent="-171450" algn="l" defTabSz="685800" rtl="0" eaLnBrk="1" latinLnBrk="0" hangingPunct="1">
        <a:spcBef>
          <a:spcPts val="1500"/>
        </a:spcBef>
        <a:buClr>
          <a:schemeClr val="accent1"/>
        </a:buClr>
        <a:buSzPct val="75000"/>
        <a:buFont typeface="Wingdings" pitchFamily="2" charset="2"/>
        <a:buChar char="n"/>
        <a:defRPr sz="1500" kern="1200">
          <a:solidFill>
            <a:schemeClr val="tx1">
              <a:lumMod val="65000"/>
              <a:lumOff val="35000"/>
            </a:schemeClr>
          </a:solidFill>
          <a:latin typeface="+mn-lt"/>
          <a:ea typeface="+mn-ea"/>
          <a:cs typeface="+mn-cs"/>
        </a:defRPr>
      </a:lvl1pPr>
      <a:lvl2pPr marL="342900" indent="-171450" algn="l" defTabSz="685800" rtl="0" eaLnBrk="1" latinLnBrk="0" hangingPunct="1">
        <a:spcBef>
          <a:spcPts val="450"/>
        </a:spcBef>
        <a:buClr>
          <a:schemeClr val="accent1">
            <a:lumMod val="60000"/>
            <a:lumOff val="40000"/>
          </a:schemeClr>
        </a:buClr>
        <a:buSzPct val="75000"/>
        <a:buFont typeface="Wingdings" pitchFamily="2" charset="2"/>
        <a:buChar char="n"/>
        <a:defRPr sz="1350" kern="1200">
          <a:solidFill>
            <a:schemeClr val="tx1">
              <a:lumMod val="65000"/>
              <a:lumOff val="35000"/>
            </a:schemeClr>
          </a:solidFill>
          <a:latin typeface="+mn-lt"/>
          <a:ea typeface="+mn-ea"/>
          <a:cs typeface="+mn-cs"/>
        </a:defRPr>
      </a:lvl2pPr>
      <a:lvl3pPr marL="514350" indent="-171450" algn="l" defTabSz="685800" rtl="0" eaLnBrk="1" latinLnBrk="0" hangingPunct="1">
        <a:spcBef>
          <a:spcPts val="450"/>
        </a:spcBef>
        <a:buClr>
          <a:schemeClr val="accent1"/>
        </a:buClr>
        <a:buSzPct val="75000"/>
        <a:buFont typeface="Wingdings" pitchFamily="2" charset="2"/>
        <a:buChar char="n"/>
        <a:defRPr sz="1350" kern="1200">
          <a:solidFill>
            <a:schemeClr val="tx1">
              <a:lumMod val="65000"/>
              <a:lumOff val="35000"/>
            </a:schemeClr>
          </a:solidFill>
          <a:latin typeface="+mn-lt"/>
          <a:ea typeface="+mn-ea"/>
          <a:cs typeface="+mn-cs"/>
        </a:defRPr>
      </a:lvl3pPr>
      <a:lvl4pPr marL="685800" indent="-171450" algn="l" defTabSz="685800" rtl="0" eaLnBrk="1" latinLnBrk="0" hangingPunct="1">
        <a:spcBef>
          <a:spcPts val="450"/>
        </a:spcBef>
        <a:buClr>
          <a:schemeClr val="accent1">
            <a:lumMod val="60000"/>
            <a:lumOff val="40000"/>
          </a:schemeClr>
        </a:buClr>
        <a:buSzPct val="75000"/>
        <a:buFont typeface="Wingdings" pitchFamily="2" charset="2"/>
        <a:buChar char="n"/>
        <a:defRPr sz="1350" kern="1200">
          <a:solidFill>
            <a:schemeClr val="tx1">
              <a:lumMod val="65000"/>
              <a:lumOff val="35000"/>
            </a:schemeClr>
          </a:solidFill>
          <a:latin typeface="+mn-lt"/>
          <a:ea typeface="+mn-ea"/>
          <a:cs typeface="+mn-cs"/>
        </a:defRPr>
      </a:lvl4pPr>
      <a:lvl5pPr marL="857250" indent="-171450" algn="l" defTabSz="685800" rtl="0" eaLnBrk="1" latinLnBrk="0" hangingPunct="1">
        <a:spcBef>
          <a:spcPts val="450"/>
        </a:spcBef>
        <a:buClr>
          <a:schemeClr val="accent1"/>
        </a:buClr>
        <a:buSzPct val="75000"/>
        <a:buFont typeface="Wingdings" pitchFamily="2" charset="2"/>
        <a:buChar char="n"/>
        <a:defRPr sz="1350" kern="1200">
          <a:solidFill>
            <a:schemeClr val="tx1">
              <a:lumMod val="65000"/>
              <a:lumOff val="35000"/>
            </a:schemeClr>
          </a:solidFill>
          <a:latin typeface="+mn-lt"/>
          <a:ea typeface="+mn-ea"/>
          <a:cs typeface="+mn-cs"/>
        </a:defRPr>
      </a:lvl5pPr>
      <a:lvl6pPr marL="1033463" indent="-171450" algn="l" defTabSz="685800" rtl="0" eaLnBrk="1" latinLnBrk="0" hangingPunct="1">
        <a:spcBef>
          <a:spcPct val="20000"/>
        </a:spcBef>
        <a:buClr>
          <a:schemeClr val="accent1">
            <a:lumMod val="60000"/>
            <a:lumOff val="40000"/>
          </a:schemeClr>
        </a:buClr>
        <a:buSzPct val="75000"/>
        <a:buFont typeface="Wingdings" pitchFamily="2" charset="2"/>
        <a:buChar char=""/>
        <a:defRPr lang="en-US" sz="1350" kern="1200" dirty="0" smtClean="0">
          <a:solidFill>
            <a:schemeClr val="tx1">
              <a:lumMod val="65000"/>
              <a:lumOff val="35000"/>
            </a:schemeClr>
          </a:solidFill>
          <a:latin typeface="+mn-lt"/>
          <a:ea typeface="+mn-ea"/>
          <a:cs typeface="+mn-cs"/>
        </a:defRPr>
      </a:lvl6pPr>
      <a:lvl7pPr marL="1202531" indent="-171450" algn="l" defTabSz="685800" rtl="0" eaLnBrk="1" latinLnBrk="0" hangingPunct="1">
        <a:spcBef>
          <a:spcPct val="20000"/>
        </a:spcBef>
        <a:buClr>
          <a:schemeClr val="accent1"/>
        </a:buClr>
        <a:buSzPct val="75000"/>
        <a:buFont typeface="Wingdings" pitchFamily="2" charset="2"/>
        <a:buChar char=""/>
        <a:defRPr lang="en-US" sz="1350" kern="1200" baseline="0" dirty="0" smtClean="0">
          <a:solidFill>
            <a:schemeClr val="tx1">
              <a:lumMod val="65000"/>
              <a:lumOff val="35000"/>
            </a:schemeClr>
          </a:solidFill>
          <a:latin typeface="+mn-lt"/>
          <a:ea typeface="+mn-ea"/>
          <a:cs typeface="+mn-cs"/>
        </a:defRPr>
      </a:lvl7pPr>
      <a:lvl8pPr marL="1372791" indent="-171450" algn="l" defTabSz="685800" rtl="0" eaLnBrk="1" latinLnBrk="0" hangingPunct="1">
        <a:spcBef>
          <a:spcPct val="20000"/>
        </a:spcBef>
        <a:buClr>
          <a:schemeClr val="accent1">
            <a:lumMod val="60000"/>
            <a:lumOff val="40000"/>
          </a:schemeClr>
        </a:buClr>
        <a:buSzPct val="75000"/>
        <a:buFont typeface="Wingdings" pitchFamily="2" charset="2"/>
        <a:buChar char=""/>
        <a:defRPr lang="en-US" sz="1350" kern="1200" baseline="0" dirty="0" smtClean="0">
          <a:solidFill>
            <a:schemeClr val="tx1">
              <a:lumMod val="65000"/>
              <a:lumOff val="35000"/>
            </a:schemeClr>
          </a:solidFill>
          <a:latin typeface="+mn-lt"/>
          <a:ea typeface="+mn-ea"/>
          <a:cs typeface="+mn-cs"/>
        </a:defRPr>
      </a:lvl8pPr>
      <a:lvl9pPr marL="1543050" indent="-171450" algn="l" defTabSz="685800" rtl="0" eaLnBrk="1" latinLnBrk="0" hangingPunct="1">
        <a:spcBef>
          <a:spcPct val="20000"/>
        </a:spcBef>
        <a:buClr>
          <a:schemeClr val="accent1"/>
        </a:buClr>
        <a:buSzPct val="75000"/>
        <a:buFont typeface="Wingdings" pitchFamily="2" charset="2"/>
        <a:buChar char=""/>
        <a:defRPr lang="en-US" sz="1350" kern="1200" baseline="0" dirty="0">
          <a:solidFill>
            <a:schemeClr val="tx1">
              <a:lumMod val="65000"/>
              <a:lumOff val="35000"/>
            </a:schemeClr>
          </a:solidFill>
          <a:latin typeface="+mn-lt"/>
          <a:ea typeface="+mn-ea"/>
          <a:cs typeface="+mn-cs"/>
        </a:defRPr>
      </a:lvl9pPr>
    </p:bodyStyle>
    <p:otherStyle>
      <a:defPPr>
        <a:defRP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0"/>
              <a:t>Focuses on premium smart cinema chains delivering high-quality entertainment at affordable price points.
Utilizes a decentralized management model to optimize ticketing, food and beverage, and marketing services.
Emphasizes an ultra-comfort viewing experience with advanced cinematic technology across its nationwide properties.
Operates a diversified channel mix with physical presence in 20 states and 150 multiplex locations.
Achieves high brand loyalty through a significant increase in viewer footfall and repeat advertising partnerships.</a:t>
            </a:r>
          </a:p>
        </p:txBody>
      </p:sp>
      <p:sp>
        <p:nvSpPr>
          <p:cNvPr id="3" name="Text Placeholder 2"/>
          <p:cNvSpPr>
            <a:spLocks noGrp="1"/>
          </p:cNvSpPr>
          <p:nvPr>
            <p:ph type="body" idx="11" sz="quarter"/>
          </p:nvPr>
        </p:nvSpPr>
        <p:spPr/>
        <p:txBody>
          <a:bodyPr/>
          <a:lstStyle/>
          <a:p>
            <a:r>
              <a:rPr b="0"/>
              <a:t>Premium Multiplex Cinemas: State-of-the-art cinematic venues under a leading brand featuring ultra-comfort seating and advanced smart technology.
Integrated Operational Management: Specialized services encompassing digital ticketing, secure box office operations, and comprehensive security protocols.
F&amp;B and Advertising Solutions: High-engagement marketing platforms and a diverse food and beverage vertical optimized for high spend per head.</a:t>
            </a:r>
          </a:p>
        </p:txBody>
      </p:sp>
      <p:sp>
        <p:nvSpPr>
          <p:cNvPr id="4" name="Picture Placeholder 3"/>
          <p:cNvSpPr>
            <a:spLocks noGrp="1"/>
          </p:cNvSpPr>
          <p:nvPr>
            <p:ph type="pic" idx="12" sz="quarter"/>
          </p:nvPr>
        </p:nvSpPr>
        <p:spPr/>
      </p:sp>
      <p:sp>
        <p:nvSpPr>
          <p:cNvPr id="5" name="Picture Placeholder 4"/>
          <p:cNvSpPr>
            <a:spLocks noGrp="1"/>
          </p:cNvSpPr>
          <p:nvPr>
            <p:ph type="pic" idx="13" sz="quarter"/>
          </p:nvPr>
        </p:nvSpPr>
        <p:spPr/>
      </p:sp>
      <p:sp>
        <p:nvSpPr>
          <p:cNvPr id="6" name="Picture Placeholder 5"/>
          <p:cNvSpPr>
            <a:spLocks noGrp="1"/>
          </p:cNvSpPr>
          <p:nvPr>
            <p:ph type="pic" idx="14" sz="quarter"/>
          </p:nvPr>
        </p:nvSpPr>
        <p:spPr/>
      </p:sp>
      <p:sp>
        <p:nvSpPr>
          <p:cNvPr id="7" name="Text Placeholder 6"/>
          <p:cNvSpPr>
            <a:spLocks noGrp="1"/>
          </p:cNvSpPr>
          <p:nvPr>
            <p:ph type="body" idx="15" sz="quarter"/>
          </p:nvPr>
        </p:nvSpPr>
        <p:spPr/>
        <p:txBody>
          <a:bodyPr/>
          <a:lstStyle/>
          <a:p>
            <a:r>
              <a:rPr b="0"/>
              <a:t>Founded in 2015, this leading entertainment operator specializes in high-growth premium multiplex chains across major urban centers.
The company manages a robust infrastructure of 88 screens and over 7,300 seats, delivering a 69% YoY increase in viewer footfall.
Renowned for innovation and efficiency, the brand focuses on an asset-light service model to maximize returns on minimal operational costs.</a:t>
            </a:r>
          </a:p>
        </p:txBody>
      </p:sp>
      <p:sp>
        <p:nvSpPr>
          <p:cNvPr id="8" name="Picture Placeholder 7"/>
          <p:cNvSpPr>
            <a:spLocks noGrp="1"/>
          </p:cNvSpPr>
          <p:nvPr>
            <p:ph type="pic" idx="16" sz="quarter"/>
          </p:nvPr>
        </p:nvSpPr>
        <p:spPr/>
      </p:sp>
      <p:sp>
        <p:nvSpPr>
          <p:cNvPr id="9" name="Picture Placeholder 8"/>
          <p:cNvSpPr>
            <a:spLocks noGrp="1"/>
          </p:cNvSpPr>
          <p:nvPr>
            <p:ph type="pic" idx="17" sz="quarter"/>
          </p:nvPr>
        </p:nvSpPr>
        <p:spPr/>
      </p:sp>
      <p:sp>
        <p:nvSpPr>
          <p:cNvPr id="10" name="Picture Placeholder 9"/>
          <p:cNvSpPr>
            <a:spLocks noGrp="1"/>
          </p:cNvSpPr>
          <p:nvPr>
            <p:ph type="pic" idx="18" sz="quarter"/>
          </p:nvPr>
        </p:nvSpPr>
        <p:spPr/>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2" sz="quarter"/>
          </p:nvPr>
        </p:nvSpPr>
        <p:spPr/>
        <p:txBody>
          <a:bodyPr/>
          <a:lstStyle/>
          <a:p>
            <a:r>
              <a:rPr b="0"/>
              <a:t>The chart demonstrates a remarkable revenue CAGR, showcasing the company's ability to scale rapidly in the entertainment sector. This growth is anchored by aggressive screen acquisitions and higher average ticket prices, reflecting strong consumer demand. The consistent upward trend validates the smart cinema business model's efficacy in capturing market share across diverse regions.</a:t>
            </a:r>
          </a:p>
        </p:txBody>
      </p:sp>
      <p:sp>
        <p:nvSpPr>
          <p:cNvPr id="5" name="Text Placeholder 4"/>
          <p:cNvSpPr>
            <a:spLocks noGrp="1"/>
          </p:cNvSpPr>
          <p:nvPr>
            <p:ph type="body" idx="13" sz="quarter"/>
          </p:nvPr>
        </p:nvSpPr>
        <p:spPr/>
        <p:txBody>
          <a:bodyPr/>
          <a:lstStyle/>
          <a:p>
            <a:r>
              <a:rPr b="0"/>
              <a:t>The ownership distribution shows a highly concentrated promoter stake, ensuring strong leadership commitment and vision alignment. This stable equity structure minimizes governance risks while providing a solid foundation for future strategic investments. The presence of non-promoter equity introduces public market discipline and enhances the company's corporate governance profile.</a:t>
            </a:r>
          </a:p>
        </p:txBody>
      </p:sp>
      <p:sp>
        <p:nvSpPr>
          <p:cNvPr id="6" name="Picture Placeholder 5"/>
          <p:cNvSpPr>
            <a:spLocks noGrp="1"/>
          </p:cNvSpPr>
          <p:nvPr>
            <p:ph type="pic" idx="16" sz="quarter"/>
          </p:nvPr>
        </p:nvSpPr>
        <p:spPr/>
      </p:sp>
      <p:sp>
        <p:nvSpPr>
          <p:cNvPr id="7" name="Picture Placeholder 6"/>
          <p:cNvSpPr>
            <a:spLocks noGrp="1"/>
          </p:cNvSpPr>
          <p:nvPr>
            <p:ph type="pic" idx="17" sz="quarter"/>
          </p:nvPr>
        </p:nvSpPr>
        <p:spPr/>
      </p:sp>
      <p:graphicFrame>
        <p:nvGraphicFramePr>
          <p:cNvPr id="8" name="Chart 7"/>
          <p:cNvGraphicFramePr>
            <a:graphicFrameLocks noGrp="1"/>
          </p:cNvGraphicFramePr>
          <p:nvPr/>
        </p:nvGraphicFramePr>
        <p:xfrm>
          <a:off x="258763" y="1296988"/>
          <a:ext cx="5483225" cy="2625725"/>
        </p:xfrm>
        <a:graphic>
          <a:graphicData uri="http://schemas.openxmlformats.org/drawingml/2006/chart">
            <c:chart xmlns:c="http://schemas.openxmlformats.org/drawingml/2006/chart" r:id="rId2"/>
          </a:graphicData>
        </a:graphic>
      </p:graphicFrame>
      <p:graphicFrame>
        <p:nvGraphicFramePr>
          <p:cNvPr id="9" name="Chart 8"/>
          <p:cNvGraphicFramePr>
            <a:graphicFrameLocks noGrp="1"/>
          </p:cNvGraphicFramePr>
          <p:nvPr/>
        </p:nvGraphicFramePr>
        <p:xfrm>
          <a:off x="6542996" y="4325144"/>
          <a:ext cx="5259387" cy="2012950"/>
        </p:xfrm>
        <a:graphic>
          <a:graphicData uri="http://schemas.openxmlformats.org/drawingml/2006/chart">
            <c:chart xmlns:c="http://schemas.openxmlformats.org/drawingml/2006/chart" r:id="rId3"/>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0"/>
              <a:t>Achieved exceptional revenue scaling with a 57% YoY growth and a massive 365% increase in PAT for FY25.</a:t>
            </a:r>
          </a:p>
        </p:txBody>
      </p:sp>
      <p:sp>
        <p:nvSpPr>
          <p:cNvPr id="3" name="Text Placeholder 2"/>
          <p:cNvSpPr>
            <a:spLocks noGrp="1"/>
          </p:cNvSpPr>
          <p:nvPr>
            <p:ph type="body" idx="11" sz="quarter"/>
          </p:nvPr>
        </p:nvSpPr>
        <p:spPr/>
        <p:txBody>
          <a:bodyPr/>
          <a:lstStyle/>
          <a:p>
            <a:r>
              <a:rPr b="0"/>
              <a:t>High capital efficiency indicated by a 77% ROE and a significant improvement in asset turnover to 1.98.</a:t>
            </a:r>
          </a:p>
        </p:txBody>
      </p:sp>
      <p:sp>
        <p:nvSpPr>
          <p:cNvPr id="4" name="Text Placeholder 3"/>
          <p:cNvSpPr>
            <a:spLocks noGrp="1"/>
          </p:cNvSpPr>
          <p:nvPr>
            <p:ph type="body" idx="12" sz="quarter"/>
          </p:nvPr>
        </p:nvSpPr>
        <p:spPr/>
        <p:txBody>
          <a:bodyPr/>
          <a:lstStyle/>
          <a:p>
            <a:r>
              <a:rPr b="0"/>
              <a:t>Strong operational momentum with a 69% YoY increase in viewer volume and 107% growth in advertising revenue.</a:t>
            </a:r>
          </a:p>
        </p:txBody>
      </p:sp>
      <p:sp>
        <p:nvSpPr>
          <p:cNvPr id="5" name="Text Placeholder 4"/>
          <p:cNvSpPr>
            <a:spLocks noGrp="1"/>
          </p:cNvSpPr>
          <p:nvPr>
            <p:ph type="body" idx="13" sz="quarter"/>
          </p:nvPr>
        </p:nvSpPr>
        <p:spPr/>
        <p:txBody>
          <a:bodyPr/>
          <a:lstStyle/>
          <a:p>
            <a:r>
              <a:rPr b="0"/>
              <a:t>Established a nationwide footprint with 88 screens across 25 cities and a growing presence in 20 states.</a:t>
            </a:r>
          </a:p>
        </p:txBody>
      </p:sp>
      <p:sp>
        <p:nvSpPr>
          <p:cNvPr id="6" name="Text Placeholder 5"/>
          <p:cNvSpPr>
            <a:spLocks noGrp="1"/>
          </p:cNvSpPr>
          <p:nvPr>
            <p:ph type="body" idx="14" sz="quarter"/>
          </p:nvPr>
        </p:nvSpPr>
        <p:spPr/>
        <p:txBody>
          <a:bodyPr/>
          <a:lstStyle/>
          <a:p>
            <a:r>
              <a:rPr b="0"/>
              <a:t>Innovative smart cinema model focuses on premium comfort and affordability to drive high occupancy levels.</a:t>
            </a:r>
          </a:p>
        </p:txBody>
      </p:sp>
      <p:sp>
        <p:nvSpPr>
          <p:cNvPr id="7" name="Text Placeholder 6"/>
          <p:cNvSpPr>
            <a:spLocks noGrp="1"/>
          </p:cNvSpPr>
          <p:nvPr>
            <p:ph type="body" idx="15" sz="quarter"/>
          </p:nvPr>
        </p:nvSpPr>
        <p:spPr/>
        <p:txBody>
          <a:bodyPr/>
          <a:lstStyle/>
          <a:p>
            <a:r>
              <a:rPr b="0"/>
              <a:t>Future growth strategy includes international expansion and potential consolidation through strategic mergers and acquisitions.</a:t>
            </a:r>
          </a:p>
        </p:txBody>
      </p:sp>
      <p:sp>
        <p:nvSpPr>
          <p:cNvPr id="8" name="Picture Placeholder 7"/>
          <p:cNvSpPr>
            <a:spLocks noGrp="1"/>
          </p:cNvSpPr>
          <p:nvPr>
            <p:ph type="pic" idx="16" sz="quarter"/>
          </p:nvPr>
        </p:nvSpPr>
        <p:spPr/>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Default Them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majorFont>
      <a:minorFont>
        <a:latin typeface="Rockwell"/>
        <a:ea typeface=""/>
        <a:cs typeface=""/>
        <a:font script="Jpan" typeface="ＭＳ ゴシック"/>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380</TotalTime>
  <Words>0</Words>
  <Application>Microsoft Macintosh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Rockwell</vt:lpstr>
      <vt:lpstr>Wingdings</vt:lpstr>
      <vt:lpstr>Default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Sambit Mallik</dc:creator>
  <cp:lastModifiedBy>Sambit Mallik</cp:lastModifiedBy>
  <cp:revision>17</cp:revision>
  <dcterms:created xsi:type="dcterms:W3CDTF">2026-01-24T04:48:24Z</dcterms:created>
  <dcterms:modified xsi:type="dcterms:W3CDTF">2026-02-04T14:44:34Z</dcterms:modified>
</cp:coreProperties>
</file>