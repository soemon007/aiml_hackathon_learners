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3.svg" ContentType="image/svg+xml"/>
  <Override PartName="/ppt/media/image5.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7"/>
    <p:sldId id="258" r:id="rId8"/>
    <p:sldId id="259" r:id="rId9"/>
    <p:sldId id="260" r:id="rId10"/>
    <p:sldId id="26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7B6"/>
    <a:srgbClr val="6FACFF"/>
    <a:srgbClr val="90E0EF"/>
    <a:srgbClr val="FB712C"/>
    <a:srgbClr val="F04C7A"/>
    <a:srgbClr val="A31D63"/>
    <a:srgbClr val="2A06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495"/>
    <p:restoredTop sz="94717"/>
  </p:normalViewPr>
  <p:slideViewPr>
    <p:cSldViewPr snapToGrid="0">
      <p:cViewPr varScale="1">
        <p:scale>
          <a:sx n="97" d="100"/>
          <a:sy n="97" d="100"/>
        </p:scale>
        <p:origin x="100" y="3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Annual Revenue Performance (INR M)</c:v>
                </c:pt>
              </c:strCache>
            </c:strRef>
          </c:tx>
          <c:cat>
            <c:strRef>
              <c:f>Sheet1!$A$2:$A$4</c:f>
              <c:strCache>
                <c:ptCount val="3"/>
                <c:pt idx="0">
                  <c:v>FY22</c:v>
                </c:pt>
                <c:pt idx="1">
                  <c:v>FY23</c:v>
                </c:pt>
                <c:pt idx="2">
                  <c:v>FY24</c:v>
                </c:pt>
              </c:strCache>
            </c:strRef>
          </c:cat>
          <c:val>
            <c:numRef>
              <c:f>Sheet1!$B$2:$B$4</c:f>
              <c:numCache>
                <c:formatCode>General</c:formatCode>
                <c:ptCount val="3"/>
                <c:pt idx="0">
                  <c:v>4017</c:v>
                </c:pt>
                <c:pt idx="1">
                  <c:v>4109</c:v>
                </c:pt>
                <c:pt idx="2">
                  <c:v>5022</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r>
              <a:t>Departmental Resource Allocation (%)</a:t>
            </a:r>
          </a:p>
        </c:rich>
      </c:tx>
      <c:layout/>
      <c:overlay val="0"/>
    </c:title>
    <c:autoTitleDeleted val="0"/>
    <c:plotArea>
      <c:pieChart>
        <c:varyColors val="1"/>
        <c:ser>
          <c:idx val="0"/>
          <c:order val="0"/>
          <c:tx>
            <c:strRef>
              <c:f>Sheet1!$B$1</c:f>
              <c:strCache>
                <c:ptCount val="1"/>
                <c:pt idx="0">
                  <c:v>Departmental Resource Allocation (%)</c:v>
                </c:pt>
              </c:strCache>
            </c:strRef>
          </c:tx>
          <c:cat>
            <c:strRef>
              <c:f>Sheet1!$A$2:$A$6</c:f>
              <c:strCache>
                <c:ptCount val="5"/>
                <c:pt idx="0">
                  <c:v>Sales</c:v>
                </c:pt>
                <c:pt idx="1">
                  <c:v>Operations</c:v>
                </c:pt>
                <c:pt idx="2">
                  <c:v>Research</c:v>
                </c:pt>
                <c:pt idx="3">
                  <c:v>Business Development</c:v>
                </c:pt>
                <c:pt idx="4">
                  <c:v>Quality Assurance</c:v>
                </c:pt>
              </c:strCache>
            </c:strRef>
          </c:cat>
          <c:val>
            <c:numRef>
              <c:f>Sheet1!$B$2:$B$6</c:f>
              <c:numCache>
                <c:formatCode>General</c:formatCode>
                <c:ptCount val="5"/>
                <c:pt idx="0">
                  <c:v>21</c:v>
                </c:pt>
                <c:pt idx="1">
                  <c:v>12</c:v>
                </c:pt>
                <c:pt idx="2">
                  <c:v>11</c:v>
                </c:pt>
                <c:pt idx="3">
                  <c:v>10</c:v>
                </c:pt>
                <c:pt idx="4">
                  <c:v>9</c:v>
                </c:pt>
              </c:numCache>
            </c:numRef>
          </c:val>
        </c:ser>
        <c:dLbls>
          <c:dLblPos val="bestFit"/>
          <c:showLegendKey val="0"/>
          <c:showVal val="1"/>
          <c:showCatName val="1"/>
          <c:showSerName val="0"/>
          <c:showPercent val="0"/>
          <c:showBubbleSize val="0"/>
          <c:showLeaderLines val="1"/>
        </c:dLbls>
      </c:pieChart>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_Slide">
    <p:bg>
      <p:bgPr>
        <a:solidFill>
          <a:srgbClr val="2A063F"/>
        </a:solidFill>
        <a:effectLst/>
      </p:bgPr>
    </p:bg>
    <p:spTree>
      <p:nvGrpSpPr>
        <p:cNvPr id="1" name=""/>
        <p:cNvGrpSpPr/>
        <p:nvPr/>
      </p:nvGrpSpPr>
      <p:grpSpPr>
        <a:xfrm>
          <a:off x="0" y="0"/>
          <a:ext cx="0" cy="0"/>
          <a:chOff x="0" y="0"/>
          <a:chExt cx="0" cy="0"/>
        </a:xfrm>
      </p:grpSpPr>
      <p:pic>
        <p:nvPicPr>
          <p:cNvPr id="1028" name="Picture 4" descr="Geometric pattern Images - Free ...">
            <a:extLst>
              <a:ext uri="{FF2B5EF4-FFF2-40B4-BE49-F238E27FC236}">
                <a16:creationId xmlns:a16="http://schemas.microsoft.com/office/drawing/2014/main" id="{E6657D50-4ACA-29E0-6C6A-CCAD9432118A}"/>
              </a:ext>
            </a:extLst>
          </p:cNvPr>
          <p:cNvPicPr>
            <a:picLocks noChangeAspect="1" noChangeArrowheads="1"/>
          </p:cNvPicPr>
          <p:nvPr userDrawn="1"/>
        </p:nvPicPr>
        <p:blipFill>
          <a:blip r:embed="rId2">
            <a:alphaModFix amt="3000"/>
            <a:extLst>
              <a:ext uri="{28A0092B-C50C-407E-A947-70E740481C1C}">
                <a14:useLocalDpi xmlns:a14="http://schemas.microsoft.com/office/drawing/2010/main" val="0"/>
              </a:ext>
            </a:extLst>
          </a:blip>
          <a:srcRect/>
          <a:stretch>
            <a:fillRect/>
          </a:stretch>
        </p:blipFill>
        <p:spPr bwMode="auto">
          <a:xfrm>
            <a:off x="-376660" y="-185963"/>
            <a:ext cx="13091817" cy="6726099"/>
          </a:xfrm>
          <a:prstGeom prst="rect">
            <a:avLst/>
          </a:prstGeom>
          <a:noFill/>
          <a:extLst>
            <a:ext uri="{909E8E84-426E-40DD-AFC4-6F175D3DCCD1}">
              <a14:hiddenFill xmlns:a14="http://schemas.microsoft.com/office/drawing/2010/main">
                <a:solidFill>
                  <a:srgbClr val="FFFFFF"/>
                </a:solidFill>
              </a14:hiddenFill>
            </a:ext>
          </a:extLst>
        </p:spPr>
      </p:pic>
      <p:sp>
        <p:nvSpPr>
          <p:cNvPr id="41" name="Freeform 4">
            <a:extLst>
              <a:ext uri="{FF2B5EF4-FFF2-40B4-BE49-F238E27FC236}">
                <a16:creationId xmlns:a16="http://schemas.microsoft.com/office/drawing/2014/main" id="{1B9AF06B-B946-100D-8E6B-B35C454030EE}"/>
              </a:ext>
              <a:ext uri="{C183D7F6-B498-43B3-948B-1728B52AA6E4}">
                <adec:decorative xmlns:adec="http://schemas.microsoft.com/office/drawing/2017/decorative" val="1"/>
              </a:ext>
            </a:extLst>
          </p:cNvPr>
          <p:cNvSpPr/>
          <p:nvPr userDrawn="1"/>
        </p:nvSpPr>
        <p:spPr>
          <a:xfrm>
            <a:off x="2221680" y="5033953"/>
            <a:ext cx="4458815"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2" name="Freeform 2">
            <a:extLst>
              <a:ext uri="{FF2B5EF4-FFF2-40B4-BE49-F238E27FC236}">
                <a16:creationId xmlns:a16="http://schemas.microsoft.com/office/drawing/2014/main" id="{A712A287-3087-1DF3-F43D-A56A53B980B4}"/>
              </a:ext>
              <a:ext uri="{C183D7F6-B498-43B3-948B-1728B52AA6E4}">
                <adec:decorative xmlns:adec="http://schemas.microsoft.com/office/drawing/2017/decorative" val="1"/>
              </a:ext>
            </a:extLst>
          </p:cNvPr>
          <p:cNvSpPr/>
          <p:nvPr userDrawn="1"/>
        </p:nvSpPr>
        <p:spPr>
          <a:xfrm>
            <a:off x="-863173" y="-153887"/>
            <a:ext cx="2466586"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3" name="Freeform 5">
            <a:extLst>
              <a:ext uri="{FF2B5EF4-FFF2-40B4-BE49-F238E27FC236}">
                <a16:creationId xmlns:a16="http://schemas.microsoft.com/office/drawing/2014/main" id="{2A160F13-8764-D059-9923-6D95B47B175D}"/>
              </a:ext>
              <a:ext uri="{C183D7F6-B498-43B3-948B-1728B52AA6E4}">
                <adec:decorative xmlns:adec="http://schemas.microsoft.com/office/drawing/2017/decorative" val="1"/>
              </a:ext>
            </a:extLst>
          </p:cNvPr>
          <p:cNvSpPr/>
          <p:nvPr userDrawn="1"/>
        </p:nvSpPr>
        <p:spPr>
          <a:xfrm rot="21445884">
            <a:off x="4804637" y="-750786"/>
            <a:ext cx="2729224" cy="2735166"/>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4" name="Freeform 4">
            <a:extLst>
              <a:ext uri="{FF2B5EF4-FFF2-40B4-BE49-F238E27FC236}">
                <a16:creationId xmlns:a16="http://schemas.microsoft.com/office/drawing/2014/main" id="{50B8F49F-8D86-DC2D-37F0-946BC7888B85}"/>
              </a:ext>
              <a:ext uri="{C183D7F6-B498-43B3-948B-1728B52AA6E4}">
                <adec:decorative xmlns:adec="http://schemas.microsoft.com/office/drawing/2017/decorative" val="1"/>
              </a:ext>
            </a:extLst>
          </p:cNvPr>
          <p:cNvSpPr/>
          <p:nvPr userDrawn="1"/>
        </p:nvSpPr>
        <p:spPr>
          <a:xfrm>
            <a:off x="2207259" y="670876"/>
            <a:ext cx="4170792"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5" name="Freeform 5">
            <a:extLst>
              <a:ext uri="{FF2B5EF4-FFF2-40B4-BE49-F238E27FC236}">
                <a16:creationId xmlns:a16="http://schemas.microsoft.com/office/drawing/2014/main" id="{0E270C24-0873-5229-B9F8-0748D3B0295E}"/>
              </a:ext>
              <a:ext uri="{C183D7F6-B498-43B3-948B-1728B52AA6E4}">
                <adec:decorative xmlns:adec="http://schemas.microsoft.com/office/drawing/2017/decorative" val="1"/>
              </a:ext>
            </a:extLst>
          </p:cNvPr>
          <p:cNvSpPr/>
          <p:nvPr userDrawn="1"/>
        </p:nvSpPr>
        <p:spPr>
          <a:xfrm>
            <a:off x="4698766" y="3400034"/>
            <a:ext cx="3019835" cy="284839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6" name="Freeform 2">
            <a:extLst>
              <a:ext uri="{FF2B5EF4-FFF2-40B4-BE49-F238E27FC236}">
                <a16:creationId xmlns:a16="http://schemas.microsoft.com/office/drawing/2014/main" id="{F08BCC40-8EF1-E663-8913-1862FCE00F6E}"/>
              </a:ext>
              <a:ext uri="{C183D7F6-B498-43B3-948B-1728B52AA6E4}">
                <adec:decorative xmlns:adec="http://schemas.microsoft.com/office/drawing/2017/decorative" val="1"/>
              </a:ext>
            </a:extLst>
          </p:cNvPr>
          <p:cNvSpPr/>
          <p:nvPr userDrawn="1"/>
        </p:nvSpPr>
        <p:spPr>
          <a:xfrm>
            <a:off x="10009050" y="3550743"/>
            <a:ext cx="2616847"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7" name="Rectangle 36">
            <a:extLst>
              <a:ext uri="{FF2B5EF4-FFF2-40B4-BE49-F238E27FC236}">
                <a16:creationId xmlns:a16="http://schemas.microsoft.com/office/drawing/2014/main" id="{15DD37F5-790C-EFF8-893A-97E9CC3AC34C}"/>
              </a:ext>
            </a:extLst>
          </p:cNvPr>
          <p:cNvSpPr/>
          <p:nvPr userDrawn="1"/>
        </p:nvSpPr>
        <p:spPr>
          <a:xfrm rot="16200000">
            <a:off x="5644041" y="334942"/>
            <a:ext cx="903921" cy="1219200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sp>
        <p:nvSpPr>
          <p:cNvPr id="42" name="TextBox 41">
            <a:extLst>
              <a:ext uri="{FF2B5EF4-FFF2-40B4-BE49-F238E27FC236}">
                <a16:creationId xmlns:a16="http://schemas.microsoft.com/office/drawing/2014/main" id="{BD71EE71-6D3D-DE57-F03B-FAAAB2CDE9D3}"/>
              </a:ext>
            </a:extLst>
          </p:cNvPr>
          <p:cNvSpPr txBox="1"/>
          <p:nvPr userDrawn="1"/>
        </p:nvSpPr>
        <p:spPr>
          <a:xfrm>
            <a:off x="64072" y="6077001"/>
            <a:ext cx="5464885" cy="553998"/>
          </a:xfrm>
          <a:prstGeom prst="rect">
            <a:avLst/>
          </a:prstGeom>
          <a:noFill/>
        </p:spPr>
        <p:txBody>
          <a:bodyPr wrap="square" rtlCol="0">
            <a:spAutoFit/>
          </a:bodyPr>
          <a:lstStyle/>
          <a:p>
            <a:r>
              <a:rPr lang="en-US" sz="1500" b="1" dirty="0">
                <a:solidFill>
                  <a:schemeClr val="tx1"/>
                </a:solidFill>
                <a:latin typeface="Arial" panose="020B0604020202020204" pitchFamily="34" charset="0"/>
                <a:cs typeface="Arial" panose="020B0604020202020204" pitchFamily="34" charset="0"/>
              </a:rPr>
              <a:t>Investment Brief</a:t>
            </a:r>
          </a:p>
          <a:p>
            <a:r>
              <a:rPr lang="en-US" sz="1500" i="1" dirty="0" err="1">
                <a:solidFill>
                  <a:schemeClr val="tx1"/>
                </a:solidFill>
                <a:latin typeface="Arial" panose="020B0604020202020204" pitchFamily="34" charset="0"/>
                <a:cs typeface="Arial" panose="020B0604020202020204" pitchFamily="34" charset="0"/>
              </a:rPr>
              <a:t>kelpglobal.com</a:t>
            </a:r>
            <a:endParaRPr lang="en-US" sz="1500" i="1" dirty="0">
              <a:solidFill>
                <a:schemeClr val="tx1"/>
              </a:solidFill>
              <a:latin typeface="Arial" panose="020B0604020202020204" pitchFamily="34" charset="0"/>
              <a:cs typeface="Arial" panose="020B0604020202020204" pitchFamily="34" charset="0"/>
            </a:endParaRPr>
          </a:p>
        </p:txBody>
      </p:sp>
      <p:pic>
        <p:nvPicPr>
          <p:cNvPr id="43" name="Picture 42" descr="A white letter on a black background&#10;&#10;AI-generated content may be incorrect.">
            <a:extLst>
              <a:ext uri="{FF2B5EF4-FFF2-40B4-BE49-F238E27FC236}">
                <a16:creationId xmlns:a16="http://schemas.microsoft.com/office/drawing/2014/main" id="{D49EF3F4-51EF-4606-B7A3-3504870972F4}"/>
              </a:ext>
            </a:extLst>
          </p:cNvPr>
          <p:cNvPicPr>
            <a:picLocks noChangeAspect="1"/>
          </p:cNvPicPr>
          <p:nvPr userDrawn="1"/>
        </p:nvPicPr>
        <p:blipFill>
          <a:blip r:embed="rId9"/>
          <a:stretch>
            <a:fillRect/>
          </a:stretch>
        </p:blipFill>
        <p:spPr>
          <a:xfrm>
            <a:off x="9910007" y="246908"/>
            <a:ext cx="1911873" cy="7267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Business Profile &amp; Infrastructure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151189"/>
            <a:ext cx="8081253"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46059" y="1354422"/>
            <a:ext cx="8017579" cy="25138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188308" y="4693425"/>
            <a:ext cx="8081252" cy="1805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36262" y="1417132"/>
            <a:ext cx="8017580" cy="2388473"/>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01578" y="4864226"/>
            <a:ext cx="7550150" cy="1420812"/>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TextBox 1">
            <a:extLst>
              <a:ext uri="{FF2B5EF4-FFF2-40B4-BE49-F238E27FC236}">
                <a16:creationId xmlns:a16="http://schemas.microsoft.com/office/drawing/2014/main" id="{4956E25C-1867-5A97-A053-74EF89CF8053}"/>
              </a:ext>
            </a:extLst>
          </p:cNvPr>
          <p:cNvSpPr txBox="1"/>
          <p:nvPr userDrawn="1"/>
        </p:nvSpPr>
        <p:spPr>
          <a:xfrm>
            <a:off x="154288" y="814857"/>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Business Overview</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066601"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t>
            </a:r>
          </a:p>
        </p:txBody>
      </p:sp>
      <p:sp>
        <p:nvSpPr>
          <p:cNvPr id="14" name="TextBox 13">
            <a:extLst>
              <a:ext uri="{FF2B5EF4-FFF2-40B4-BE49-F238E27FC236}">
                <a16:creationId xmlns:a16="http://schemas.microsoft.com/office/drawing/2014/main" id="{39F8FA0A-4415-E7B6-228E-46B151ECBCE6}"/>
              </a:ext>
            </a:extLst>
          </p:cNvPr>
          <p:cNvSpPr txBox="1"/>
          <p:nvPr userDrawn="1"/>
        </p:nvSpPr>
        <p:spPr>
          <a:xfrm>
            <a:off x="188308" y="4173708"/>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Portfolio and Products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3143250"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560074" y="1480079"/>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542089" y="5012164"/>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Tree>
    <p:extLst>
      <p:ext uri="{BB962C8B-B14F-4D97-AF65-F5344CB8AC3E}">
        <p14:creationId xmlns:p14="http://schemas.microsoft.com/office/powerpoint/2010/main" val="2687324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441912" y="1326032"/>
            <a:ext cx="5352369" cy="2170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126182" y="3922713"/>
            <a:ext cx="5969818" cy="25463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kern="1200" dirty="0">
                <a:solidFill>
                  <a:schemeClr val="lt1"/>
                </a:solidFill>
                <a:effectLst/>
                <a:latin typeface="Arial" panose="020B0604020202020204" pitchFamily="34" charset="0"/>
                <a:ea typeface="+mn-ea"/>
                <a:cs typeface="Arial" panose="020B0604020202020204" pitchFamily="34" charset="0"/>
              </a:rPr>
              <a:t>Financial &amp; Operational Scale</a:t>
            </a: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26182" y="762574"/>
            <a:ext cx="5616000"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Key Financial Metrics (FY24)</a:t>
            </a: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566721" y="3750090"/>
            <a:ext cx="5352369"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endPar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0" name="Chart Placeholder 9">
            <a:extLst>
              <a:ext uri="{FF2B5EF4-FFF2-40B4-BE49-F238E27FC236}">
                <a16:creationId xmlns:a16="http://schemas.microsoft.com/office/drawing/2014/main" id="{314BFA5B-DA44-35AB-4230-666E47503CBA}"/>
              </a:ext>
            </a:extLst>
          </p:cNvPr>
          <p:cNvSpPr>
            <a:spLocks noGrp="1"/>
          </p:cNvSpPr>
          <p:nvPr>
            <p:ph type="chart" sz="quarter" idx="10"/>
          </p:nvPr>
        </p:nvSpPr>
        <p:spPr>
          <a:xfrm>
            <a:off x="258763" y="1296988"/>
            <a:ext cx="5483225" cy="2625725"/>
          </a:xfrm>
        </p:spPr>
        <p:txBody>
          <a:bodyPr/>
          <a:lstStyle/>
          <a:p>
            <a:endParaRPr lang="en-GB"/>
          </a:p>
        </p:txBody>
      </p:sp>
      <p:sp>
        <p:nvSpPr>
          <p:cNvPr id="12" name="Chart Placeholder 11">
            <a:extLst>
              <a:ext uri="{FF2B5EF4-FFF2-40B4-BE49-F238E27FC236}">
                <a16:creationId xmlns:a16="http://schemas.microsoft.com/office/drawing/2014/main" id="{4F4B5099-C250-429F-B035-D8FD2B9191E4}"/>
              </a:ext>
            </a:extLst>
          </p:cNvPr>
          <p:cNvSpPr>
            <a:spLocks noGrp="1"/>
          </p:cNvSpPr>
          <p:nvPr>
            <p:ph type="chart" sz="quarter" idx="11"/>
          </p:nvPr>
        </p:nvSpPr>
        <p:spPr>
          <a:xfrm>
            <a:off x="6542996" y="4325144"/>
            <a:ext cx="5259387" cy="2012950"/>
          </a:xfrm>
        </p:spPr>
        <p:txBody>
          <a:bodyPr/>
          <a:lstStyle/>
          <a:p>
            <a:endParaRPr lang="en-GB"/>
          </a:p>
        </p:txBody>
      </p:sp>
      <p:sp>
        <p:nvSpPr>
          <p:cNvPr id="14" name="Text Placeholder 13">
            <a:extLst>
              <a:ext uri="{FF2B5EF4-FFF2-40B4-BE49-F238E27FC236}">
                <a16:creationId xmlns:a16="http://schemas.microsoft.com/office/drawing/2014/main" id="{2DFEA1BA-A093-DDF9-3DB8-B4A28E960CDA}"/>
              </a:ext>
            </a:extLst>
          </p:cNvPr>
          <p:cNvSpPr>
            <a:spLocks noGrp="1"/>
          </p:cNvSpPr>
          <p:nvPr>
            <p:ph type="body" sz="quarter" idx="12"/>
          </p:nvPr>
        </p:nvSpPr>
        <p:spPr>
          <a:xfrm>
            <a:off x="258763" y="3993099"/>
            <a:ext cx="5599112" cy="2283876"/>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Box 153">
            <a:extLst>
              <a:ext uri="{FF2B5EF4-FFF2-40B4-BE49-F238E27FC236}">
                <a16:creationId xmlns:a16="http://schemas.microsoft.com/office/drawing/2014/main" id="{09F7A666-201F-9258-69E7-81D59D339426}"/>
              </a:ext>
            </a:extLst>
          </p:cNvPr>
          <p:cNvSpPr txBox="1"/>
          <p:nvPr userDrawn="1"/>
        </p:nvSpPr>
        <p:spPr>
          <a:xfrm>
            <a:off x="6449820" y="797725"/>
            <a:ext cx="5352369" cy="345556"/>
          </a:xfrm>
          <a:prstGeom prst="roundRect">
            <a:avLst/>
          </a:prstGeom>
          <a:solidFill>
            <a:srgbClr val="6FACFF">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Current Endeavours</a:t>
            </a:r>
          </a:p>
        </p:txBody>
      </p:sp>
      <p:sp>
        <p:nvSpPr>
          <p:cNvPr id="16" name="Text Placeholder 13">
            <a:extLst>
              <a:ext uri="{FF2B5EF4-FFF2-40B4-BE49-F238E27FC236}">
                <a16:creationId xmlns:a16="http://schemas.microsoft.com/office/drawing/2014/main" id="{A6C93ED4-1702-7B8D-5F36-E67260FB774A}"/>
              </a:ext>
            </a:extLst>
          </p:cNvPr>
          <p:cNvSpPr>
            <a:spLocks noGrp="1"/>
          </p:cNvSpPr>
          <p:nvPr>
            <p:ph type="body" sz="quarter" idx="13"/>
          </p:nvPr>
        </p:nvSpPr>
        <p:spPr>
          <a:xfrm>
            <a:off x="6450014" y="1488859"/>
            <a:ext cx="5352369"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cture Placeholder 18">
            <a:extLst>
              <a:ext uri="{FF2B5EF4-FFF2-40B4-BE49-F238E27FC236}">
                <a16:creationId xmlns:a16="http://schemas.microsoft.com/office/drawing/2014/main" id="{50C145BC-849C-7BED-8D76-9D2CBB6027C8}"/>
              </a:ext>
            </a:extLst>
          </p:cNvPr>
          <p:cNvSpPr>
            <a:spLocks noGrp="1"/>
          </p:cNvSpPr>
          <p:nvPr>
            <p:ph type="pic" sz="quarter" idx="16"/>
          </p:nvPr>
        </p:nvSpPr>
        <p:spPr>
          <a:xfrm>
            <a:off x="11085405" y="1597483"/>
            <a:ext cx="560387" cy="584200"/>
          </a:xfrm>
        </p:spPr>
        <p:txBody>
          <a:bodyPr/>
          <a:lstStyle/>
          <a:p>
            <a:endParaRPr lang="en-GB"/>
          </a:p>
        </p:txBody>
      </p:sp>
      <p:sp>
        <p:nvSpPr>
          <p:cNvPr id="11" name="Picture Placeholder 18">
            <a:extLst>
              <a:ext uri="{FF2B5EF4-FFF2-40B4-BE49-F238E27FC236}">
                <a16:creationId xmlns:a16="http://schemas.microsoft.com/office/drawing/2014/main" id="{D8485975-C325-68AD-C16C-A6ED6801C253}"/>
              </a:ext>
            </a:extLst>
          </p:cNvPr>
          <p:cNvSpPr>
            <a:spLocks noGrp="1"/>
          </p:cNvSpPr>
          <p:nvPr>
            <p:ph type="pic" sz="quarter" idx="17"/>
          </p:nvPr>
        </p:nvSpPr>
        <p:spPr>
          <a:xfrm>
            <a:off x="5136357" y="4477512"/>
            <a:ext cx="560387" cy="584200"/>
          </a:xfrm>
        </p:spPr>
        <p:txBody>
          <a:bodyPr/>
          <a:lstStyle/>
          <a:p>
            <a:endParaRPr lang="en-GB"/>
          </a:p>
        </p:txBody>
      </p:sp>
    </p:spTree>
    <p:extLst>
      <p:ext uri="{BB962C8B-B14F-4D97-AF65-F5344CB8AC3E}">
        <p14:creationId xmlns:p14="http://schemas.microsoft.com/office/powerpoint/2010/main" val="1840751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DE9D625-B252-EFFB-3A00-7B566DC08A6F}"/>
              </a:ext>
            </a:extLst>
          </p:cNvPr>
          <p:cNvSpPr/>
          <p:nvPr userDrawn="1"/>
        </p:nvSpPr>
        <p:spPr>
          <a:xfrm>
            <a:off x="4395498" y="2088107"/>
            <a:ext cx="3519725" cy="283954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 name="Rectangle 5">
            <a:extLst>
              <a:ext uri="{FF2B5EF4-FFF2-40B4-BE49-F238E27FC236}">
                <a16:creationId xmlns:a16="http://schemas.microsoft.com/office/drawing/2014/main" id="{1BC3EBF0-E13C-252F-470B-3F9796752F0C}"/>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Investment Highlights</a:t>
            </a:r>
            <a:endParaRPr sz="2000" b="1" dirty="0">
              <a:solidFill>
                <a:srgbClr val="FFFFFF"/>
              </a:solidFill>
              <a:latin typeface="Arial"/>
            </a:endParaRPr>
          </a:p>
        </p:txBody>
      </p:sp>
      <p:sp>
        <p:nvSpPr>
          <p:cNvPr id="4" name="TextBox 3">
            <a:extLst>
              <a:ext uri="{FF2B5EF4-FFF2-40B4-BE49-F238E27FC236}">
                <a16:creationId xmlns:a16="http://schemas.microsoft.com/office/drawing/2014/main" id="{079099D8-B111-64B9-AED3-0B81F8134912}"/>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5" name="Picture 4" descr="A white letter on a black background&#10;&#10;AI-generated content may be incorrect.">
            <a:extLst>
              <a:ext uri="{FF2B5EF4-FFF2-40B4-BE49-F238E27FC236}">
                <a16:creationId xmlns:a16="http://schemas.microsoft.com/office/drawing/2014/main" id="{20DAE98F-4E14-A8A3-15C2-ED6852567ACC}"/>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8" name="TextBox 7">
            <a:extLst>
              <a:ext uri="{FF2B5EF4-FFF2-40B4-BE49-F238E27FC236}">
                <a16:creationId xmlns:a16="http://schemas.microsoft.com/office/drawing/2014/main" id="{9C614A9E-8F95-982B-8753-47EDDA1EBD51}"/>
              </a:ext>
            </a:extLst>
          </p:cNvPr>
          <p:cNvSpPr txBox="1"/>
          <p:nvPr userDrawn="1"/>
        </p:nvSpPr>
        <p:spPr>
          <a:xfrm>
            <a:off x="445822"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5" name="TextBox 34">
            <a:extLst>
              <a:ext uri="{FF2B5EF4-FFF2-40B4-BE49-F238E27FC236}">
                <a16:creationId xmlns:a16="http://schemas.microsoft.com/office/drawing/2014/main" id="{FF534886-F3B6-8ECD-72C7-0AF52C54FDBE}"/>
              </a:ext>
            </a:extLst>
          </p:cNvPr>
          <p:cNvSpPr txBox="1"/>
          <p:nvPr userDrawn="1"/>
        </p:nvSpPr>
        <p:spPr>
          <a:xfrm>
            <a:off x="445822" y="3090275"/>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6" name="TextBox 35">
            <a:extLst>
              <a:ext uri="{FF2B5EF4-FFF2-40B4-BE49-F238E27FC236}">
                <a16:creationId xmlns:a16="http://schemas.microsoft.com/office/drawing/2014/main" id="{FC6F682F-2F9F-0CE1-8721-13E3F577FC72}"/>
              </a:ext>
            </a:extLst>
          </p:cNvPr>
          <p:cNvSpPr txBox="1"/>
          <p:nvPr userDrawn="1"/>
        </p:nvSpPr>
        <p:spPr>
          <a:xfrm>
            <a:off x="8229266"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7" name="TextBox 36">
            <a:extLst>
              <a:ext uri="{FF2B5EF4-FFF2-40B4-BE49-F238E27FC236}">
                <a16:creationId xmlns:a16="http://schemas.microsoft.com/office/drawing/2014/main" id="{AAF64F0F-101E-61D2-B3AC-357F5CB3FA39}"/>
              </a:ext>
            </a:extLst>
          </p:cNvPr>
          <p:cNvSpPr txBox="1"/>
          <p:nvPr userDrawn="1"/>
        </p:nvSpPr>
        <p:spPr>
          <a:xfrm>
            <a:off x="8229265" y="4982247"/>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2" name="TextBox 1">
            <a:extLst>
              <a:ext uri="{FF2B5EF4-FFF2-40B4-BE49-F238E27FC236}">
                <a16:creationId xmlns:a16="http://schemas.microsoft.com/office/drawing/2014/main" id="{492E92FF-7727-F376-371F-DF4984617C32}"/>
              </a:ext>
            </a:extLst>
          </p:cNvPr>
          <p:cNvSpPr txBox="1"/>
          <p:nvPr userDrawn="1"/>
        </p:nvSpPr>
        <p:spPr>
          <a:xfrm>
            <a:off x="445821" y="4960264"/>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 name="TextBox 2">
            <a:extLst>
              <a:ext uri="{FF2B5EF4-FFF2-40B4-BE49-F238E27FC236}">
                <a16:creationId xmlns:a16="http://schemas.microsoft.com/office/drawing/2014/main" id="{F8A9165A-549C-5FC1-E3B8-CC0D1FCCCBF8}"/>
              </a:ext>
            </a:extLst>
          </p:cNvPr>
          <p:cNvSpPr txBox="1"/>
          <p:nvPr userDrawn="1"/>
        </p:nvSpPr>
        <p:spPr>
          <a:xfrm>
            <a:off x="8229264" y="2982402"/>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9" name="Text Placeholder 8">
            <a:extLst>
              <a:ext uri="{FF2B5EF4-FFF2-40B4-BE49-F238E27FC236}">
                <a16:creationId xmlns:a16="http://schemas.microsoft.com/office/drawing/2014/main" id="{173ACBEE-F2CF-9F04-221F-55220E28F08D}"/>
              </a:ext>
            </a:extLst>
          </p:cNvPr>
          <p:cNvSpPr>
            <a:spLocks noGrp="1"/>
          </p:cNvSpPr>
          <p:nvPr>
            <p:ph type="body" sz="quarter" idx="10"/>
          </p:nvPr>
        </p:nvSpPr>
        <p:spPr>
          <a:xfrm>
            <a:off x="576842"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Text Placeholder 8">
            <a:extLst>
              <a:ext uri="{FF2B5EF4-FFF2-40B4-BE49-F238E27FC236}">
                <a16:creationId xmlns:a16="http://schemas.microsoft.com/office/drawing/2014/main" id="{C16A02EF-3A0A-9F69-ED41-5964EB2FB726}"/>
              </a:ext>
            </a:extLst>
          </p:cNvPr>
          <p:cNvSpPr>
            <a:spLocks noGrp="1"/>
          </p:cNvSpPr>
          <p:nvPr>
            <p:ph type="body" sz="quarter" idx="11"/>
          </p:nvPr>
        </p:nvSpPr>
        <p:spPr>
          <a:xfrm>
            <a:off x="576842" y="3208607"/>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Text Placeholder 8">
            <a:extLst>
              <a:ext uri="{FF2B5EF4-FFF2-40B4-BE49-F238E27FC236}">
                <a16:creationId xmlns:a16="http://schemas.microsoft.com/office/drawing/2014/main" id="{3279AE7B-09C6-FA87-CD67-8A56043506EF}"/>
              </a:ext>
            </a:extLst>
          </p:cNvPr>
          <p:cNvSpPr>
            <a:spLocks noGrp="1"/>
          </p:cNvSpPr>
          <p:nvPr>
            <p:ph type="body" sz="quarter" idx="12"/>
          </p:nvPr>
        </p:nvSpPr>
        <p:spPr>
          <a:xfrm>
            <a:off x="576842"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2" name="Text Placeholder 8">
            <a:extLst>
              <a:ext uri="{FF2B5EF4-FFF2-40B4-BE49-F238E27FC236}">
                <a16:creationId xmlns:a16="http://schemas.microsoft.com/office/drawing/2014/main" id="{91EFA2E5-2EED-FC30-19ED-119A4FA44F35}"/>
              </a:ext>
            </a:extLst>
          </p:cNvPr>
          <p:cNvSpPr>
            <a:spLocks noGrp="1"/>
          </p:cNvSpPr>
          <p:nvPr>
            <p:ph type="body" sz="quarter" idx="13"/>
          </p:nvPr>
        </p:nvSpPr>
        <p:spPr>
          <a:xfrm>
            <a:off x="8358148"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Text Placeholder 8">
            <a:extLst>
              <a:ext uri="{FF2B5EF4-FFF2-40B4-BE49-F238E27FC236}">
                <a16:creationId xmlns:a16="http://schemas.microsoft.com/office/drawing/2014/main" id="{9B35D539-7AB8-8443-6FCD-CB867FE8F6D5}"/>
              </a:ext>
            </a:extLst>
          </p:cNvPr>
          <p:cNvSpPr>
            <a:spLocks noGrp="1"/>
          </p:cNvSpPr>
          <p:nvPr>
            <p:ph type="body" sz="quarter" idx="14"/>
          </p:nvPr>
        </p:nvSpPr>
        <p:spPr>
          <a:xfrm>
            <a:off x="8358148" y="3090275"/>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4" name="Text Placeholder 8">
            <a:extLst>
              <a:ext uri="{FF2B5EF4-FFF2-40B4-BE49-F238E27FC236}">
                <a16:creationId xmlns:a16="http://schemas.microsoft.com/office/drawing/2014/main" id="{BE808182-B9EA-8FEC-B991-239B2BC4B72F}"/>
              </a:ext>
            </a:extLst>
          </p:cNvPr>
          <p:cNvSpPr>
            <a:spLocks noGrp="1"/>
          </p:cNvSpPr>
          <p:nvPr>
            <p:ph type="body" sz="quarter" idx="15"/>
          </p:nvPr>
        </p:nvSpPr>
        <p:spPr>
          <a:xfrm>
            <a:off x="8358148"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Picture Placeholder 14">
            <a:extLst>
              <a:ext uri="{FF2B5EF4-FFF2-40B4-BE49-F238E27FC236}">
                <a16:creationId xmlns:a16="http://schemas.microsoft.com/office/drawing/2014/main" id="{1151F41C-DF8D-8A26-5C35-EDCAA413E2E3}"/>
              </a:ext>
            </a:extLst>
          </p:cNvPr>
          <p:cNvSpPr>
            <a:spLocks noGrp="1"/>
          </p:cNvSpPr>
          <p:nvPr>
            <p:ph type="pic" sz="quarter" idx="16"/>
          </p:nvPr>
        </p:nvSpPr>
        <p:spPr>
          <a:xfrm>
            <a:off x="4586288" y="2252663"/>
            <a:ext cx="3138487" cy="2470150"/>
          </a:xfrm>
        </p:spPr>
        <p:txBody>
          <a:bodyPr/>
          <a:lstStyle/>
          <a:p>
            <a:endParaRPr lang="en-GB"/>
          </a:p>
        </p:txBody>
      </p:sp>
    </p:spTree>
    <p:extLst>
      <p:ext uri="{BB962C8B-B14F-4D97-AF65-F5344CB8AC3E}">
        <p14:creationId xmlns:p14="http://schemas.microsoft.com/office/powerpoint/2010/main" val="1010910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ing_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27CB1D8-835C-AF66-B603-006B6ECA9B61}"/>
              </a:ext>
            </a:extLst>
          </p:cNvPr>
          <p:cNvSpPr/>
          <p:nvPr userDrawn="1"/>
        </p:nvSpPr>
        <p:spPr>
          <a:xfrm>
            <a:off x="-359763" y="-191125"/>
            <a:ext cx="13211331" cy="7240249"/>
          </a:xfrm>
          <a:prstGeom prst="rect">
            <a:avLst/>
          </a:prstGeom>
          <a:solidFill>
            <a:srgbClr val="0033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 name="TextBox 7">
            <a:extLst>
              <a:ext uri="{FF2B5EF4-FFF2-40B4-BE49-F238E27FC236}">
                <a16:creationId xmlns:a16="http://schemas.microsoft.com/office/drawing/2014/main" id="{6CA54CD8-076B-81E2-4178-71ACCDFD8043}"/>
              </a:ext>
            </a:extLst>
          </p:cNvPr>
          <p:cNvSpPr txBox="1"/>
          <p:nvPr userDrawn="1"/>
        </p:nvSpPr>
        <p:spPr>
          <a:xfrm>
            <a:off x="1" y="2540294"/>
            <a:ext cx="12192000" cy="1346522"/>
          </a:xfrm>
          <a:prstGeom prst="rect">
            <a:avLst/>
          </a:prstGeom>
          <a:noFill/>
        </p:spPr>
        <p:txBody>
          <a:bodyPr wrap="square">
            <a:spAutoFit/>
          </a:bodyPr>
          <a:lstStyle/>
          <a:p>
            <a:pPr algn="just"/>
            <a:r>
              <a:rPr lang="en-IN" sz="2000" dirty="0">
                <a:solidFill>
                  <a:schemeClr val="bg1"/>
                </a:solidFill>
                <a:latin typeface="Arial" panose="020B0604020202020204" pitchFamily="34" charset="0"/>
                <a:cs typeface="Arial" panose="020B0604020202020204" pitchFamily="34" charset="0"/>
              </a:rPr>
              <a:t>Important Notice &amp; </a:t>
            </a:r>
            <a:r>
              <a:rPr lang="en-US" sz="2000" dirty="0">
                <a:solidFill>
                  <a:schemeClr val="bg1"/>
                </a:solidFill>
                <a:latin typeface="Arial" panose="020B0604020202020204" pitchFamily="34" charset="0"/>
                <a:cs typeface="Arial" panose="020B0604020202020204" pitchFamily="34" charset="0"/>
              </a:rPr>
              <a:t>Disclaimer</a:t>
            </a:r>
          </a:p>
          <a:p>
            <a:pPr algn="just"/>
            <a:endParaRPr lang="en-US" sz="1350" b="0" dirty="0">
              <a:solidFill>
                <a:schemeClr val="bg1"/>
              </a:solidFill>
              <a:latin typeface="Arial" panose="020B0604020202020204" pitchFamily="34" charset="0"/>
              <a:cs typeface="Arial" panose="020B0604020202020204" pitchFamily="34" charset="0"/>
            </a:endParaRPr>
          </a:p>
          <a:p>
            <a:pPr algn="just"/>
            <a:r>
              <a:rPr lang="en-IN" sz="1200" b="1" dirty="0">
                <a:solidFill>
                  <a:schemeClr val="bg1"/>
                </a:solidFill>
                <a:latin typeface="Arial" panose="020B0604020202020204" pitchFamily="34" charset="0"/>
                <a:cs typeface="Arial" panose="020B0604020202020204" pitchFamily="34" charset="0"/>
              </a:rPr>
              <a:t>Strictly Private &amp; Confidential.</a:t>
            </a:r>
            <a:r>
              <a:rPr lang="en-IN" sz="1200" dirty="0">
                <a:solidFill>
                  <a:schemeClr val="bg1"/>
                </a:solidFill>
                <a:latin typeface="Arial" panose="020B0604020202020204" pitchFamily="34" charset="0"/>
                <a:cs typeface="Arial" panose="020B0604020202020204" pitchFamily="34" charset="0"/>
              </a:rPr>
              <a:t> This presentation is prepared by </a:t>
            </a:r>
            <a:r>
              <a:rPr lang="en-IN" sz="1200" b="1" dirty="0">
                <a:solidFill>
                  <a:schemeClr val="bg1"/>
                </a:solidFill>
                <a:latin typeface="Arial" panose="020B0604020202020204" pitchFamily="34" charset="0"/>
                <a:cs typeface="Arial" panose="020B0604020202020204" pitchFamily="34" charset="0"/>
              </a:rPr>
              <a:t>Kelp Global</a:t>
            </a:r>
            <a:r>
              <a:rPr lang="en-IN" sz="1200" dirty="0">
                <a:solidFill>
                  <a:schemeClr val="bg1"/>
                </a:solidFill>
                <a:latin typeface="Arial" panose="020B0604020202020204" pitchFamily="34" charset="0"/>
                <a:cs typeface="Arial" panose="020B0604020202020204" pitchFamily="34" charset="0"/>
              </a:rPr>
              <a:t>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(e.g., FY26–FY28E) based on current assumptions; actual results may vary materially.</a:t>
            </a:r>
            <a:endParaRPr lang="en-US" sz="1200" b="0" dirty="0">
              <a:solidFill>
                <a:schemeClr val="bg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528C02C-2DF5-5316-A9C5-9681A979014E}"/>
              </a:ext>
            </a:extLst>
          </p:cNvPr>
          <p:cNvSpPr txBox="1"/>
          <p:nvPr userDrawn="1"/>
        </p:nvSpPr>
        <p:spPr>
          <a:xfrm>
            <a:off x="4459726" y="6762462"/>
            <a:ext cx="3511457" cy="230832"/>
          </a:xfrm>
          <a:prstGeom prst="rect">
            <a:avLst/>
          </a:prstGeom>
          <a:noFill/>
        </p:spPr>
        <p:txBody>
          <a:bodyPr wrap="square">
            <a:spAutoFit/>
          </a:bodyPr>
          <a:lstStyle/>
          <a:p>
            <a:r>
              <a:rPr lang="en-IN" sz="900" b="0" dirty="0">
                <a:solidFill>
                  <a:schemeClr val="bg1"/>
                </a:solidFill>
                <a:latin typeface="Arial"/>
              </a:rPr>
              <a:t>Strictly Private &amp; Confidential – Prepared by Kelp M&amp;A Team</a:t>
            </a:r>
            <a:endParaRPr lang="en-US" sz="900" dirty="0">
              <a:solidFill>
                <a:schemeClr val="bg1"/>
              </a:solidFill>
            </a:endParaRPr>
          </a:p>
        </p:txBody>
      </p:sp>
      <p:pic>
        <p:nvPicPr>
          <p:cNvPr id="10" name="Picture 9" descr="A white letter on a black background&#10;&#10;AI-generated content may be incorrect.">
            <a:extLst>
              <a:ext uri="{FF2B5EF4-FFF2-40B4-BE49-F238E27FC236}">
                <a16:creationId xmlns:a16="http://schemas.microsoft.com/office/drawing/2014/main" id="{90BC9A44-27D7-8D38-8B51-54EB762103C4}"/>
              </a:ext>
            </a:extLst>
          </p:cNvPr>
          <p:cNvPicPr>
            <a:picLocks noChangeAspect="1"/>
          </p:cNvPicPr>
          <p:nvPr userDrawn="1"/>
        </p:nvPicPr>
        <p:blipFill>
          <a:blip r:embed="rId2"/>
          <a:stretch>
            <a:fillRect/>
          </a:stretch>
        </p:blipFill>
        <p:spPr>
          <a:xfrm>
            <a:off x="196057" y="811231"/>
            <a:ext cx="1911873" cy="726707"/>
          </a:xfrm>
          <a:prstGeom prst="rect">
            <a:avLst/>
          </a:prstGeom>
        </p:spPr>
      </p:pic>
    </p:spTree>
    <p:extLst>
      <p:ext uri="{BB962C8B-B14F-4D97-AF65-F5344CB8AC3E}">
        <p14:creationId xmlns:p14="http://schemas.microsoft.com/office/powerpoint/2010/main" val="1843807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Brand Overview and Market Presence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151189"/>
            <a:ext cx="8081253"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46059" y="1354422"/>
            <a:ext cx="8017579" cy="25138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188308" y="4693425"/>
            <a:ext cx="8081252" cy="1805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36262" y="1417132"/>
            <a:ext cx="8017580" cy="2388473"/>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79773" y="4865557"/>
            <a:ext cx="7550150" cy="1420812"/>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TextBox 1">
            <a:extLst>
              <a:ext uri="{FF2B5EF4-FFF2-40B4-BE49-F238E27FC236}">
                <a16:creationId xmlns:a16="http://schemas.microsoft.com/office/drawing/2014/main" id="{4956E25C-1867-5A97-A053-74EF89CF8053}"/>
              </a:ext>
            </a:extLst>
          </p:cNvPr>
          <p:cNvSpPr txBox="1"/>
          <p:nvPr userDrawn="1"/>
        </p:nvSpPr>
        <p:spPr>
          <a:xfrm>
            <a:off x="154288" y="814857"/>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Brand Overview</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066601"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t>
            </a:r>
          </a:p>
        </p:txBody>
      </p:sp>
      <p:sp>
        <p:nvSpPr>
          <p:cNvPr id="14" name="TextBox 13">
            <a:extLst>
              <a:ext uri="{FF2B5EF4-FFF2-40B4-BE49-F238E27FC236}">
                <a16:creationId xmlns:a16="http://schemas.microsoft.com/office/drawing/2014/main" id="{39F8FA0A-4415-E7B6-228E-46B151ECBCE6}"/>
              </a:ext>
            </a:extLst>
          </p:cNvPr>
          <p:cNvSpPr txBox="1"/>
          <p:nvPr userDrawn="1"/>
        </p:nvSpPr>
        <p:spPr>
          <a:xfrm>
            <a:off x="188308" y="4173708"/>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Portfolio and Products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3143250"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560074" y="1480079"/>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542089" y="5012164"/>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Tree>
    <p:extLst>
      <p:ext uri="{BB962C8B-B14F-4D97-AF65-F5344CB8AC3E}">
        <p14:creationId xmlns:p14="http://schemas.microsoft.com/office/powerpoint/2010/main" val="3058600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441912" y="1326032"/>
            <a:ext cx="5352369" cy="2170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126182" y="4211787"/>
            <a:ext cx="5969818" cy="22572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kern="1200" dirty="0">
                <a:solidFill>
                  <a:schemeClr val="lt1"/>
                </a:solidFill>
                <a:effectLst/>
                <a:latin typeface="Arial" panose="020B0604020202020204" pitchFamily="34" charset="0"/>
                <a:ea typeface="+mn-ea"/>
                <a:cs typeface="Arial" panose="020B0604020202020204" pitchFamily="34" charset="0"/>
              </a:rPr>
              <a:t>Growth and Unit Economics</a:t>
            </a: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26182" y="762574"/>
            <a:ext cx="5616000"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Growth</a:t>
            </a: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566721" y="3750090"/>
            <a:ext cx="5352369"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Promoters v/s Non Promoters</a:t>
            </a:r>
          </a:p>
        </p:txBody>
      </p:sp>
      <p:sp>
        <p:nvSpPr>
          <p:cNvPr id="10" name="Chart Placeholder 9">
            <a:extLst>
              <a:ext uri="{FF2B5EF4-FFF2-40B4-BE49-F238E27FC236}">
                <a16:creationId xmlns:a16="http://schemas.microsoft.com/office/drawing/2014/main" id="{314BFA5B-DA44-35AB-4230-666E47503CBA}"/>
              </a:ext>
            </a:extLst>
          </p:cNvPr>
          <p:cNvSpPr>
            <a:spLocks noGrp="1"/>
          </p:cNvSpPr>
          <p:nvPr>
            <p:ph type="chart" sz="quarter" idx="10"/>
          </p:nvPr>
        </p:nvSpPr>
        <p:spPr>
          <a:xfrm>
            <a:off x="258763" y="1296988"/>
            <a:ext cx="5483225" cy="2625725"/>
          </a:xfrm>
        </p:spPr>
        <p:txBody>
          <a:bodyPr/>
          <a:lstStyle/>
          <a:p>
            <a:endParaRPr lang="en-GB"/>
          </a:p>
        </p:txBody>
      </p:sp>
      <p:sp>
        <p:nvSpPr>
          <p:cNvPr id="12" name="Chart Placeholder 11">
            <a:extLst>
              <a:ext uri="{FF2B5EF4-FFF2-40B4-BE49-F238E27FC236}">
                <a16:creationId xmlns:a16="http://schemas.microsoft.com/office/drawing/2014/main" id="{4F4B5099-C250-429F-B035-D8FD2B9191E4}"/>
              </a:ext>
            </a:extLst>
          </p:cNvPr>
          <p:cNvSpPr>
            <a:spLocks noGrp="1"/>
          </p:cNvSpPr>
          <p:nvPr>
            <p:ph type="chart" sz="quarter" idx="11"/>
          </p:nvPr>
        </p:nvSpPr>
        <p:spPr>
          <a:xfrm>
            <a:off x="6542996" y="4325144"/>
            <a:ext cx="5259387" cy="2012950"/>
          </a:xfrm>
        </p:spPr>
        <p:txBody>
          <a:bodyPr/>
          <a:lstStyle/>
          <a:p>
            <a:endParaRPr lang="en-GB"/>
          </a:p>
        </p:txBody>
      </p:sp>
      <p:sp>
        <p:nvSpPr>
          <p:cNvPr id="14" name="Text Placeholder 13">
            <a:extLst>
              <a:ext uri="{FF2B5EF4-FFF2-40B4-BE49-F238E27FC236}">
                <a16:creationId xmlns:a16="http://schemas.microsoft.com/office/drawing/2014/main" id="{2DFEA1BA-A093-DDF9-3DB8-B4A28E960CDA}"/>
              </a:ext>
            </a:extLst>
          </p:cNvPr>
          <p:cNvSpPr>
            <a:spLocks noGrp="1"/>
          </p:cNvSpPr>
          <p:nvPr>
            <p:ph type="body" sz="quarter" idx="12"/>
          </p:nvPr>
        </p:nvSpPr>
        <p:spPr>
          <a:xfrm>
            <a:off x="258763" y="4386263"/>
            <a:ext cx="5599112"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Box 153">
            <a:extLst>
              <a:ext uri="{FF2B5EF4-FFF2-40B4-BE49-F238E27FC236}">
                <a16:creationId xmlns:a16="http://schemas.microsoft.com/office/drawing/2014/main" id="{09F7A666-201F-9258-69E7-81D59D339426}"/>
              </a:ext>
            </a:extLst>
          </p:cNvPr>
          <p:cNvSpPr txBox="1"/>
          <p:nvPr userDrawn="1"/>
        </p:nvSpPr>
        <p:spPr>
          <a:xfrm>
            <a:off x="6449820" y="797725"/>
            <a:ext cx="5352369" cy="345556"/>
          </a:xfrm>
          <a:prstGeom prst="roundRect">
            <a:avLst/>
          </a:prstGeom>
          <a:solidFill>
            <a:srgbClr val="6FACFF">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Current Endeavours</a:t>
            </a:r>
          </a:p>
        </p:txBody>
      </p:sp>
      <p:sp>
        <p:nvSpPr>
          <p:cNvPr id="16" name="Text Placeholder 13">
            <a:extLst>
              <a:ext uri="{FF2B5EF4-FFF2-40B4-BE49-F238E27FC236}">
                <a16:creationId xmlns:a16="http://schemas.microsoft.com/office/drawing/2014/main" id="{A6C93ED4-1702-7B8D-5F36-E67260FB774A}"/>
              </a:ext>
            </a:extLst>
          </p:cNvPr>
          <p:cNvSpPr>
            <a:spLocks noGrp="1"/>
          </p:cNvSpPr>
          <p:nvPr>
            <p:ph type="body" sz="quarter" idx="13"/>
          </p:nvPr>
        </p:nvSpPr>
        <p:spPr>
          <a:xfrm>
            <a:off x="6450014" y="1488859"/>
            <a:ext cx="5352369"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cture Placeholder 18">
            <a:extLst>
              <a:ext uri="{FF2B5EF4-FFF2-40B4-BE49-F238E27FC236}">
                <a16:creationId xmlns:a16="http://schemas.microsoft.com/office/drawing/2014/main" id="{50C145BC-849C-7BED-8D76-9D2CBB6027C8}"/>
              </a:ext>
            </a:extLst>
          </p:cNvPr>
          <p:cNvSpPr>
            <a:spLocks noGrp="1"/>
          </p:cNvSpPr>
          <p:nvPr>
            <p:ph type="pic" sz="quarter" idx="16"/>
          </p:nvPr>
        </p:nvSpPr>
        <p:spPr>
          <a:xfrm>
            <a:off x="11085405" y="1597483"/>
            <a:ext cx="560387" cy="584200"/>
          </a:xfrm>
        </p:spPr>
        <p:txBody>
          <a:bodyPr/>
          <a:lstStyle/>
          <a:p>
            <a:endParaRPr lang="en-GB"/>
          </a:p>
        </p:txBody>
      </p:sp>
      <p:sp>
        <p:nvSpPr>
          <p:cNvPr id="11" name="Picture Placeholder 18">
            <a:extLst>
              <a:ext uri="{FF2B5EF4-FFF2-40B4-BE49-F238E27FC236}">
                <a16:creationId xmlns:a16="http://schemas.microsoft.com/office/drawing/2014/main" id="{D8485975-C325-68AD-C16C-A6ED6801C253}"/>
              </a:ext>
            </a:extLst>
          </p:cNvPr>
          <p:cNvSpPr>
            <a:spLocks noGrp="1"/>
          </p:cNvSpPr>
          <p:nvPr>
            <p:ph type="pic" sz="quarter" idx="17"/>
          </p:nvPr>
        </p:nvSpPr>
        <p:spPr>
          <a:xfrm>
            <a:off x="5136357" y="4477512"/>
            <a:ext cx="560387" cy="584200"/>
          </a:xfrm>
        </p:spPr>
        <p:txBody>
          <a:bodyPr/>
          <a:lstStyle/>
          <a:p>
            <a:endParaRPr lang="en-GB"/>
          </a:p>
        </p:txBody>
      </p:sp>
    </p:spTree>
    <p:extLst>
      <p:ext uri="{BB962C8B-B14F-4D97-AF65-F5344CB8AC3E}">
        <p14:creationId xmlns:p14="http://schemas.microsoft.com/office/powerpoint/2010/main" val="49592600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4634" y="484094"/>
            <a:ext cx="10075084" cy="1116106"/>
          </a:xfrm>
          <a:prstGeom prst="rect">
            <a:avLst/>
          </a:prstGeom>
        </p:spPr>
        <p:txBody>
          <a:bodyPr vert="horz" lIns="91440" tIns="45720" rIns="91440" bIns="45720" rtlCol="0" anchor="t" anchorCtr="0">
            <a:noAutofit/>
          </a:bodyPr>
          <a:lstStyle/>
          <a:p>
            <a:r>
              <a:rPr lang="en-GB"/>
              <a:t>Click to edit Master title style</a:t>
            </a:r>
            <a:endParaRPr/>
          </a:p>
        </p:txBody>
      </p:sp>
      <p:sp>
        <p:nvSpPr>
          <p:cNvPr id="3" name="Text Placeholder 2"/>
          <p:cNvSpPr>
            <a:spLocks noGrp="1"/>
          </p:cNvSpPr>
          <p:nvPr>
            <p:ph type="body" idx="1"/>
          </p:nvPr>
        </p:nvSpPr>
        <p:spPr>
          <a:xfrm>
            <a:off x="664634" y="1981203"/>
            <a:ext cx="10075084" cy="4144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060329" y="6423588"/>
            <a:ext cx="2844800" cy="365125"/>
          </a:xfrm>
          <a:prstGeom prst="rect">
            <a:avLst/>
          </a:prstGeom>
        </p:spPr>
        <p:txBody>
          <a:bodyPr vert="horz" lIns="91440" tIns="45720" rIns="91440" bIns="45720" rtlCol="0" anchor="ctr"/>
          <a:lstStyle>
            <a:lvl1pPr algn="r">
              <a:defRPr sz="825">
                <a:solidFill>
                  <a:schemeClr val="tx1">
                    <a:lumMod val="65000"/>
                    <a:lumOff val="35000"/>
                  </a:schemeClr>
                </a:solidFill>
              </a:defRPr>
            </a:lvl1pPr>
          </a:lstStyle>
          <a:p>
            <a:fld id="{E3AE72C7-7358-2242-B91F-8F564DC30B2C}" type="datetimeFigureOut">
              <a:rPr lang="en-US" smtClean="0"/>
              <a:t>2/5/2026</a:t>
            </a:fld>
            <a:endParaRPr lang="en-US"/>
          </a:p>
        </p:txBody>
      </p:sp>
      <p:sp>
        <p:nvSpPr>
          <p:cNvPr id="5" name="Footer Placeholder 4"/>
          <p:cNvSpPr>
            <a:spLocks noGrp="1"/>
          </p:cNvSpPr>
          <p:nvPr>
            <p:ph type="ftr" sz="quarter" idx="3"/>
          </p:nvPr>
        </p:nvSpPr>
        <p:spPr>
          <a:xfrm>
            <a:off x="268941" y="6423588"/>
            <a:ext cx="8163859"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1074400" y="242236"/>
            <a:ext cx="738717" cy="365125"/>
          </a:xfrm>
          <a:prstGeom prst="rect">
            <a:avLst/>
          </a:prstGeom>
        </p:spPr>
        <p:txBody>
          <a:bodyPr vert="horz" lIns="91440" tIns="45720" rIns="91440" bIns="45720" rtlCol="0" anchor="ctr"/>
          <a:lstStyle>
            <a:lvl1pPr algn="r">
              <a:defRPr sz="1050">
                <a:solidFill>
                  <a:schemeClr val="bg1"/>
                </a:solidFill>
              </a:defRPr>
            </a:lvl1pPr>
          </a:lstStyle>
          <a:p>
            <a:fld id="{98DF15E9-887E-AA4B-A287-7DA0FC14E13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2" r:id="rId5"/>
    <p:sldLayoutId id="2147483666" r:id="rId6"/>
    <p:sldLayoutId id="2147483667" r:id="rId7"/>
  </p:sldLayoutIdLst>
  <p:txStyles>
    <p:titleStyle>
      <a:lvl1pPr algn="l" defTabSz="685800" rtl="0" eaLnBrk="1" latinLnBrk="0" hangingPunct="1">
        <a:spcBef>
          <a:spcPct val="0"/>
        </a:spcBef>
        <a:buNone/>
        <a:defRPr sz="2700" b="0" kern="1200">
          <a:solidFill>
            <a:schemeClr val="accent1"/>
          </a:solidFill>
          <a:latin typeface="+mj-lt"/>
          <a:ea typeface="+mj-ea"/>
          <a:cs typeface="+mj-cs"/>
        </a:defRPr>
      </a:lvl1pPr>
    </p:titleStyle>
    <p:bodyStyle>
      <a:lvl1pPr marL="171450" indent="-171450" algn="l" defTabSz="685800" rtl="0" eaLnBrk="1" latinLnBrk="0" hangingPunct="1">
        <a:spcBef>
          <a:spcPts val="1500"/>
        </a:spcBef>
        <a:buClr>
          <a:schemeClr val="accent1"/>
        </a:buClr>
        <a:buSzPct val="75000"/>
        <a:buFont typeface="Wingdings" pitchFamily="2" charset="2"/>
        <a:buChar char="n"/>
        <a:defRPr sz="1500" kern="1200">
          <a:solidFill>
            <a:schemeClr val="tx1">
              <a:lumMod val="65000"/>
              <a:lumOff val="35000"/>
            </a:schemeClr>
          </a:solidFill>
          <a:latin typeface="+mn-lt"/>
          <a:ea typeface="+mn-ea"/>
          <a:cs typeface="+mn-cs"/>
        </a:defRPr>
      </a:lvl1pPr>
      <a:lvl2pPr marL="3429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2pPr>
      <a:lvl3pPr marL="5143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3pPr>
      <a:lvl4pPr marL="6858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4pPr>
      <a:lvl5pPr marL="8572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5pPr>
      <a:lvl6pPr marL="1033463"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dirty="0" smtClean="0">
          <a:solidFill>
            <a:schemeClr val="tx1">
              <a:lumMod val="65000"/>
              <a:lumOff val="35000"/>
            </a:schemeClr>
          </a:solidFill>
          <a:latin typeface="+mn-lt"/>
          <a:ea typeface="+mn-ea"/>
          <a:cs typeface="+mn-cs"/>
        </a:defRPr>
      </a:lvl6pPr>
      <a:lvl7pPr marL="1202531" indent="-171450" algn="l" defTabSz="685800" rtl="0" eaLnBrk="1" latinLnBrk="0" hangingPunct="1">
        <a:spcBef>
          <a:spcPct val="20000"/>
        </a:spcBef>
        <a:buClr>
          <a:schemeClr val="accent1"/>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7pPr>
      <a:lvl8pPr marL="1372791"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8pPr>
      <a:lvl9pPr marL="1543050" indent="-171450" algn="l" defTabSz="685800" rtl="0" eaLnBrk="1" latinLnBrk="0" hangingPunct="1">
        <a:spcBef>
          <a:spcPct val="20000"/>
        </a:spcBef>
        <a:buClr>
          <a:schemeClr val="accent1"/>
        </a:buClr>
        <a:buSzPct val="75000"/>
        <a:buFont typeface="Wingdings" pitchFamily="2" charset="2"/>
        <a:buChar char=""/>
        <a:defRPr lang="en-US" sz="1350" kern="1200" baseline="0" dirty="0">
          <a:solidFill>
            <a:schemeClr val="tx1">
              <a:lumMod val="65000"/>
              <a:lumOff val="35000"/>
            </a:schemeClr>
          </a:solidFill>
          <a:latin typeface="+mn-lt"/>
          <a:ea typeface="+mn-ea"/>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The Company is a leading manufacturer and marketer of APIs and pharmaceutical formulations with an integrated R&amp;D-led model.
Operations are diversified across five core therapeutic areas including the Central Nervous System and Anti-Infectives.
Manufacturing infrastructure is backed by global regulatory approvals including USFDA and WHO-GMP certifications.
The business serves a B2B client base including top-tier global generic and innovator companies.
Strategic focus on complex molecule development and expanding geographical presence in high-growth regulated markets.</a:t>
            </a:r>
          </a:p>
        </p:txBody>
      </p:sp>
      <p:sp>
        <p:nvSpPr>
          <p:cNvPr id="3" name="Text Placeholder 2"/>
          <p:cNvSpPr>
            <a:spLocks noGrp="1"/>
          </p:cNvSpPr>
          <p:nvPr>
            <p:ph type="body" idx="11" sz="quarter"/>
          </p:nvPr>
        </p:nvSpPr>
        <p:spPr/>
        <p:txBody>
          <a:bodyPr/>
          <a:lstStyle/>
          <a:p>
            <a:r>
              <a:rPr b="0"/>
              <a:t>Comprehensive range of Active Pharmaceutical Ingredients (APIs) and finished formulations.
Specialized therapeutic segments across CNS, Cardiovascular, Anti-Infectives, and Gastrointestinal systems.
Multi-divisional structure including Noble, Nova, Ethical, and Generic units to maximize market reach.</a:t>
            </a:r>
          </a:p>
        </p:txBody>
      </p:sp>
      <p:pic>
        <p:nvPicPr>
          <p:cNvPr id="4" name="Picture Placeholder 3" descr="iso 9001.png"/>
          <p:cNvPicPr>
            <a:picLocks noGrp="1" noChangeAspect="1"/>
          </p:cNvPicPr>
          <p:nvPr>
            <p:ph type="pic" idx="12" sz="quarter"/>
          </p:nvPr>
        </p:nvPicPr>
        <p:blipFill>
          <a:blip r:embed="rId2"/>
          <a:srcRect t="3487" b="3487"/>
          <a:stretch>
            <a:fillRect/>
          </a:stretch>
        </p:blipFill>
        <p:spPr/>
      </p:pic>
      <p:sp>
        <p:nvSpPr>
          <p:cNvPr id="5" name="Picture Placeholder 4"/>
          <p:cNvSpPr>
            <a:spLocks noGrp="1"/>
          </p:cNvSpPr>
          <p:nvPr>
            <p:ph type="pic" idx="13" sz="quarter"/>
          </p:nvPr>
        </p:nvSpPr>
        <p:spPr/>
      </p:sp>
      <p:sp>
        <p:nvSpPr>
          <p:cNvPr id="6" name="Picture Placeholder 5"/>
          <p:cNvSpPr>
            <a:spLocks noGrp="1"/>
          </p:cNvSpPr>
          <p:nvPr>
            <p:ph type="pic" idx="14" sz="quarter"/>
          </p:nvPr>
        </p:nvSpPr>
        <p:spPr/>
      </p:sp>
      <p:sp>
        <p:nvSpPr>
          <p:cNvPr id="7" name="Text Placeholder 6"/>
          <p:cNvSpPr>
            <a:spLocks noGrp="1"/>
          </p:cNvSpPr>
          <p:nvPr>
            <p:ph type="body" idx="15" sz="quarter"/>
          </p:nvPr>
        </p:nvSpPr>
        <p:spPr/>
        <p:txBody>
          <a:bodyPr/>
          <a:lstStyle/>
          <a:p>
            <a:r>
              <a:rPr b="0"/>
              <a:t>Established Indian pharmaceutical leader with over 25 years of operational excellence.
Global presence spanning 45 countries including regulated markets like the US, International Markets, and Japan.
Strategically ranked 35th in the Indian pharmaceutical industry and a dominant player in North Domestic Market.</a:t>
            </a:r>
          </a:p>
        </p:txBody>
      </p:sp>
      <p:sp>
        <p:nvSpPr>
          <p:cNvPr id="8" name="Picture Placeholder 7"/>
          <p:cNvSpPr>
            <a:spLocks noGrp="1"/>
          </p:cNvSpPr>
          <p:nvPr>
            <p:ph type="pic" idx="16" sz="quarter"/>
          </p:nvPr>
        </p:nvSpPr>
        <p:spPr/>
      </p:sp>
      <p:sp>
        <p:nvSpPr>
          <p:cNvPr id="9" name="Picture Placeholder 8"/>
          <p:cNvSpPr>
            <a:spLocks noGrp="1"/>
          </p:cNvSpPr>
          <p:nvPr>
            <p:ph type="pic" idx="17" sz="quarter"/>
          </p:nvPr>
        </p:nvSpPr>
        <p:spPr/>
      </p:sp>
      <p:sp>
        <p:nvSpPr>
          <p:cNvPr id="10" name="Picture Placeholder 9"/>
          <p:cNvSpPr>
            <a:spLocks noGrp="1"/>
          </p:cNvSpPr>
          <p:nvPr>
            <p:ph type="pic" idx="18" sz="quarter"/>
          </p:nvPr>
        </p:nvSpPr>
        <p:spPr/>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2" sz="quarter"/>
          </p:nvPr>
        </p:nvSpPr>
        <p:spPr/>
        <p:txBody>
          <a:bodyPr/>
          <a:lstStyle/>
          <a:p>
            <a:r>
              <a:rPr b="0"/>
              <a:t>The Company has shown consistent revenue growth, with a sharp increase to 5,022M INR in FY24. This growth trajectory highlights the successful scaling of manufacturing operations and increased export contribution.</a:t>
            </a:r>
          </a:p>
        </p:txBody>
      </p:sp>
      <p:sp>
        <p:nvSpPr>
          <p:cNvPr id="5" name="Text Placeholder 4"/>
          <p:cNvSpPr>
            <a:spLocks noGrp="1"/>
          </p:cNvSpPr>
          <p:nvPr>
            <p:ph type="body" idx="13" sz="quarter"/>
          </p:nvPr>
        </p:nvSpPr>
        <p:spPr/>
        <p:txBody>
          <a:bodyPr/>
          <a:lstStyle/>
          <a:p>
            <a:r>
              <a:rPr b="0"/>
              <a:t>Manpower distribution reflects a strong commercial engine supported by core scientific and operational teams. The 11% allocation to Research underscores the company's commitment to building a robust molecule pipeline.</a:t>
            </a:r>
          </a:p>
        </p:txBody>
      </p:sp>
      <p:sp>
        <p:nvSpPr>
          <p:cNvPr id="6" name="Picture Placeholder 5"/>
          <p:cNvSpPr>
            <a:spLocks noGrp="1"/>
          </p:cNvSpPr>
          <p:nvPr>
            <p:ph type="pic" idx="16" sz="quarter"/>
          </p:nvPr>
        </p:nvSpPr>
        <p:spPr/>
      </p:sp>
      <p:sp>
        <p:nvSpPr>
          <p:cNvPr id="7" name="Picture Placeholder 6"/>
          <p:cNvSpPr>
            <a:spLocks noGrp="1"/>
          </p:cNvSpPr>
          <p:nvPr>
            <p:ph type="pic" idx="17" sz="quarter"/>
          </p:nvPr>
        </p:nvSpPr>
        <p:spPr/>
      </p:sp>
      <p:graphicFrame>
        <p:nvGraphicFramePr>
          <p:cNvPr id="8" name="Chart 7"/>
          <p:cNvGraphicFramePr>
            <a:graphicFrameLocks noGrp="1"/>
          </p:cNvGraphicFramePr>
          <p:nvPr/>
        </p:nvGraphicFramePr>
        <p:xfrm>
          <a:off x="258763" y="1296988"/>
          <a:ext cx="5483225" cy="2625725"/>
        </p:xfrm>
        <a:graphic>
          <a:graphicData uri="http://schemas.openxmlformats.org/drawingml/2006/chart">
            <c:chart xmlns:c="http://schemas.openxmlformats.org/drawingml/2006/chart" r:id="rId2"/>
          </a:graphicData>
        </a:graphic>
      </p:graphicFrame>
      <p:graphicFrame>
        <p:nvGraphicFramePr>
          <p:cNvPr id="9" name="Chart 8"/>
          <p:cNvGraphicFramePr>
            <a:graphicFrameLocks noGrp="1"/>
          </p:cNvGraphicFramePr>
          <p:nvPr/>
        </p:nvGraphicFramePr>
        <p:xfrm>
          <a:off x="6542996" y="4325144"/>
          <a:ext cx="5259387" cy="2012950"/>
        </p:xfrm>
        <a:graphic>
          <a:graphicData uri="http://schemas.openxmlformats.org/drawingml/2006/chart">
            <c:chart xmlns:c="http://schemas.openxmlformats.org/drawingml/2006/chart" r:id="rId3"/>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Robust compliance track record with approvals from USFDA, WHO-GMP, MHRA-International Markets, and TGA-Australia.</a:t>
            </a:r>
          </a:p>
        </p:txBody>
      </p:sp>
      <p:sp>
        <p:nvSpPr>
          <p:cNvPr id="3" name="Text Placeholder 2"/>
          <p:cNvSpPr>
            <a:spLocks noGrp="1"/>
          </p:cNvSpPr>
          <p:nvPr>
            <p:ph type="body" idx="11" sz="quarter"/>
          </p:nvPr>
        </p:nvSpPr>
        <p:spPr/>
        <p:txBody>
          <a:bodyPr/>
          <a:lstStyle/>
          <a:p>
            <a:r>
              <a:rPr b="0"/>
              <a:t>Complex chemistry capabilities and an extensive molecule pipeline across various therapeutic classes.</a:t>
            </a:r>
          </a:p>
        </p:txBody>
      </p:sp>
      <p:sp>
        <p:nvSpPr>
          <p:cNvPr id="4" name="Text Placeholder 3"/>
          <p:cNvSpPr>
            <a:spLocks noGrp="1"/>
          </p:cNvSpPr>
          <p:nvPr>
            <p:ph type="body" idx="12" sz="quarter"/>
          </p:nvPr>
        </p:nvSpPr>
        <p:spPr/>
        <p:txBody>
          <a:bodyPr/>
          <a:lstStyle/>
          <a:p>
            <a:r>
              <a:rPr b="0"/>
              <a:t>Significant operating leverage demonstrated by a 360% revenue increase in recent quarterly performance.</a:t>
            </a:r>
          </a:p>
        </p:txBody>
      </p:sp>
      <p:sp>
        <p:nvSpPr>
          <p:cNvPr id="5" name="Text Placeholder 4"/>
          <p:cNvSpPr>
            <a:spLocks noGrp="1"/>
          </p:cNvSpPr>
          <p:nvPr>
            <p:ph type="body" idx="13" sz="quarter"/>
          </p:nvPr>
        </p:nvSpPr>
        <p:spPr/>
        <p:txBody>
          <a:bodyPr/>
          <a:lstStyle/>
          <a:p>
            <a:r>
              <a:rPr b="0"/>
              <a:t>Strong R&amp;D focus with facilities recognized by DSIR and registered with the USFDA.</a:t>
            </a:r>
          </a:p>
        </p:txBody>
      </p:sp>
      <p:sp>
        <p:nvSpPr>
          <p:cNvPr id="6" name="Text Placeholder 5"/>
          <p:cNvSpPr>
            <a:spLocks noGrp="1"/>
          </p:cNvSpPr>
          <p:nvPr>
            <p:ph type="body" idx="14" sz="quarter"/>
          </p:nvPr>
        </p:nvSpPr>
        <p:spPr/>
        <p:txBody>
          <a:bodyPr/>
          <a:lstStyle/>
          <a:p>
            <a:r>
              <a:rPr b="0"/>
              <a:t>Integrated business model covering R&amp;D, manufacturing, and international marketing.</a:t>
            </a:r>
          </a:p>
        </p:txBody>
      </p:sp>
      <p:sp>
        <p:nvSpPr>
          <p:cNvPr id="7" name="Text Placeholder 6"/>
          <p:cNvSpPr>
            <a:spLocks noGrp="1"/>
          </p:cNvSpPr>
          <p:nvPr>
            <p:ph type="body" idx="15" sz="quarter"/>
          </p:nvPr>
        </p:nvSpPr>
        <p:spPr/>
        <p:txBody>
          <a:bodyPr/>
          <a:lstStyle/>
          <a:p>
            <a:r>
              <a:rPr b="0"/>
              <a:t>Strategic partnerships with global pharmaceutical giants like Teva, Mylan, and Roche Diagnostics.</a:t>
            </a:r>
          </a:p>
        </p:txBody>
      </p:sp>
      <p:sp>
        <p:nvSpPr>
          <p:cNvPr id="8" name="Picture Placeholder 7"/>
          <p:cNvSpPr>
            <a:spLocks noGrp="1"/>
          </p:cNvSpPr>
          <p:nvPr>
            <p:ph type="pic" idx="16" sz="quarter"/>
          </p:nvPr>
        </p:nvSpPr>
        <p:spPr/>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Default Them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382</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Rockwell</vt:lpstr>
      <vt:lpstr>Wingdings</vt:lpstr>
      <vt:lpstr>Default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Sambit Mallik</dc:creator>
  <cp:lastModifiedBy>Vedant Iyengar</cp:lastModifiedBy>
  <cp:revision>18</cp:revision>
  <dcterms:created xsi:type="dcterms:W3CDTF">2026-01-24T04:48:24Z</dcterms:created>
  <dcterms:modified xsi:type="dcterms:W3CDTF">2026-02-04T20:27:34Z</dcterms:modified>
</cp:coreProperties>
</file>