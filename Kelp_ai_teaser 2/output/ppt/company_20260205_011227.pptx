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3.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7"/>
    <p:sldId id="258" r:id="rId8"/>
    <p:sldId id="259" r:id="rId9"/>
    <p:sldId id="260"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7B6"/>
    <a:srgbClr val="6FACFF"/>
    <a:srgbClr val="90E0EF"/>
    <a:srgbClr val="FB712C"/>
    <a:srgbClr val="F04C7A"/>
    <a:srgbClr val="A31D63"/>
    <a:srgbClr val="2A0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95"/>
    <p:restoredTop sz="94717"/>
  </p:normalViewPr>
  <p:slideViewPr>
    <p:cSldViewPr snapToGrid="0">
      <p:cViewPr varScale="1">
        <p:scale>
          <a:sx n="106" d="100"/>
          <a:sy n="106" d="100"/>
        </p:scale>
        <p:origin x="192" y="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Operating EBITDA (INR Cr)</c:v>
                </c:pt>
              </c:strCache>
            </c:strRef>
          </c:tx>
          <c:cat>
            <c:strRef>
              <c:f>Sheet1!$A$2:$A$5</c:f>
              <c:strCache>
                <c:ptCount val="4"/>
                <c:pt idx="0">
                  <c:v>FY22</c:v>
                </c:pt>
                <c:pt idx="1">
                  <c:v>FY23</c:v>
                </c:pt>
                <c:pt idx="2">
                  <c:v>FY24</c:v>
                </c:pt>
                <c:pt idx="3">
                  <c:v>FY25</c:v>
                </c:pt>
              </c:strCache>
            </c:strRef>
          </c:cat>
          <c:val>
            <c:numRef>
              <c:f>Sheet1!$B$2:$B$5</c:f>
              <c:numCache>
                <c:formatCode>General</c:formatCode>
                <c:ptCount val="4"/>
                <c:pt idx="0">
                  <c:v>186</c:v>
                </c:pt>
                <c:pt idx="1">
                  <c:v>106</c:v>
                </c:pt>
                <c:pt idx="2">
                  <c:v>138</c:v>
                </c:pt>
                <c:pt idx="3">
                  <c:v>240</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Shareholding Pattern (%)</c:v>
                </c:pt>
              </c:strCache>
            </c:strRef>
          </c:tx>
          <c:cat>
            <c:strRef>
              <c:f>Sheet1!$A$2:$A$3</c:f>
              <c:strCache>
                <c:ptCount val="2"/>
                <c:pt idx="0">
                  <c:v>Promoters</c:v>
                </c:pt>
                <c:pt idx="1">
                  <c:v>Non-Promoters</c:v>
                </c:pt>
              </c:strCache>
            </c:strRef>
          </c:cat>
          <c:val>
            <c:numRef>
              <c:f>Sheet1!$B$2:$B$3</c:f>
              <c:numCache>
                <c:formatCode>General</c:formatCode>
                <c:ptCount val="2"/>
                <c:pt idx="0">
                  <c:v>58.8</c:v>
                </c:pt>
                <c:pt idx="1">
                  <c:v>41.2</c:v>
                </c:pt>
              </c:numCache>
            </c:numRef>
          </c:val>
        </c:ser>
        <c:dLbls>
          <c:dLblPos val="bestFit"/>
          <c:showLegendKey val="0"/>
          <c:showVal val="1"/>
          <c:showCatName val="1"/>
          <c:showSerName val="0"/>
          <c:showPercent val="0"/>
          <c:showBubbleSize val="0"/>
          <c:showLeaderLines val="1"/>
        </c:dLbls>
      </c:pieChart>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Slide">
    <p:bg>
      <p:bgPr>
        <a:solidFill>
          <a:srgbClr val="2A063F"/>
        </a:solidFill>
        <a:effectLst/>
      </p:bgPr>
    </p:bg>
    <p:spTree>
      <p:nvGrpSpPr>
        <p:cNvPr id="1" name=""/>
        <p:cNvGrpSpPr/>
        <p:nvPr/>
      </p:nvGrpSpPr>
      <p:grpSpPr>
        <a:xfrm>
          <a:off x="0" y="0"/>
          <a:ext cx="0" cy="0"/>
          <a:chOff x="0" y="0"/>
          <a:chExt cx="0" cy="0"/>
        </a:xfrm>
      </p:grpSpPr>
      <p:pic>
        <p:nvPicPr>
          <p:cNvPr id="1028" name="Picture 4" descr="Geometric pattern Images - Free ...">
            <a:extLst>
              <a:ext uri="{FF2B5EF4-FFF2-40B4-BE49-F238E27FC236}">
                <a16:creationId xmlns:a16="http://schemas.microsoft.com/office/drawing/2014/main" id="{E6657D50-4ACA-29E0-6C6A-CCAD9432118A}"/>
              </a:ext>
            </a:extLst>
          </p:cNvPr>
          <p:cNvPicPr>
            <a:picLocks noChangeAspect="1" noChangeArrowheads="1"/>
          </p:cNvPicPr>
          <p:nvPr userDrawn="1"/>
        </p:nvPicPr>
        <p:blipFill>
          <a:blip r:embed="rId2">
            <a:alphaModFix amt="3000"/>
            <a:extLst>
              <a:ext uri="{28A0092B-C50C-407E-A947-70E740481C1C}">
                <a14:useLocalDpi xmlns:a14="http://schemas.microsoft.com/office/drawing/2010/main" val="0"/>
              </a:ext>
            </a:extLst>
          </a:blip>
          <a:srcRect/>
          <a:stretch>
            <a:fillRect/>
          </a:stretch>
        </p:blipFill>
        <p:spPr bwMode="auto">
          <a:xfrm>
            <a:off x="-376660" y="-185963"/>
            <a:ext cx="13091817" cy="6726099"/>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4">
            <a:extLst>
              <a:ext uri="{FF2B5EF4-FFF2-40B4-BE49-F238E27FC236}">
                <a16:creationId xmlns:a16="http://schemas.microsoft.com/office/drawing/2014/main" id="{1B9AF06B-B946-100D-8E6B-B35C454030EE}"/>
              </a:ext>
              <a:ext uri="{C183D7F6-B498-43B3-948B-1728B52AA6E4}">
                <adec:decorative xmlns:adec="http://schemas.microsoft.com/office/drawing/2017/decorative" val="1"/>
              </a:ext>
            </a:extLst>
          </p:cNvPr>
          <p:cNvSpPr/>
          <p:nvPr userDrawn="1"/>
        </p:nvSpPr>
        <p:spPr>
          <a:xfrm>
            <a:off x="2221680" y="5033953"/>
            <a:ext cx="4458815"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2" name="Freeform 2">
            <a:extLst>
              <a:ext uri="{FF2B5EF4-FFF2-40B4-BE49-F238E27FC236}">
                <a16:creationId xmlns:a16="http://schemas.microsoft.com/office/drawing/2014/main" id="{A712A287-3087-1DF3-F43D-A56A53B980B4}"/>
              </a:ext>
              <a:ext uri="{C183D7F6-B498-43B3-948B-1728B52AA6E4}">
                <adec:decorative xmlns:adec="http://schemas.microsoft.com/office/drawing/2017/decorative" val="1"/>
              </a:ext>
            </a:extLst>
          </p:cNvPr>
          <p:cNvSpPr/>
          <p:nvPr userDrawn="1"/>
        </p:nvSpPr>
        <p:spPr>
          <a:xfrm>
            <a:off x="-863173" y="-153887"/>
            <a:ext cx="2466586"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3" name="Freeform 5">
            <a:extLst>
              <a:ext uri="{FF2B5EF4-FFF2-40B4-BE49-F238E27FC236}">
                <a16:creationId xmlns:a16="http://schemas.microsoft.com/office/drawing/2014/main" id="{2A160F13-8764-D059-9923-6D95B47B175D}"/>
              </a:ext>
              <a:ext uri="{C183D7F6-B498-43B3-948B-1728B52AA6E4}">
                <adec:decorative xmlns:adec="http://schemas.microsoft.com/office/drawing/2017/decorative" val="1"/>
              </a:ext>
            </a:extLst>
          </p:cNvPr>
          <p:cNvSpPr/>
          <p:nvPr userDrawn="1"/>
        </p:nvSpPr>
        <p:spPr>
          <a:xfrm rot="21445884">
            <a:off x="4804637" y="-750786"/>
            <a:ext cx="2729224" cy="2735166"/>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4" name="Freeform 4">
            <a:extLst>
              <a:ext uri="{FF2B5EF4-FFF2-40B4-BE49-F238E27FC236}">
                <a16:creationId xmlns:a16="http://schemas.microsoft.com/office/drawing/2014/main" id="{50B8F49F-8D86-DC2D-37F0-946BC7888B85}"/>
              </a:ext>
              <a:ext uri="{C183D7F6-B498-43B3-948B-1728B52AA6E4}">
                <adec:decorative xmlns:adec="http://schemas.microsoft.com/office/drawing/2017/decorative" val="1"/>
              </a:ext>
            </a:extLst>
          </p:cNvPr>
          <p:cNvSpPr/>
          <p:nvPr userDrawn="1"/>
        </p:nvSpPr>
        <p:spPr>
          <a:xfrm>
            <a:off x="2207259" y="670876"/>
            <a:ext cx="4170792"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5" name="Freeform 5">
            <a:extLst>
              <a:ext uri="{FF2B5EF4-FFF2-40B4-BE49-F238E27FC236}">
                <a16:creationId xmlns:a16="http://schemas.microsoft.com/office/drawing/2014/main" id="{0E270C24-0873-5229-B9F8-0748D3B0295E}"/>
              </a:ext>
              <a:ext uri="{C183D7F6-B498-43B3-948B-1728B52AA6E4}">
                <adec:decorative xmlns:adec="http://schemas.microsoft.com/office/drawing/2017/decorative" val="1"/>
              </a:ext>
            </a:extLst>
          </p:cNvPr>
          <p:cNvSpPr/>
          <p:nvPr userDrawn="1"/>
        </p:nvSpPr>
        <p:spPr>
          <a:xfrm>
            <a:off x="4698766" y="3400034"/>
            <a:ext cx="3019835" cy="284839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6" name="Freeform 2">
            <a:extLst>
              <a:ext uri="{FF2B5EF4-FFF2-40B4-BE49-F238E27FC236}">
                <a16:creationId xmlns:a16="http://schemas.microsoft.com/office/drawing/2014/main" id="{F08BCC40-8EF1-E663-8913-1862FCE00F6E}"/>
              </a:ext>
              <a:ext uri="{C183D7F6-B498-43B3-948B-1728B52AA6E4}">
                <adec:decorative xmlns:adec="http://schemas.microsoft.com/office/drawing/2017/decorative" val="1"/>
              </a:ext>
            </a:extLst>
          </p:cNvPr>
          <p:cNvSpPr/>
          <p:nvPr userDrawn="1"/>
        </p:nvSpPr>
        <p:spPr>
          <a:xfrm>
            <a:off x="10009050" y="3550743"/>
            <a:ext cx="2616847"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7" name="Rectangle 36">
            <a:extLst>
              <a:ext uri="{FF2B5EF4-FFF2-40B4-BE49-F238E27FC236}">
                <a16:creationId xmlns:a16="http://schemas.microsoft.com/office/drawing/2014/main" id="{15DD37F5-790C-EFF8-893A-97E9CC3AC34C}"/>
              </a:ext>
            </a:extLst>
          </p:cNvPr>
          <p:cNvSpPr/>
          <p:nvPr userDrawn="1"/>
        </p:nvSpPr>
        <p:spPr>
          <a:xfrm rot="16200000">
            <a:off x="5644041" y="334942"/>
            <a:ext cx="903921" cy="121920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42" name="TextBox 41">
            <a:extLst>
              <a:ext uri="{FF2B5EF4-FFF2-40B4-BE49-F238E27FC236}">
                <a16:creationId xmlns:a16="http://schemas.microsoft.com/office/drawing/2014/main" id="{BD71EE71-6D3D-DE57-F03B-FAAAB2CDE9D3}"/>
              </a:ext>
            </a:extLst>
          </p:cNvPr>
          <p:cNvSpPr txBox="1"/>
          <p:nvPr userDrawn="1"/>
        </p:nvSpPr>
        <p:spPr>
          <a:xfrm>
            <a:off x="64072" y="6077001"/>
            <a:ext cx="5464885" cy="553998"/>
          </a:xfrm>
          <a:prstGeom prst="rect">
            <a:avLst/>
          </a:prstGeom>
          <a:noFill/>
        </p:spPr>
        <p:txBody>
          <a:bodyPr wrap="square" rtlCol="0">
            <a:spAutoFit/>
          </a:bodyPr>
          <a:lstStyle/>
          <a:p>
            <a:r>
              <a:rPr lang="en-US" sz="1500" b="1" dirty="0">
                <a:solidFill>
                  <a:schemeClr val="tx1"/>
                </a:solidFill>
                <a:latin typeface="Arial" panose="020B0604020202020204" pitchFamily="34" charset="0"/>
                <a:cs typeface="Arial" panose="020B0604020202020204" pitchFamily="34" charset="0"/>
              </a:rPr>
              <a:t>Investment Brief</a:t>
            </a:r>
          </a:p>
          <a:p>
            <a:r>
              <a:rPr lang="en-US" sz="1500" i="1" dirty="0" err="1">
                <a:solidFill>
                  <a:schemeClr val="tx1"/>
                </a:solidFill>
                <a:latin typeface="Arial" panose="020B0604020202020204" pitchFamily="34" charset="0"/>
                <a:cs typeface="Arial" panose="020B0604020202020204" pitchFamily="34" charset="0"/>
              </a:rPr>
              <a:t>kelpglobal.com</a:t>
            </a:r>
            <a:endParaRPr lang="en-US" sz="1500" i="1" dirty="0">
              <a:solidFill>
                <a:schemeClr val="tx1"/>
              </a:solidFill>
              <a:latin typeface="Arial" panose="020B0604020202020204" pitchFamily="34" charset="0"/>
              <a:cs typeface="Arial" panose="020B0604020202020204" pitchFamily="34" charset="0"/>
            </a:endParaRPr>
          </a:p>
        </p:txBody>
      </p:sp>
      <p:pic>
        <p:nvPicPr>
          <p:cNvPr id="43" name="Picture 42" descr="A white letter on a black background&#10;&#10;AI-generated content may be incorrect.">
            <a:extLst>
              <a:ext uri="{FF2B5EF4-FFF2-40B4-BE49-F238E27FC236}">
                <a16:creationId xmlns:a16="http://schemas.microsoft.com/office/drawing/2014/main" id="{D49EF3F4-51EF-4606-B7A3-3504870972F4}"/>
              </a:ext>
            </a:extLst>
          </p:cNvPr>
          <p:cNvPicPr>
            <a:picLocks noChangeAspect="1"/>
          </p:cNvPicPr>
          <p:nvPr userDrawn="1"/>
        </p:nvPicPr>
        <p:blipFill>
          <a:blip r:embed="rId9"/>
          <a:stretch>
            <a:fillRect/>
          </a:stretch>
        </p:blipFill>
        <p:spPr>
          <a:xfrm>
            <a:off x="9910007" y="246908"/>
            <a:ext cx="1911873" cy="7267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Business Profile &amp; Infrastructure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01578" y="4864226"/>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Business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2687324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4211787"/>
            <a:ext cx="5969818" cy="22572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Financial &amp; Operational Scale</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Key Financial Metrics (FY24)</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Promoters v/s Non Promoters</a:t>
            </a: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4386263"/>
            <a:ext cx="5599112"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184075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DE9D625-B252-EFFB-3A00-7B566DC08A6F}"/>
              </a:ext>
            </a:extLst>
          </p:cNvPr>
          <p:cNvSpPr/>
          <p:nvPr userDrawn="1"/>
        </p:nvSpPr>
        <p:spPr>
          <a:xfrm>
            <a:off x="4395498" y="2088107"/>
            <a:ext cx="3519725" cy="283954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1BC3EBF0-E13C-252F-470B-3F9796752F0C}"/>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sp>
        <p:nvSpPr>
          <p:cNvPr id="4" name="TextBox 3">
            <a:extLst>
              <a:ext uri="{FF2B5EF4-FFF2-40B4-BE49-F238E27FC236}">
                <a16:creationId xmlns:a16="http://schemas.microsoft.com/office/drawing/2014/main" id="{079099D8-B111-64B9-AED3-0B81F8134912}"/>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5" name="Picture 4" descr="A white letter on a black background&#10;&#10;AI-generated content may be incorrect.">
            <a:extLst>
              <a:ext uri="{FF2B5EF4-FFF2-40B4-BE49-F238E27FC236}">
                <a16:creationId xmlns:a16="http://schemas.microsoft.com/office/drawing/2014/main" id="{20DAE98F-4E14-A8A3-15C2-ED6852567ACC}"/>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8" name="TextBox 7">
            <a:extLst>
              <a:ext uri="{FF2B5EF4-FFF2-40B4-BE49-F238E27FC236}">
                <a16:creationId xmlns:a16="http://schemas.microsoft.com/office/drawing/2014/main" id="{9C614A9E-8F95-982B-8753-47EDDA1EBD51}"/>
              </a:ext>
            </a:extLst>
          </p:cNvPr>
          <p:cNvSpPr txBox="1"/>
          <p:nvPr userDrawn="1"/>
        </p:nvSpPr>
        <p:spPr>
          <a:xfrm>
            <a:off x="445822"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5" name="TextBox 34">
            <a:extLst>
              <a:ext uri="{FF2B5EF4-FFF2-40B4-BE49-F238E27FC236}">
                <a16:creationId xmlns:a16="http://schemas.microsoft.com/office/drawing/2014/main" id="{FF534886-F3B6-8ECD-72C7-0AF52C54FDBE}"/>
              </a:ext>
            </a:extLst>
          </p:cNvPr>
          <p:cNvSpPr txBox="1"/>
          <p:nvPr userDrawn="1"/>
        </p:nvSpPr>
        <p:spPr>
          <a:xfrm>
            <a:off x="445822" y="3090275"/>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6" name="TextBox 35">
            <a:extLst>
              <a:ext uri="{FF2B5EF4-FFF2-40B4-BE49-F238E27FC236}">
                <a16:creationId xmlns:a16="http://schemas.microsoft.com/office/drawing/2014/main" id="{FC6F682F-2F9F-0CE1-8721-13E3F577FC72}"/>
              </a:ext>
            </a:extLst>
          </p:cNvPr>
          <p:cNvSpPr txBox="1"/>
          <p:nvPr userDrawn="1"/>
        </p:nvSpPr>
        <p:spPr>
          <a:xfrm>
            <a:off x="8229266"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7" name="TextBox 36">
            <a:extLst>
              <a:ext uri="{FF2B5EF4-FFF2-40B4-BE49-F238E27FC236}">
                <a16:creationId xmlns:a16="http://schemas.microsoft.com/office/drawing/2014/main" id="{AAF64F0F-101E-61D2-B3AC-357F5CB3FA39}"/>
              </a:ext>
            </a:extLst>
          </p:cNvPr>
          <p:cNvSpPr txBox="1"/>
          <p:nvPr userDrawn="1"/>
        </p:nvSpPr>
        <p:spPr>
          <a:xfrm>
            <a:off x="8229265" y="4982247"/>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2" name="TextBox 1">
            <a:extLst>
              <a:ext uri="{FF2B5EF4-FFF2-40B4-BE49-F238E27FC236}">
                <a16:creationId xmlns:a16="http://schemas.microsoft.com/office/drawing/2014/main" id="{492E92FF-7727-F376-371F-DF4984617C32}"/>
              </a:ext>
            </a:extLst>
          </p:cNvPr>
          <p:cNvSpPr txBox="1"/>
          <p:nvPr userDrawn="1"/>
        </p:nvSpPr>
        <p:spPr>
          <a:xfrm>
            <a:off x="445821" y="4960264"/>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 name="TextBox 2">
            <a:extLst>
              <a:ext uri="{FF2B5EF4-FFF2-40B4-BE49-F238E27FC236}">
                <a16:creationId xmlns:a16="http://schemas.microsoft.com/office/drawing/2014/main" id="{F8A9165A-549C-5FC1-E3B8-CC0D1FCCCBF8}"/>
              </a:ext>
            </a:extLst>
          </p:cNvPr>
          <p:cNvSpPr txBox="1"/>
          <p:nvPr userDrawn="1"/>
        </p:nvSpPr>
        <p:spPr>
          <a:xfrm>
            <a:off x="8229264" y="2982402"/>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9" name="Text Placeholder 8">
            <a:extLst>
              <a:ext uri="{FF2B5EF4-FFF2-40B4-BE49-F238E27FC236}">
                <a16:creationId xmlns:a16="http://schemas.microsoft.com/office/drawing/2014/main" id="{173ACBEE-F2CF-9F04-221F-55220E28F08D}"/>
              </a:ext>
            </a:extLst>
          </p:cNvPr>
          <p:cNvSpPr>
            <a:spLocks noGrp="1"/>
          </p:cNvSpPr>
          <p:nvPr>
            <p:ph type="body" sz="quarter" idx="10"/>
          </p:nvPr>
        </p:nvSpPr>
        <p:spPr>
          <a:xfrm>
            <a:off x="576842"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Text Placeholder 8">
            <a:extLst>
              <a:ext uri="{FF2B5EF4-FFF2-40B4-BE49-F238E27FC236}">
                <a16:creationId xmlns:a16="http://schemas.microsoft.com/office/drawing/2014/main" id="{C16A02EF-3A0A-9F69-ED41-5964EB2FB726}"/>
              </a:ext>
            </a:extLst>
          </p:cNvPr>
          <p:cNvSpPr>
            <a:spLocks noGrp="1"/>
          </p:cNvSpPr>
          <p:nvPr>
            <p:ph type="body" sz="quarter" idx="11"/>
          </p:nvPr>
        </p:nvSpPr>
        <p:spPr>
          <a:xfrm>
            <a:off x="576842" y="3208607"/>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Text Placeholder 8">
            <a:extLst>
              <a:ext uri="{FF2B5EF4-FFF2-40B4-BE49-F238E27FC236}">
                <a16:creationId xmlns:a16="http://schemas.microsoft.com/office/drawing/2014/main" id="{3279AE7B-09C6-FA87-CD67-8A56043506EF}"/>
              </a:ext>
            </a:extLst>
          </p:cNvPr>
          <p:cNvSpPr>
            <a:spLocks noGrp="1"/>
          </p:cNvSpPr>
          <p:nvPr>
            <p:ph type="body" sz="quarter" idx="12"/>
          </p:nvPr>
        </p:nvSpPr>
        <p:spPr>
          <a:xfrm>
            <a:off x="576842"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8">
            <a:extLst>
              <a:ext uri="{FF2B5EF4-FFF2-40B4-BE49-F238E27FC236}">
                <a16:creationId xmlns:a16="http://schemas.microsoft.com/office/drawing/2014/main" id="{91EFA2E5-2EED-FC30-19ED-119A4FA44F35}"/>
              </a:ext>
            </a:extLst>
          </p:cNvPr>
          <p:cNvSpPr>
            <a:spLocks noGrp="1"/>
          </p:cNvSpPr>
          <p:nvPr>
            <p:ph type="body" sz="quarter" idx="13"/>
          </p:nvPr>
        </p:nvSpPr>
        <p:spPr>
          <a:xfrm>
            <a:off x="8358148"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8">
            <a:extLst>
              <a:ext uri="{FF2B5EF4-FFF2-40B4-BE49-F238E27FC236}">
                <a16:creationId xmlns:a16="http://schemas.microsoft.com/office/drawing/2014/main" id="{9B35D539-7AB8-8443-6FCD-CB867FE8F6D5}"/>
              </a:ext>
            </a:extLst>
          </p:cNvPr>
          <p:cNvSpPr>
            <a:spLocks noGrp="1"/>
          </p:cNvSpPr>
          <p:nvPr>
            <p:ph type="body" sz="quarter" idx="14"/>
          </p:nvPr>
        </p:nvSpPr>
        <p:spPr>
          <a:xfrm>
            <a:off x="8358148" y="3090275"/>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Text Placeholder 8">
            <a:extLst>
              <a:ext uri="{FF2B5EF4-FFF2-40B4-BE49-F238E27FC236}">
                <a16:creationId xmlns:a16="http://schemas.microsoft.com/office/drawing/2014/main" id="{BE808182-B9EA-8FEC-B991-239B2BC4B72F}"/>
              </a:ext>
            </a:extLst>
          </p:cNvPr>
          <p:cNvSpPr>
            <a:spLocks noGrp="1"/>
          </p:cNvSpPr>
          <p:nvPr>
            <p:ph type="body" sz="quarter" idx="15"/>
          </p:nvPr>
        </p:nvSpPr>
        <p:spPr>
          <a:xfrm>
            <a:off x="8358148"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Picture Placeholder 14">
            <a:extLst>
              <a:ext uri="{FF2B5EF4-FFF2-40B4-BE49-F238E27FC236}">
                <a16:creationId xmlns:a16="http://schemas.microsoft.com/office/drawing/2014/main" id="{1151F41C-DF8D-8A26-5C35-EDCAA413E2E3}"/>
              </a:ext>
            </a:extLst>
          </p:cNvPr>
          <p:cNvSpPr>
            <a:spLocks noGrp="1"/>
          </p:cNvSpPr>
          <p:nvPr>
            <p:ph type="pic" sz="quarter" idx="16"/>
          </p:nvPr>
        </p:nvSpPr>
        <p:spPr>
          <a:xfrm>
            <a:off x="4586288" y="2252663"/>
            <a:ext cx="3138487" cy="2470150"/>
          </a:xfrm>
        </p:spPr>
        <p:txBody>
          <a:bodyPr/>
          <a:lstStyle/>
          <a:p>
            <a:endParaRPr lang="en-GB"/>
          </a:p>
        </p:txBody>
      </p:sp>
    </p:spTree>
    <p:extLst>
      <p:ext uri="{BB962C8B-B14F-4D97-AF65-F5344CB8AC3E}">
        <p14:creationId xmlns:p14="http://schemas.microsoft.com/office/powerpoint/2010/main" val="101091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ing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7CB1D8-835C-AF66-B603-006B6ECA9B61}"/>
              </a:ext>
            </a:extLst>
          </p:cNvPr>
          <p:cNvSpPr/>
          <p:nvPr userDrawn="1"/>
        </p:nvSpPr>
        <p:spPr>
          <a:xfrm>
            <a:off x="-359763" y="-191125"/>
            <a:ext cx="13211331" cy="7240249"/>
          </a:xfrm>
          <a:prstGeom prst="rect">
            <a:avLst/>
          </a:prstGeom>
          <a:solidFill>
            <a:srgbClr val="0033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6CA54CD8-076B-81E2-4178-71ACCDFD8043}"/>
              </a:ext>
            </a:extLst>
          </p:cNvPr>
          <p:cNvSpPr txBox="1"/>
          <p:nvPr userDrawn="1"/>
        </p:nvSpPr>
        <p:spPr>
          <a:xfrm>
            <a:off x="1" y="2540294"/>
            <a:ext cx="12192000" cy="1346522"/>
          </a:xfrm>
          <a:prstGeom prst="rect">
            <a:avLst/>
          </a:prstGeom>
          <a:noFill/>
        </p:spPr>
        <p:txBody>
          <a:bodyPr wrap="square">
            <a:spAutoFit/>
          </a:bodyPr>
          <a:lstStyle/>
          <a:p>
            <a:pPr algn="just"/>
            <a:r>
              <a:rPr lang="en-IN" sz="2000" dirty="0">
                <a:solidFill>
                  <a:schemeClr val="bg1"/>
                </a:solidFill>
                <a:latin typeface="Arial" panose="020B0604020202020204" pitchFamily="34" charset="0"/>
                <a:cs typeface="Arial" panose="020B0604020202020204" pitchFamily="34" charset="0"/>
              </a:rPr>
              <a:t>Important Notice &amp; </a:t>
            </a:r>
            <a:r>
              <a:rPr lang="en-US" sz="2000" dirty="0">
                <a:solidFill>
                  <a:schemeClr val="bg1"/>
                </a:solidFill>
                <a:latin typeface="Arial" panose="020B0604020202020204" pitchFamily="34" charset="0"/>
                <a:cs typeface="Arial" panose="020B0604020202020204" pitchFamily="34" charset="0"/>
              </a:rPr>
              <a:t>Disclaimer</a:t>
            </a:r>
          </a:p>
          <a:p>
            <a:pPr algn="just"/>
            <a:endParaRPr lang="en-US" sz="1350" b="0" dirty="0">
              <a:solidFill>
                <a:schemeClr val="bg1"/>
              </a:solidFill>
              <a:latin typeface="Arial" panose="020B0604020202020204" pitchFamily="34" charset="0"/>
              <a:cs typeface="Arial" panose="020B0604020202020204" pitchFamily="34" charset="0"/>
            </a:endParaRPr>
          </a:p>
          <a:p>
            <a:pPr algn="just"/>
            <a:r>
              <a:rPr lang="en-IN" sz="1200" b="1" dirty="0">
                <a:solidFill>
                  <a:schemeClr val="bg1"/>
                </a:solidFill>
                <a:latin typeface="Arial" panose="020B0604020202020204" pitchFamily="34" charset="0"/>
                <a:cs typeface="Arial" panose="020B0604020202020204" pitchFamily="34" charset="0"/>
              </a:rPr>
              <a:t>Strictly Private &amp; Confidential.</a:t>
            </a:r>
            <a:r>
              <a:rPr lang="en-IN" sz="1200" dirty="0">
                <a:solidFill>
                  <a:schemeClr val="bg1"/>
                </a:solidFill>
                <a:latin typeface="Arial" panose="020B0604020202020204" pitchFamily="34" charset="0"/>
                <a:cs typeface="Arial" panose="020B0604020202020204" pitchFamily="34" charset="0"/>
              </a:rPr>
              <a:t> This presentation is prepared by </a:t>
            </a:r>
            <a:r>
              <a:rPr lang="en-IN" sz="1200" b="1" dirty="0">
                <a:solidFill>
                  <a:schemeClr val="bg1"/>
                </a:solidFill>
                <a:latin typeface="Arial" panose="020B0604020202020204" pitchFamily="34" charset="0"/>
                <a:cs typeface="Arial" panose="020B0604020202020204" pitchFamily="34" charset="0"/>
              </a:rPr>
              <a:t>Kelp Global</a:t>
            </a:r>
            <a:r>
              <a:rPr lang="en-IN" sz="1200" dirty="0">
                <a:solidFill>
                  <a:schemeClr val="bg1"/>
                </a:solidFill>
                <a:latin typeface="Arial" panose="020B0604020202020204" pitchFamily="34" charset="0"/>
                <a:cs typeface="Arial" panose="020B0604020202020204" pitchFamily="34" charset="0"/>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200" b="0"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528C02C-2DF5-5316-A9C5-9681A979014E}"/>
              </a:ext>
            </a:extLst>
          </p:cNvPr>
          <p:cNvSpPr txBox="1"/>
          <p:nvPr userDrawn="1"/>
        </p:nvSpPr>
        <p:spPr>
          <a:xfrm>
            <a:off x="4459726" y="6762462"/>
            <a:ext cx="3511457" cy="230832"/>
          </a:xfrm>
          <a:prstGeom prst="rect">
            <a:avLst/>
          </a:prstGeom>
          <a:noFill/>
        </p:spPr>
        <p:txBody>
          <a:bodyPr wrap="square">
            <a:spAutoFit/>
          </a:bodyPr>
          <a:lstStyle/>
          <a:p>
            <a:r>
              <a:rPr lang="en-IN" sz="900" b="0" dirty="0">
                <a:solidFill>
                  <a:schemeClr val="bg1"/>
                </a:solidFill>
                <a:latin typeface="Arial"/>
              </a:rPr>
              <a:t>Strictly Private &amp; Confidential – Prepared by Kelp M&amp;A Team</a:t>
            </a:r>
            <a:endParaRPr lang="en-US" sz="9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90BC9A44-27D7-8D38-8B51-54EB762103C4}"/>
              </a:ext>
            </a:extLst>
          </p:cNvPr>
          <p:cNvPicPr>
            <a:picLocks noChangeAspect="1"/>
          </p:cNvPicPr>
          <p:nvPr userDrawn="1"/>
        </p:nvPicPr>
        <p:blipFill>
          <a:blip r:embed="rId2"/>
          <a:stretch>
            <a:fillRect/>
          </a:stretch>
        </p:blipFill>
        <p:spPr>
          <a:xfrm>
            <a:off x="196057" y="811231"/>
            <a:ext cx="1911873" cy="726707"/>
          </a:xfrm>
          <a:prstGeom prst="rect">
            <a:avLst/>
          </a:prstGeom>
        </p:spPr>
      </p:pic>
    </p:spTree>
    <p:extLst>
      <p:ext uri="{BB962C8B-B14F-4D97-AF65-F5344CB8AC3E}">
        <p14:creationId xmlns:p14="http://schemas.microsoft.com/office/powerpoint/2010/main" val="1843807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Brand Overview and Market Presence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79773" y="4865557"/>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Brand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3058600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4211787"/>
            <a:ext cx="5969818" cy="22572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Growth and Unit Economics</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Growth</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Promoters v/s Non Promoters</a:t>
            </a: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4386263"/>
            <a:ext cx="5599112"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49592600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4" y="484094"/>
            <a:ext cx="10075084" cy="1116106"/>
          </a:xfrm>
          <a:prstGeom prst="rect">
            <a:avLst/>
          </a:prstGeom>
        </p:spPr>
        <p:txBody>
          <a:bodyPr vert="horz" lIns="91440" tIns="45720" rIns="91440" bIns="45720" rtlCol="0" anchor="t" anchorCtr="0">
            <a:noAutofit/>
          </a:bodyPr>
          <a:lstStyle/>
          <a:p>
            <a:r>
              <a:rPr lang="en-GB"/>
              <a:t>Click to edit Master title style</a:t>
            </a:r>
            <a:endParaRPr/>
          </a:p>
        </p:txBody>
      </p:sp>
      <p:sp>
        <p:nvSpPr>
          <p:cNvPr id="3" name="Text Placeholder 2"/>
          <p:cNvSpPr>
            <a:spLocks noGrp="1"/>
          </p:cNvSpPr>
          <p:nvPr>
            <p:ph type="body" idx="1"/>
          </p:nvPr>
        </p:nvSpPr>
        <p:spPr>
          <a:xfrm>
            <a:off x="664634" y="1981203"/>
            <a:ext cx="10075084" cy="4144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060329" y="6423588"/>
            <a:ext cx="2844800" cy="365125"/>
          </a:xfrm>
          <a:prstGeom prst="rect">
            <a:avLst/>
          </a:prstGeom>
        </p:spPr>
        <p:txBody>
          <a:bodyPr vert="horz" lIns="91440" tIns="45720" rIns="91440" bIns="45720" rtlCol="0" anchor="ctr"/>
          <a:lstStyle>
            <a:lvl1pPr algn="r">
              <a:defRPr sz="825">
                <a:solidFill>
                  <a:schemeClr val="tx1">
                    <a:lumMod val="65000"/>
                    <a:lumOff val="35000"/>
                  </a:schemeClr>
                </a:solidFill>
              </a:defRPr>
            </a:lvl1pPr>
          </a:lstStyle>
          <a:p>
            <a:fld id="{E3AE72C7-7358-2242-B91F-8F564DC30B2C}" type="datetimeFigureOut">
              <a:rPr lang="en-US" smtClean="0"/>
              <a:t>2/4/26</a:t>
            </a:fld>
            <a:endParaRPr lang="en-US"/>
          </a:p>
        </p:txBody>
      </p:sp>
      <p:sp>
        <p:nvSpPr>
          <p:cNvPr id="5" name="Footer Placeholder 4"/>
          <p:cNvSpPr>
            <a:spLocks noGrp="1"/>
          </p:cNvSpPr>
          <p:nvPr>
            <p:ph type="ftr" sz="quarter" idx="3"/>
          </p:nvPr>
        </p:nvSpPr>
        <p:spPr>
          <a:xfrm>
            <a:off x="268941" y="6423588"/>
            <a:ext cx="8163859"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1074400" y="242236"/>
            <a:ext cx="738717" cy="365125"/>
          </a:xfrm>
          <a:prstGeom prst="rect">
            <a:avLst/>
          </a:prstGeom>
        </p:spPr>
        <p:txBody>
          <a:bodyPr vert="horz" lIns="91440" tIns="45720" rIns="91440" bIns="45720" rtlCol="0" anchor="ctr"/>
          <a:lstStyle>
            <a:lvl1pPr algn="r">
              <a:defRPr sz="1050">
                <a:solidFill>
                  <a:schemeClr val="bg1"/>
                </a:solidFill>
              </a:defRPr>
            </a:lvl1pPr>
          </a:lstStyle>
          <a:p>
            <a:fld id="{98DF15E9-887E-AA4B-A287-7DA0FC14E1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2" r:id="rId5"/>
    <p:sldLayoutId id="2147483666" r:id="rId6"/>
    <p:sldLayoutId id="2147483667" r:id="rId7"/>
  </p:sldLayoutIdLst>
  <p:txStyles>
    <p:titleStyle>
      <a:lvl1pPr algn="l" defTabSz="685800" rtl="0" eaLnBrk="1" latinLnBrk="0" hangingPunct="1">
        <a:spcBef>
          <a:spcPct val="0"/>
        </a:spcBef>
        <a:buNone/>
        <a:defRPr sz="2700" b="0" kern="1200">
          <a:solidFill>
            <a:schemeClr val="accent1"/>
          </a:solidFill>
          <a:latin typeface="+mj-lt"/>
          <a:ea typeface="+mj-ea"/>
          <a:cs typeface="+mj-cs"/>
        </a:defRPr>
      </a:lvl1pPr>
    </p:titleStyle>
    <p:bodyStyle>
      <a:lvl1pPr marL="171450" indent="-171450" algn="l" defTabSz="685800" rtl="0" eaLnBrk="1" latinLnBrk="0" hangingPunct="1">
        <a:spcBef>
          <a:spcPts val="1500"/>
        </a:spcBef>
        <a:buClr>
          <a:schemeClr val="accent1"/>
        </a:buClr>
        <a:buSzPct val="75000"/>
        <a:buFont typeface="Wingdings" pitchFamily="2" charset="2"/>
        <a:buChar char="n"/>
        <a:defRPr sz="1500" kern="1200">
          <a:solidFill>
            <a:schemeClr val="tx1">
              <a:lumMod val="65000"/>
              <a:lumOff val="35000"/>
            </a:schemeClr>
          </a:solidFill>
          <a:latin typeface="+mn-lt"/>
          <a:ea typeface="+mn-ea"/>
          <a:cs typeface="+mn-cs"/>
        </a:defRPr>
      </a:lvl1pPr>
      <a:lvl2pPr marL="3429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2pPr>
      <a:lvl3pPr marL="5143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3pPr>
      <a:lvl4pPr marL="6858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4pPr>
      <a:lvl5pPr marL="8572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5pPr>
      <a:lvl6pPr marL="1033463"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dirty="0" smtClean="0">
          <a:solidFill>
            <a:schemeClr val="tx1">
              <a:lumMod val="65000"/>
              <a:lumOff val="35000"/>
            </a:schemeClr>
          </a:solidFill>
          <a:latin typeface="+mn-lt"/>
          <a:ea typeface="+mn-ea"/>
          <a:cs typeface="+mn-cs"/>
        </a:defRPr>
      </a:lvl6pPr>
      <a:lvl7pPr marL="1202531" indent="-171450" algn="l" defTabSz="685800" rtl="0" eaLnBrk="1" latinLnBrk="0" hangingPunct="1">
        <a:spcBef>
          <a:spcPct val="20000"/>
        </a:spcBef>
        <a:buClr>
          <a:schemeClr val="accent1"/>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7pPr>
      <a:lvl8pPr marL="1372791"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8pPr>
      <a:lvl9pPr marL="1543050" indent="-171450" algn="l" defTabSz="685800" rtl="0" eaLnBrk="1" latinLnBrk="0" hangingPunct="1">
        <a:spcBef>
          <a:spcPct val="20000"/>
        </a:spcBef>
        <a:buClr>
          <a:schemeClr val="accent1"/>
        </a:buClr>
        <a:buSzPct val="75000"/>
        <a:buFont typeface="Wingdings" pitchFamily="2" charset="2"/>
        <a:buChar char=""/>
        <a:defRPr lang="en-US" sz="1350" kern="1200" baseline="0" dirty="0">
          <a:solidFill>
            <a:schemeClr val="tx1">
              <a:lumMod val="65000"/>
              <a:lumOff val="35000"/>
            </a:schemeClr>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Operates high-capacity facilities specializing in hot, warm, and cold forging techniques alongside precision machining.
Provides end-to-end manufacturing services including heat treatment, die manufacturing, and metallurgical testing.
Maintains a diverse industrial presence serving automotive, agriculture, railways, marine, and power generation sectors.
Possesses an established global subsidiary in Key Export Markets since 2014 to facilitate international market penetration.
Features state-of-the-art engineering and R&amp;D divisions capable of value engineering and rapid prototyping for complex requirements.</a:t>
            </a:r>
          </a:p>
        </p:txBody>
      </p:sp>
      <p:sp>
        <p:nvSpPr>
          <p:cNvPr id="3" name="Text Placeholder 2"/>
          <p:cNvSpPr>
            <a:spLocks noGrp="1"/>
          </p:cNvSpPr>
          <p:nvPr>
            <p:ph type="body" idx="11" sz="quarter"/>
          </p:nvPr>
        </p:nvSpPr>
        <p:spPr/>
        <p:txBody>
          <a:bodyPr/>
          <a:lstStyle/>
          <a:p>
            <a:r>
              <a:rPr b="0"/>
              <a:t>Engine &amp; Turbocharger Systems: High-precision components including turbocharger parts and specialized engine assemblies.
Driveline &amp; Transmission: Sophisticated transmission parts, axle components, and driveline solutions for diverse vehicle platforms.
Industrial &amp; Infrastructure Solutions: Robust components designed for construction, mining, power generation, and marine applications.</a:t>
            </a:r>
          </a:p>
        </p:txBody>
      </p:sp>
      <p:pic>
        <p:nvPicPr>
          <p:cNvPr id="4" name="Picture Placeholder 3" descr="iso 9001.png"/>
          <p:cNvPicPr>
            <a:picLocks noGrp="1" noChangeAspect="1"/>
          </p:cNvPicPr>
          <p:nvPr>
            <p:ph type="pic" idx="12" sz="quarter"/>
          </p:nvPr>
        </p:nvPicPr>
        <p:blipFill>
          <a:blip r:embed="rId2"/>
          <a:srcRect t="3487" b="3487"/>
          <a:stretch>
            <a:fillRect/>
          </a:stretch>
        </p:blipFill>
        <p:spPr/>
      </p:pic>
      <p:sp>
        <p:nvSpPr>
          <p:cNvPr id="5" name="Picture Placeholder 4"/>
          <p:cNvSpPr>
            <a:spLocks noGrp="1"/>
          </p:cNvSpPr>
          <p:nvPr>
            <p:ph type="pic" idx="13" sz="quarter"/>
          </p:nvPr>
        </p:nvSpPr>
        <p:spPr/>
      </p:sp>
      <p:sp>
        <p:nvSpPr>
          <p:cNvPr id="6" name="Picture Placeholder 5"/>
          <p:cNvSpPr>
            <a:spLocks noGrp="1"/>
          </p:cNvSpPr>
          <p:nvPr>
            <p:ph type="pic" idx="14" sz="quarter"/>
          </p:nvPr>
        </p:nvSpPr>
        <p:spPr/>
      </p:sp>
      <p:sp>
        <p:nvSpPr>
          <p:cNvPr id="7" name="Text Placeholder 6"/>
          <p:cNvSpPr>
            <a:spLocks noGrp="1"/>
          </p:cNvSpPr>
          <p:nvPr>
            <p:ph type="body" idx="15" sz="quarter"/>
          </p:nvPr>
        </p:nvSpPr>
        <p:spPr/>
        <p:txBody>
          <a:bodyPr/>
          <a:lstStyle/>
          <a:p>
            <a:r>
              <a:rPr b="0"/>
              <a:t>Leading Indian engineering and forging entity with over 45 years of specialized expertise in precision-engineered components.
Publicly listed organization with a global manufacturing footprint including a dedicated presence in Key Export Markets and the International Markets.
Strategic Tier-1 partner to major global OEMs across automotive, industrial, and infrastructure sectors with a workforce of nearly 500 professionals.</a:t>
            </a:r>
          </a:p>
        </p:txBody>
      </p:sp>
      <p:sp>
        <p:nvSpPr>
          <p:cNvPr id="8" name="Picture Placeholder 7"/>
          <p:cNvSpPr>
            <a:spLocks noGrp="1"/>
          </p:cNvSpPr>
          <p:nvPr>
            <p:ph type="pic" idx="16" sz="quarter"/>
          </p:nvPr>
        </p:nvSpPr>
        <p:spPr/>
      </p:sp>
      <p:sp>
        <p:nvSpPr>
          <p:cNvPr id="9" name="Picture Placeholder 8"/>
          <p:cNvSpPr>
            <a:spLocks noGrp="1"/>
          </p:cNvSpPr>
          <p:nvPr>
            <p:ph type="pic" idx="17" sz="quarter"/>
          </p:nvPr>
        </p:nvSpPr>
        <p:spPr/>
      </p:sp>
      <p:sp>
        <p:nvSpPr>
          <p:cNvPr id="10" name="Picture Placeholder 9"/>
          <p:cNvSpPr>
            <a:spLocks noGrp="1"/>
          </p:cNvSpPr>
          <p:nvPr>
            <p:ph type="pic" idx="18" sz="quarter"/>
          </p:nvPr>
        </p:nvSpPr>
        <p:spPr/>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2" sz="quarter"/>
          </p:nvPr>
        </p:nvSpPr>
        <p:spPr/>
        <p:txBody>
          <a:bodyPr/>
          <a:lstStyle/>
          <a:p>
            <a:r>
              <a:rPr b="0"/>
              <a:t>The bar chart illustrates a strong recovery and growth trajectory in operating profitability over the last four fiscal years. The FY25 performance shows a significant 73% year-on-year increase in EBITDA, reflecting successful cost-optimization and high-value product mix shifts. This trend underscores the company's ability to drive operational leverage even amidst cyclical automotive market conditions.</a:t>
            </a:r>
          </a:p>
        </p:txBody>
      </p:sp>
      <p:sp>
        <p:nvSpPr>
          <p:cNvPr id="5" name="Text Placeholder 4"/>
          <p:cNvSpPr>
            <a:spLocks noGrp="1"/>
          </p:cNvSpPr>
          <p:nvPr>
            <p:ph type="body" idx="13" sz="quarter"/>
          </p:nvPr>
        </p:nvSpPr>
        <p:spPr/>
        <p:txBody>
          <a:bodyPr/>
          <a:lstStyle/>
          <a:p>
            <a:r>
              <a:rPr b="0"/>
              <a:t>The shareholding distribution signifies a stable and committed leadership with promoters holding a majority 58.8% stake. The 41.2% non-promoter holding indicates a healthy level of public float and potential for institutional engagement. This balanced capital structure supports long-term strategic decision-making and provides a solid foundation for future capital raises if required.</a:t>
            </a:r>
          </a:p>
        </p:txBody>
      </p:sp>
      <p:sp>
        <p:nvSpPr>
          <p:cNvPr id="6" name="Picture Placeholder 5"/>
          <p:cNvSpPr>
            <a:spLocks noGrp="1"/>
          </p:cNvSpPr>
          <p:nvPr>
            <p:ph type="pic" idx="16" sz="quarter"/>
          </p:nvPr>
        </p:nvSpPr>
        <p:spPr/>
      </p:sp>
      <p:sp>
        <p:nvSpPr>
          <p:cNvPr id="7" name="Picture Placeholder 6"/>
          <p:cNvSpPr>
            <a:spLocks noGrp="1"/>
          </p:cNvSpPr>
          <p:nvPr>
            <p:ph type="pic" idx="17" sz="quarter"/>
          </p:nvPr>
        </p:nvSpPr>
        <p:spPr/>
      </p:sp>
      <p:graphicFrame>
        <p:nvGraphicFramePr>
          <p:cNvPr id="8" name="Chart 7"/>
          <p:cNvGraphicFramePr>
            <a:graphicFrameLocks noGrp="1"/>
          </p:cNvGraphicFramePr>
          <p:nvPr/>
        </p:nvGraphicFramePr>
        <p:xfrm>
          <a:off x="258763" y="1296988"/>
          <a:ext cx="5483225" cy="2625725"/>
        </p:xfrm>
        <a:graphic>
          <a:graphicData uri="http://schemas.openxmlformats.org/drawingml/2006/chart">
            <c:chart xmlns:c="http://schemas.openxmlformats.org/drawingml/2006/chart" r:id="rId2"/>
          </a:graphicData>
        </a:graphic>
      </p:graphicFrame>
      <p:graphicFrame>
        <p:nvGraphicFramePr>
          <p:cNvPr id="9" name="Chart 8"/>
          <p:cNvGraphicFramePr>
            <a:graphicFrameLocks noGrp="1"/>
          </p:cNvGraphicFramePr>
          <p:nvPr/>
        </p:nvGraphicFramePr>
        <p:xfrm>
          <a:off x="6542996" y="4325144"/>
          <a:ext cx="5259387" cy="2012950"/>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Achieved decadal peak profitability with highest Profit After Tax recorded in FY25 at approximately 70 crores.</a:t>
            </a:r>
          </a:p>
        </p:txBody>
      </p:sp>
      <p:sp>
        <p:nvSpPr>
          <p:cNvPr id="3" name="Text Placeholder 2"/>
          <p:cNvSpPr>
            <a:spLocks noGrp="1"/>
          </p:cNvSpPr>
          <p:nvPr>
            <p:ph type="body" idx="11" sz="quarter"/>
          </p:nvPr>
        </p:nvSpPr>
        <p:spPr/>
        <p:txBody>
          <a:bodyPr/>
          <a:lstStyle/>
          <a:p>
            <a:r>
              <a:rPr b="0"/>
              <a:t>Secured record-high new order wins totaling 115 crores in the most recent fiscal year across diverse segments.</a:t>
            </a:r>
          </a:p>
        </p:txBody>
      </p:sp>
      <p:sp>
        <p:nvSpPr>
          <p:cNvPr id="4" name="Text Placeholder 3"/>
          <p:cNvSpPr>
            <a:spLocks noGrp="1"/>
          </p:cNvSpPr>
          <p:nvPr>
            <p:ph type="body" idx="12" sz="quarter"/>
          </p:nvPr>
        </p:nvSpPr>
        <p:spPr/>
        <p:txBody>
          <a:bodyPr/>
          <a:lstStyle/>
          <a:p>
            <a:r>
              <a:rPr b="0"/>
              <a:t>Multi-year aggressive CapEx program in progress to modernize manufacturing infrastructure and enhance throughput.</a:t>
            </a:r>
          </a:p>
        </p:txBody>
      </p:sp>
      <p:sp>
        <p:nvSpPr>
          <p:cNvPr id="5" name="Text Placeholder 4"/>
          <p:cNvSpPr>
            <a:spLocks noGrp="1"/>
          </p:cNvSpPr>
          <p:nvPr>
            <p:ph type="body" idx="13" sz="quarter"/>
          </p:nvPr>
        </p:nvSpPr>
        <p:spPr/>
        <p:txBody>
          <a:bodyPr/>
          <a:lstStyle/>
          <a:p>
            <a:r>
              <a:rPr b="0"/>
              <a:t>Strategic shift towards high-margin exports with a long-term target of 50% of total revenue contribution.</a:t>
            </a:r>
          </a:p>
        </p:txBody>
      </p:sp>
      <p:sp>
        <p:nvSpPr>
          <p:cNvPr id="6" name="Text Placeholder 5"/>
          <p:cNvSpPr>
            <a:spLocks noGrp="1"/>
          </p:cNvSpPr>
          <p:nvPr>
            <p:ph type="body" idx="14" sz="quarter"/>
          </p:nvPr>
        </p:nvSpPr>
        <p:spPr/>
        <p:txBody>
          <a:bodyPr/>
          <a:lstStyle/>
          <a:p>
            <a:r>
              <a:rPr b="0"/>
              <a:t>Advanced technological integration through SAP ERP implementation enhancing operational efficiency and audit compliance.</a:t>
            </a:r>
          </a:p>
        </p:txBody>
      </p:sp>
      <p:sp>
        <p:nvSpPr>
          <p:cNvPr id="7" name="Text Placeholder 6"/>
          <p:cNvSpPr>
            <a:spLocks noGrp="1"/>
          </p:cNvSpPr>
          <p:nvPr>
            <p:ph type="body" idx="15" sz="quarter"/>
          </p:nvPr>
        </p:nvSpPr>
        <p:spPr/>
        <p:txBody>
          <a:bodyPr/>
          <a:lstStyle/>
          <a:p>
            <a:r>
              <a:rPr b="0"/>
              <a:t>Diversified revenue base with top five customers contributing only 30-35%, mitigating client concentration risk.</a:t>
            </a:r>
          </a:p>
        </p:txBody>
      </p:sp>
      <p:sp>
        <p:nvSpPr>
          <p:cNvPr id="8" name="Picture Placeholder 7"/>
          <p:cNvSpPr>
            <a:spLocks noGrp="1"/>
          </p:cNvSpPr>
          <p:nvPr>
            <p:ph type="pic" idx="16" sz="quarter"/>
          </p:nvPr>
        </p:nvSpPr>
        <p:spPr/>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Default Them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380</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Rockwell</vt:lpstr>
      <vt:lpstr>Wingdings</vt:lpstr>
      <vt:lpstr>Default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Sambit Mallik</dc:creator>
  <cp:lastModifiedBy>Sambit Mallik</cp:lastModifiedBy>
  <cp:revision>17</cp:revision>
  <dcterms:created xsi:type="dcterms:W3CDTF">2026-01-24T04:48:24Z</dcterms:created>
  <dcterms:modified xsi:type="dcterms:W3CDTF">2026-02-04T14:44:34Z</dcterms:modified>
</cp:coreProperties>
</file>